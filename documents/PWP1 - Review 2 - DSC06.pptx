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5"/>
  </p:notesMasterIdLst>
  <p:sldIdLst>
    <p:sldId id="349" r:id="rId2"/>
    <p:sldId id="350" r:id="rId3"/>
    <p:sldId id="289" r:id="rId4"/>
    <p:sldId id="258" r:id="rId5"/>
    <p:sldId id="290" r:id="rId6"/>
    <p:sldId id="291" r:id="rId7"/>
    <p:sldId id="292" r:id="rId8"/>
    <p:sldId id="293"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310" r:id="rId26"/>
    <p:sldId id="311" r:id="rId27"/>
    <p:sldId id="312" r:id="rId28"/>
    <p:sldId id="313" r:id="rId29"/>
    <p:sldId id="314" r:id="rId30"/>
    <p:sldId id="315" r:id="rId31"/>
    <p:sldId id="316" r:id="rId32"/>
    <p:sldId id="317" r:id="rId33"/>
    <p:sldId id="318" r:id="rId34"/>
    <p:sldId id="319" r:id="rId35"/>
    <p:sldId id="320" r:id="rId36"/>
    <p:sldId id="321" r:id="rId37"/>
    <p:sldId id="322" r:id="rId38"/>
    <p:sldId id="323" r:id="rId39"/>
    <p:sldId id="324" r:id="rId40"/>
    <p:sldId id="325" r:id="rId41"/>
    <p:sldId id="326" r:id="rId42"/>
    <p:sldId id="327" r:id="rId43"/>
    <p:sldId id="328" r:id="rId44"/>
    <p:sldId id="329" r:id="rId45"/>
    <p:sldId id="330" r:id="rId46"/>
    <p:sldId id="331" r:id="rId47"/>
    <p:sldId id="332" r:id="rId48"/>
    <p:sldId id="333" r:id="rId49"/>
    <p:sldId id="334" r:id="rId50"/>
    <p:sldId id="335" r:id="rId51"/>
    <p:sldId id="336" r:id="rId52"/>
    <p:sldId id="337" r:id="rId53"/>
    <p:sldId id="338" r:id="rId54"/>
    <p:sldId id="339" r:id="rId55"/>
    <p:sldId id="340" r:id="rId56"/>
    <p:sldId id="341" r:id="rId57"/>
    <p:sldId id="342" r:id="rId58"/>
    <p:sldId id="343" r:id="rId59"/>
    <p:sldId id="344" r:id="rId60"/>
    <p:sldId id="345" r:id="rId61"/>
    <p:sldId id="346" r:id="rId62"/>
    <p:sldId id="347" r:id="rId63"/>
    <p:sldId id="348" r:id="rId6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2" autoAdjust="0"/>
    <p:restoredTop sz="94660"/>
  </p:normalViewPr>
  <p:slideViewPr>
    <p:cSldViewPr snapToGrid="0">
      <p:cViewPr varScale="1">
        <p:scale>
          <a:sx n="138" d="100"/>
          <a:sy n="138" d="100"/>
        </p:scale>
        <p:origin x="756" y="13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015625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 name="Google Shape;23;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 name="Google Shape;34;p2: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 name="Google Shape;39;p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3200" b="1">
                <a:latin typeface="Times New Roman" panose="02020603050405020304" pitchFamily="18" charset="0"/>
                <a:cs typeface="Times New Roman" panose="02020603050405020304" pitchFamily="18"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sz="2400">
                <a:latin typeface="Times New Roman" panose="02020603050405020304" pitchFamily="18" charset="0"/>
                <a:cs typeface="Times New Roman" panose="02020603050405020304" pitchFamily="18" charset="0"/>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spTree>
      <p:nvGrpSpPr>
        <p:cNvPr id="1" name="Shape 13"/>
        <p:cNvGrpSpPr/>
        <p:nvPr/>
      </p:nvGrpSpPr>
      <p:grpSpPr>
        <a:xfrm>
          <a:off x="0" y="0"/>
          <a:ext cx="0" cy="0"/>
          <a:chOff x="0" y="0"/>
          <a:chExt cx="0" cy="0"/>
        </a:xfrm>
      </p:grpSpPr>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4" name="Google Shape;17;p4">
            <a:extLst>
              <a:ext uri="{FF2B5EF4-FFF2-40B4-BE49-F238E27FC236}">
                <a16:creationId xmlns:a16="http://schemas.microsoft.com/office/drawing/2014/main" id="{5BB4826D-B415-48FE-A973-A44EDAD8074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3200" b="1">
                <a:latin typeface="Times New Roman" panose="02020603050405020304" pitchFamily="18" charset="0"/>
                <a:cs typeface="Times New Roman" panose="02020603050405020304" pitchFamily="18"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5" name="Google Shape;18;p4">
            <a:extLst>
              <a:ext uri="{FF2B5EF4-FFF2-40B4-BE49-F238E27FC236}">
                <a16:creationId xmlns:a16="http://schemas.microsoft.com/office/drawing/2014/main" id="{48C3AF3A-D4D2-4FBC-B2BF-AD61BA6907AD}"/>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sz="2400">
                <a:latin typeface="Times New Roman" panose="02020603050405020304" pitchFamily="18" charset="0"/>
                <a:cs typeface="Times New Roman" panose="02020603050405020304" pitchFamily="18" charset="0"/>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263338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49" r:id="rId2"/>
    <p:sldLayoutId id="214748366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5"/>
          <p:cNvSpPr txBox="1"/>
          <p:nvPr/>
        </p:nvSpPr>
        <p:spPr>
          <a:xfrm>
            <a:off x="-14096" y="2887282"/>
            <a:ext cx="9144000" cy="909900"/>
          </a:xfrm>
          <a:prstGeom prst="rect">
            <a:avLst/>
          </a:prstGeom>
          <a:noFill/>
          <a:ln>
            <a:noFill/>
          </a:ln>
        </p:spPr>
        <p:txBody>
          <a:bodyPr spcFirstLastPara="1" wrap="square" lIns="91425" tIns="45700" rIns="91425" bIns="45700" anchor="t" anchorCtr="0">
            <a:spAutoFit/>
          </a:bodyPr>
          <a:lstStyle/>
          <a:p>
            <a:pPr marL="9525" marR="0" lvl="0" indent="0" algn="ctr" rtl="0">
              <a:lnSpc>
                <a:spcPct val="85900"/>
              </a:lnSpc>
              <a:spcBef>
                <a:spcPts val="0"/>
              </a:spcBef>
              <a:spcAft>
                <a:spcPts val="0"/>
              </a:spcAft>
              <a:buNone/>
            </a:pPr>
            <a:r>
              <a:rPr lang="en-IN" sz="2000" b="1" i="0" u="none" strike="noStrike" cap="none">
                <a:solidFill>
                  <a:srgbClr val="000000"/>
                </a:solidFill>
                <a:latin typeface="Times New Roman"/>
                <a:ea typeface="Times New Roman"/>
                <a:cs typeface="Times New Roman"/>
                <a:sym typeface="Times New Roman"/>
              </a:rPr>
              <a:t>A Multi-Agent Agentic RAG Platform for Automated </a:t>
            </a:r>
            <a:endParaRPr/>
          </a:p>
          <a:p>
            <a:pPr marL="9525" marR="0" lvl="0" indent="0" algn="ctr" rtl="0">
              <a:lnSpc>
                <a:spcPct val="85900"/>
              </a:lnSpc>
              <a:spcBef>
                <a:spcPts val="94"/>
              </a:spcBef>
              <a:spcAft>
                <a:spcPts val="0"/>
              </a:spcAft>
              <a:buNone/>
            </a:pPr>
            <a:r>
              <a:rPr lang="en-IN" sz="2000" b="1" i="0" u="none" strike="noStrike" cap="none">
                <a:solidFill>
                  <a:srgbClr val="000000"/>
                </a:solidFill>
                <a:latin typeface="Times New Roman"/>
                <a:ea typeface="Times New Roman"/>
                <a:cs typeface="Times New Roman"/>
                <a:sym typeface="Times New Roman"/>
              </a:rPr>
              <a:t>Literature Review</a:t>
            </a:r>
            <a:endParaRPr/>
          </a:p>
          <a:p>
            <a:pPr marL="9525" marR="0" lvl="0" indent="0" algn="ctr" rtl="0">
              <a:lnSpc>
                <a:spcPct val="63629"/>
              </a:lnSpc>
              <a:spcBef>
                <a:spcPts val="94"/>
              </a:spcBef>
              <a:spcAft>
                <a:spcPts val="0"/>
              </a:spcAft>
              <a:buNone/>
            </a:pPr>
            <a:r>
              <a:rPr lang="en-IN" sz="2700" b="1" i="0" u="none" strike="noStrike" cap="none">
                <a:solidFill>
                  <a:srgbClr val="000000"/>
                </a:solidFill>
                <a:latin typeface="Times New Roman"/>
                <a:ea typeface="Times New Roman"/>
                <a:cs typeface="Times New Roman"/>
                <a:sym typeface="Times New Roman"/>
              </a:rPr>
              <a:t> </a:t>
            </a:r>
            <a:endParaRPr sz="2700" b="0" i="0" u="none" strike="noStrike" cap="none">
              <a:solidFill>
                <a:srgbClr val="000000"/>
              </a:solidFill>
              <a:latin typeface="Times New Roman"/>
              <a:ea typeface="Times New Roman"/>
              <a:cs typeface="Times New Roman"/>
              <a:sym typeface="Times New Roman"/>
            </a:endParaRPr>
          </a:p>
        </p:txBody>
      </p:sp>
      <p:sp>
        <p:nvSpPr>
          <p:cNvPr id="26" name="Google Shape;26;p5"/>
          <p:cNvSpPr txBox="1"/>
          <p:nvPr/>
        </p:nvSpPr>
        <p:spPr>
          <a:xfrm>
            <a:off x="212138" y="-12625"/>
            <a:ext cx="8719725" cy="1727200"/>
          </a:xfrm>
          <a:prstGeom prst="rect">
            <a:avLst/>
          </a:prstGeom>
          <a:noFill/>
          <a:ln>
            <a:noFill/>
          </a:ln>
        </p:spPr>
        <p:txBody>
          <a:bodyPr spcFirstLastPara="1" wrap="square" lIns="68550" tIns="68550" rIns="68550" bIns="68550" anchor="b" anchorCtr="0">
            <a:noAutofit/>
          </a:bodyPr>
          <a:lstStyle/>
          <a:p>
            <a:pPr marL="0" marR="0" lvl="0" indent="0" algn="ctr" rtl="0">
              <a:lnSpc>
                <a:spcPct val="100000"/>
              </a:lnSpc>
              <a:spcBef>
                <a:spcPts val="0"/>
              </a:spcBef>
              <a:spcAft>
                <a:spcPts val="0"/>
              </a:spcAft>
              <a:buNone/>
            </a:pPr>
            <a:br>
              <a:rPr lang="en-IN" sz="1800" b="1" i="0" u="none" strike="noStrike" cap="none">
                <a:solidFill>
                  <a:srgbClr val="000000"/>
                </a:solidFill>
                <a:latin typeface="Times New Roman"/>
                <a:ea typeface="Times New Roman"/>
                <a:cs typeface="Times New Roman"/>
                <a:sym typeface="Times New Roman"/>
              </a:rPr>
            </a:br>
            <a:br>
              <a:rPr lang="en-IN" sz="1800" b="1" i="0" u="none" strike="noStrike" cap="none">
                <a:solidFill>
                  <a:srgbClr val="000000"/>
                </a:solidFill>
                <a:latin typeface="Times New Roman"/>
                <a:ea typeface="Times New Roman"/>
                <a:cs typeface="Times New Roman"/>
                <a:sym typeface="Times New Roman"/>
              </a:rPr>
            </a:br>
            <a:br>
              <a:rPr lang="en-IN" sz="1800" b="1" i="0" u="none" strike="noStrike" cap="none">
                <a:solidFill>
                  <a:srgbClr val="000000"/>
                </a:solidFill>
                <a:latin typeface="Times New Roman"/>
                <a:ea typeface="Times New Roman"/>
                <a:cs typeface="Times New Roman"/>
                <a:sym typeface="Times New Roman"/>
              </a:rPr>
            </a:br>
            <a:r>
              <a:rPr lang="en-IN" sz="2400" b="1" i="0" u="none" strike="noStrike" cap="none">
                <a:solidFill>
                  <a:srgbClr val="000000"/>
                </a:solidFill>
                <a:latin typeface="Times New Roman"/>
                <a:ea typeface="Times New Roman"/>
                <a:cs typeface="Times New Roman"/>
                <a:sym typeface="Times New Roman"/>
              </a:rPr>
              <a:t>Gokaraju Rangaraju Institute of Engineering and Technology </a:t>
            </a:r>
            <a:br>
              <a:rPr lang="en-IN" sz="2100" b="1" i="0" u="none" strike="noStrike" cap="none">
                <a:solidFill>
                  <a:srgbClr val="000000"/>
                </a:solidFill>
                <a:latin typeface="Times New Roman"/>
                <a:ea typeface="Times New Roman"/>
                <a:cs typeface="Times New Roman"/>
                <a:sym typeface="Times New Roman"/>
              </a:rPr>
            </a:br>
            <a:r>
              <a:rPr lang="en-IN" sz="2100" b="1" i="0" u="none" strike="noStrike" cap="none">
                <a:solidFill>
                  <a:srgbClr val="000000"/>
                </a:solidFill>
                <a:latin typeface="Times New Roman"/>
                <a:ea typeface="Times New Roman"/>
                <a:cs typeface="Times New Roman"/>
                <a:sym typeface="Times New Roman"/>
              </a:rPr>
              <a:t>(Autonomous)</a:t>
            </a:r>
            <a:endParaRPr/>
          </a:p>
          <a:p>
            <a:pPr marL="0" marR="0" lvl="0" indent="0" algn="ctr" rtl="0">
              <a:lnSpc>
                <a:spcPct val="100000"/>
              </a:lnSpc>
              <a:spcBef>
                <a:spcPts val="0"/>
              </a:spcBef>
              <a:spcAft>
                <a:spcPts val="0"/>
              </a:spcAft>
              <a:buNone/>
            </a:pPr>
            <a:br>
              <a:rPr lang="en-IN" sz="1800" b="1" i="0" u="none" strike="noStrike" cap="none">
                <a:solidFill>
                  <a:srgbClr val="000000"/>
                </a:solidFill>
                <a:latin typeface="Times New Roman"/>
                <a:ea typeface="Times New Roman"/>
                <a:cs typeface="Times New Roman"/>
                <a:sym typeface="Times New Roman"/>
              </a:rPr>
            </a:br>
            <a:r>
              <a:rPr lang="en-IN" sz="2400" b="1" i="0" u="none" strike="noStrike" cap="none">
                <a:solidFill>
                  <a:srgbClr val="000000"/>
                </a:solidFill>
                <a:latin typeface="Times New Roman"/>
                <a:ea typeface="Times New Roman"/>
                <a:cs typeface="Times New Roman"/>
                <a:sym typeface="Times New Roman"/>
              </a:rPr>
              <a:t>Department of Data Science</a:t>
            </a:r>
            <a:endParaRPr sz="1800" b="1" i="0" u="none" strike="noStrike" cap="none">
              <a:solidFill>
                <a:srgbClr val="000000"/>
              </a:solidFill>
              <a:latin typeface="Times New Roman"/>
              <a:ea typeface="Times New Roman"/>
              <a:cs typeface="Times New Roman"/>
              <a:sym typeface="Times New Roman"/>
            </a:endParaRPr>
          </a:p>
        </p:txBody>
      </p:sp>
      <p:pic>
        <p:nvPicPr>
          <p:cNvPr id="27" name="Google Shape;27;p5" descr="Untitled-1 copy"/>
          <p:cNvPicPr preferRelativeResize="0"/>
          <p:nvPr/>
        </p:nvPicPr>
        <p:blipFill rotWithShape="1">
          <a:blip r:embed="rId3">
            <a:alphaModFix/>
          </a:blip>
          <a:srcRect l="25562" t="23018" r="26994" b="21857"/>
          <a:stretch/>
        </p:blipFill>
        <p:spPr>
          <a:xfrm>
            <a:off x="342900" y="850976"/>
            <a:ext cx="1028700" cy="952424"/>
          </a:xfrm>
          <a:prstGeom prst="rect">
            <a:avLst/>
          </a:prstGeom>
          <a:noFill/>
          <a:ln>
            <a:noFill/>
          </a:ln>
        </p:spPr>
      </p:pic>
      <p:sp>
        <p:nvSpPr>
          <p:cNvPr id="28" name="Google Shape;28;p5"/>
          <p:cNvSpPr txBox="1"/>
          <p:nvPr/>
        </p:nvSpPr>
        <p:spPr>
          <a:xfrm>
            <a:off x="4869366" y="3685962"/>
            <a:ext cx="3812260" cy="1341005"/>
          </a:xfrm>
          <a:prstGeom prst="rect">
            <a:avLst/>
          </a:prstGeom>
          <a:noFill/>
          <a:ln>
            <a:noFill/>
          </a:ln>
        </p:spPr>
        <p:txBody>
          <a:bodyPr spcFirstLastPara="1" wrap="square" lIns="68550" tIns="68550" rIns="68550" bIns="68550" anchor="t" anchorCtr="0">
            <a:normAutofit/>
          </a:bodyPr>
          <a:lstStyle/>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Presented by:</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1. Mr. Abrarullah Mohammed(23241A67D1)</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2. Mr. G. Shashivadan Rao (23241</a:t>
            </a:r>
            <a:r>
              <a:rPr lang="en-IN" sz="1500" b="1">
                <a:solidFill>
                  <a:schemeClr val="dk1"/>
                </a:solidFill>
                <a:latin typeface="Times New Roman"/>
                <a:ea typeface="Times New Roman"/>
                <a:cs typeface="Times New Roman"/>
                <a:sym typeface="Times New Roman"/>
              </a:rPr>
              <a:t>A</a:t>
            </a:r>
            <a:r>
              <a:rPr lang="en-IN" sz="1500" b="1" i="0" u="none" strike="noStrike" cap="none">
                <a:solidFill>
                  <a:schemeClr val="dk1"/>
                </a:solidFill>
                <a:latin typeface="Times New Roman"/>
                <a:ea typeface="Times New Roman"/>
                <a:cs typeface="Times New Roman"/>
                <a:sym typeface="Times New Roman"/>
              </a:rPr>
              <a:t>67F2)</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3. Mr. P. Sreekaran Reddy (23241A67H7)</a:t>
            </a:r>
            <a:endParaRPr/>
          </a:p>
          <a:p>
            <a:pPr marL="0" marR="0" lvl="0" indent="0" algn="l" rtl="0">
              <a:lnSpc>
                <a:spcPct val="100000"/>
              </a:lnSpc>
              <a:spcBef>
                <a:spcPts val="0"/>
              </a:spcBef>
              <a:spcAft>
                <a:spcPts val="0"/>
              </a:spcAft>
              <a:buClr>
                <a:schemeClr val="dk2"/>
              </a:buClr>
              <a:buSzPts val="2800"/>
              <a:buFont typeface="Arial"/>
              <a:buNone/>
            </a:pPr>
            <a:endParaRPr sz="1500" b="1" i="0" u="none" strike="noStrike" cap="none">
              <a:solidFill>
                <a:schemeClr val="dk1"/>
              </a:solidFill>
              <a:latin typeface="Times New Roman"/>
              <a:ea typeface="Times New Roman"/>
              <a:cs typeface="Times New Roman"/>
              <a:sym typeface="Times New Roman"/>
            </a:endParaRPr>
          </a:p>
        </p:txBody>
      </p:sp>
      <p:sp>
        <p:nvSpPr>
          <p:cNvPr id="29" name="Google Shape;29;p5"/>
          <p:cNvSpPr txBox="1"/>
          <p:nvPr/>
        </p:nvSpPr>
        <p:spPr>
          <a:xfrm>
            <a:off x="1642946" y="2374660"/>
            <a:ext cx="5858107" cy="318933"/>
          </a:xfrm>
          <a:prstGeom prst="rect">
            <a:avLst/>
          </a:prstGeom>
          <a:noFill/>
          <a:ln>
            <a:noFill/>
          </a:ln>
        </p:spPr>
        <p:txBody>
          <a:bodyPr spcFirstLastPara="1" wrap="square" lIns="91425" tIns="45700" rIns="91425" bIns="45700" anchor="t" anchorCtr="0">
            <a:spAutoFit/>
          </a:bodyPr>
          <a:lstStyle/>
          <a:p>
            <a:pPr marL="9525" marR="0" lvl="0" indent="0" algn="l" rtl="0">
              <a:lnSpc>
                <a:spcPct val="81809"/>
              </a:lnSpc>
              <a:spcBef>
                <a:spcPts val="0"/>
              </a:spcBef>
              <a:spcAft>
                <a:spcPts val="0"/>
              </a:spcAft>
              <a:buNone/>
            </a:pPr>
            <a:r>
              <a:rPr lang="en-IN" sz="2100" b="1" i="0" u="none" strike="noStrike" cap="none">
                <a:solidFill>
                  <a:srgbClr val="000000"/>
                </a:solidFill>
                <a:latin typeface="Times New Roman"/>
                <a:ea typeface="Times New Roman"/>
                <a:cs typeface="Times New Roman"/>
                <a:sym typeface="Times New Roman"/>
              </a:rPr>
              <a:t>IV Year B. Tech., I Semester CSE (Data Science)</a:t>
            </a:r>
            <a:endParaRPr sz="2100" b="0" i="0" u="none" strike="noStrike" cap="none">
              <a:solidFill>
                <a:srgbClr val="000000"/>
              </a:solidFill>
              <a:latin typeface="Times New Roman"/>
              <a:ea typeface="Times New Roman"/>
              <a:cs typeface="Times New Roman"/>
              <a:sym typeface="Times New Roman"/>
            </a:endParaRPr>
          </a:p>
        </p:txBody>
      </p:sp>
      <p:sp>
        <p:nvSpPr>
          <p:cNvPr id="30" name="Google Shape;30;p5"/>
          <p:cNvSpPr txBox="1"/>
          <p:nvPr/>
        </p:nvSpPr>
        <p:spPr>
          <a:xfrm>
            <a:off x="628650" y="3685962"/>
            <a:ext cx="3480975" cy="1244631"/>
          </a:xfrm>
          <a:prstGeom prst="rect">
            <a:avLst/>
          </a:prstGeom>
          <a:noFill/>
          <a:ln>
            <a:noFill/>
          </a:ln>
        </p:spPr>
        <p:txBody>
          <a:bodyPr spcFirstLastPara="1" wrap="square" lIns="68550" tIns="68550" rIns="68550" bIns="68550" anchor="t" anchorCtr="0">
            <a:normAutofit/>
          </a:bodyPr>
          <a:lstStyle/>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Under the Guidance of:</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Dr. S. Govinda Rao</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Head of Department,</a:t>
            </a:r>
            <a:endParaRPr/>
          </a:p>
          <a:p>
            <a:pPr marL="0" marR="0" lvl="0" indent="0" algn="l" rtl="0">
              <a:lnSpc>
                <a:spcPct val="100000"/>
              </a:lnSpc>
              <a:spcBef>
                <a:spcPts val="0"/>
              </a:spcBef>
              <a:spcAft>
                <a:spcPts val="0"/>
              </a:spcAft>
              <a:buClr>
                <a:schemeClr val="dk2"/>
              </a:buClr>
              <a:buSzPts val="2800"/>
              <a:buFont typeface="Arial"/>
              <a:buNone/>
            </a:pPr>
            <a:r>
              <a:rPr lang="en-IN" sz="1500" b="1" i="0" u="none" strike="noStrike" cap="none">
                <a:solidFill>
                  <a:schemeClr val="dk1"/>
                </a:solidFill>
                <a:latin typeface="Times New Roman"/>
                <a:ea typeface="Times New Roman"/>
                <a:cs typeface="Times New Roman"/>
                <a:sym typeface="Times New Roman"/>
              </a:rPr>
              <a:t>Data Science</a:t>
            </a:r>
            <a:endParaRPr/>
          </a:p>
        </p:txBody>
      </p:sp>
      <p:sp>
        <p:nvSpPr>
          <p:cNvPr id="31" name="Google Shape;31;p5"/>
          <p:cNvSpPr txBox="1"/>
          <p:nvPr/>
        </p:nvSpPr>
        <p:spPr>
          <a:xfrm>
            <a:off x="91966" y="1714575"/>
            <a:ext cx="8931863" cy="746358"/>
          </a:xfrm>
          <a:prstGeom prst="rect">
            <a:avLst/>
          </a:prstGeom>
          <a:noFill/>
          <a:ln>
            <a:noFill/>
          </a:ln>
        </p:spPr>
        <p:txBody>
          <a:bodyPr spcFirstLastPara="1" wrap="square" lIns="91425" tIns="45700" rIns="91425" bIns="45700" anchor="t" anchorCtr="0">
            <a:spAutoFit/>
          </a:bodyPr>
          <a:lstStyle/>
          <a:p>
            <a:pPr marL="9525" marR="0" lvl="0" indent="0" algn="r" rtl="0">
              <a:lnSpc>
                <a:spcPct val="140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					Batch No.: </a:t>
            </a:r>
            <a:r>
              <a:rPr lang="en-IN" sz="1800" b="1" i="0" u="none" strike="noStrike" cap="none">
                <a:solidFill>
                  <a:schemeClr val="dk1"/>
                </a:solidFill>
                <a:latin typeface="Times New Roman"/>
                <a:ea typeface="Times New Roman"/>
                <a:cs typeface="Times New Roman"/>
                <a:sym typeface="Times New Roman"/>
              </a:rPr>
              <a:t>DSC</a:t>
            </a:r>
            <a:r>
              <a:rPr lang="en-IN" sz="1800" b="1" i="0" u="none" strike="noStrike" cap="none">
                <a:solidFill>
                  <a:srgbClr val="FF0000"/>
                </a:solidFill>
                <a:latin typeface="Times New Roman"/>
                <a:ea typeface="Times New Roman"/>
                <a:cs typeface="Times New Roman"/>
                <a:sym typeface="Times New Roman"/>
              </a:rPr>
              <a:t>06</a:t>
            </a:r>
            <a:endParaRPr/>
          </a:p>
          <a:p>
            <a:pPr marL="9525" marR="0" lvl="0" indent="0" algn="r" rtl="0">
              <a:lnSpc>
                <a:spcPct val="140000"/>
              </a:lnSpc>
              <a:spcBef>
                <a:spcPts val="94"/>
              </a:spcBef>
              <a:spcAft>
                <a:spcPts val="0"/>
              </a:spcAft>
              <a:buNone/>
            </a:pPr>
            <a:r>
              <a:rPr lang="en-IN" sz="1800" b="1" i="0" u="none" strike="noStrike" cap="none">
                <a:solidFill>
                  <a:schemeClr val="dk1"/>
                </a:solidFill>
                <a:latin typeface="Times New Roman"/>
                <a:ea typeface="Times New Roman"/>
                <a:cs typeface="Times New Roman"/>
                <a:sym typeface="Times New Roman"/>
              </a:rPr>
              <a:t>Review No.: </a:t>
            </a:r>
            <a:r>
              <a:rPr lang="en-IN" sz="1800" b="1" i="0" u="none" strike="noStrike" cap="none">
                <a:solidFill>
                  <a:srgbClr val="FF0000"/>
                </a:solidFill>
                <a:latin typeface="Times New Roman"/>
                <a:ea typeface="Times New Roman"/>
                <a:cs typeface="Times New Roman"/>
                <a:sym typeface="Times New Roman"/>
              </a:rPr>
              <a:t>01</a:t>
            </a:r>
            <a:endParaRPr sz="1800" b="0"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6"/>
          <p:cNvSpPr txBox="1"/>
          <p:nvPr/>
        </p:nvSpPr>
        <p:spPr>
          <a:xfrm>
            <a:off x="0" y="-10680"/>
            <a:ext cx="9144000" cy="4969256"/>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endParaRPr sz="36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sz="36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sz="36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IN" sz="3600" b="1" i="0" u="none" strike="noStrike" cap="none">
                <a:solidFill>
                  <a:srgbClr val="000000"/>
                </a:solidFill>
                <a:latin typeface="Times New Roman"/>
                <a:ea typeface="Times New Roman"/>
                <a:cs typeface="Times New Roman"/>
                <a:sym typeface="Times New Roman"/>
              </a:rPr>
              <a:t>A Multi-Agent Agentic RAG Platform for Automated Literature Review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Abstract</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0" algn="just">
              <a:spcAft>
                <a:spcPts val="0"/>
              </a:spcAft>
              <a:buNone/>
            </a:pPr>
            <a:r>
              <a:rPr lang="en-IN" sz="1500" b="0" i="0" dirty="0">
                <a:solidFill>
                  <a:srgbClr val="000000"/>
                </a:solidFill>
                <a:latin typeface="Times New Roman" panose="02020603050405020304" pitchFamily="18" charset="0"/>
                <a:cs typeface="Times New Roman" panose="02020603050405020304" pitchFamily="18" charset="0"/>
              </a:rPr>
              <a:t>This project develops a multi-agent agentic Retrieval-Augmented Generation (RAG) platform that automates academic literature review generation. Six specialised agents — Planner, Retriever, Extractor, Verifier, Critic and Writer — are orchestrated as a stateful LangGraph state machine. The Retriever performs federated search over the Semantic Scholar Academic Graph, and an ingestion stage parses full-text PDFs, chunks them section-aware and embeds them on CPU into a Chroma vector store; the Extractor then emits a four-field structured insight for every paper together with character-level evidence spans. The Verifier decomposes those insights into atomic claims and classifies each one against its evidence span using a claim-verification model fine-tuned on SciFact and exported to ONNX int8 for CPU inference, discarding every claim that falls below the support threshold. The Critic then assesses coverage and grounding and returns control to retrieval or planning for at most three bounded iterations, while a human-in-the-loop console lets the analyst confirm or override flagged and dropped claims before writing begins. A FastAPI backend streams live agent progress over Server-Sent Events to a Vue 3 frontend that displays the finished review with clickable evidence spans and downloadable artefacts, and the entire system runs at zero API cost on CPU-only hardware.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7"/>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IN" sz="3600" b="1" i="0" u="none" strike="noStrike" cap="none">
                <a:solidFill>
                  <a:srgbClr val="000000"/>
                </a:solidFill>
                <a:latin typeface="Times New Roman"/>
                <a:ea typeface="Times New Roman"/>
                <a:cs typeface="Times New Roman"/>
                <a:sym typeface="Times New Roman"/>
              </a:rPr>
              <a:t>Abstract</a:t>
            </a:r>
            <a:endParaRPr/>
          </a:p>
        </p:txBody>
      </p:sp>
      <p:sp>
        <p:nvSpPr>
          <p:cNvPr id="42" name="Google Shape;42;p7"/>
          <p:cNvSpPr txBox="1"/>
          <p:nvPr/>
        </p:nvSpPr>
        <p:spPr>
          <a:xfrm>
            <a:off x="0" y="470194"/>
            <a:ext cx="8550475" cy="3727935"/>
          </a:xfrm>
          <a:prstGeom prst="rect">
            <a:avLst/>
          </a:prstGeom>
          <a:noFill/>
          <a:ln>
            <a:noFill/>
          </a:ln>
        </p:spPr>
        <p:txBody>
          <a:bodyPr spcFirstLastPara="1" wrap="square" lIns="91425" tIns="91425" rIns="91425" bIns="91425" anchor="t" anchorCtr="0">
            <a:noAutofit/>
          </a:bodyPr>
          <a:lstStyle/>
          <a:p>
            <a:pPr marL="482600" marR="0" lvl="1" indent="0" algn="just" rtl="0">
              <a:lnSpc>
                <a:spcPct val="100000"/>
              </a:lnSpc>
              <a:spcBef>
                <a:spcPts val="0"/>
              </a:spcBef>
              <a:spcAft>
                <a:spcPts val="0"/>
              </a:spcAft>
              <a:buClr>
                <a:schemeClr val="dk2"/>
              </a:buClr>
              <a:buSzPts val="2800"/>
              <a:buFont typeface="Arial"/>
              <a:buNone/>
            </a:pPr>
            <a:r>
              <a:rPr lang="en-IN" sz="2400" b="0" i="0" u="none" strike="noStrike" cap="none" dirty="0">
                <a:solidFill>
                  <a:schemeClr val="dk1"/>
                </a:solidFill>
                <a:latin typeface="Times New Roman"/>
                <a:ea typeface="Times New Roman"/>
                <a:cs typeface="Times New Roman"/>
                <a:sym typeface="Times New Roman"/>
              </a:rPr>
              <a:t>The project aims to build a multi-agent agentic RAG system that automates academic literature review using six specialized agents — Planner, Retriever, Extractor, Verifier, Critic, and Writer —using </a:t>
            </a:r>
            <a:r>
              <a:rPr lang="en-IN" sz="2400" b="0" i="0" u="none" strike="noStrike" cap="none" dirty="0" err="1">
                <a:solidFill>
                  <a:schemeClr val="dk1"/>
                </a:solidFill>
                <a:latin typeface="Times New Roman"/>
                <a:ea typeface="Times New Roman"/>
                <a:cs typeface="Times New Roman"/>
                <a:sym typeface="Times New Roman"/>
              </a:rPr>
              <a:t>LangGraph</a:t>
            </a:r>
            <a:r>
              <a:rPr lang="en-IN" sz="2400" b="0" i="0" u="none" strike="noStrike" cap="none" dirty="0">
                <a:solidFill>
                  <a:schemeClr val="dk1"/>
                </a:solidFill>
                <a:latin typeface="Times New Roman"/>
                <a:ea typeface="Times New Roman"/>
                <a:cs typeface="Times New Roman"/>
                <a:sym typeface="Times New Roman"/>
              </a:rPr>
              <a:t>. The Retriever pulls papers from Semantic Scholar and </a:t>
            </a:r>
            <a:r>
              <a:rPr lang="en-IN" sz="2400" b="0" i="0" u="none" strike="noStrike" cap="none" dirty="0" err="1">
                <a:solidFill>
                  <a:schemeClr val="dk1"/>
                </a:solidFill>
                <a:latin typeface="Times New Roman"/>
                <a:ea typeface="Times New Roman"/>
                <a:cs typeface="Times New Roman"/>
                <a:sym typeface="Times New Roman"/>
              </a:rPr>
              <a:t>OpenAlex</a:t>
            </a:r>
            <a:r>
              <a:rPr lang="en-IN" sz="2400" b="0" i="0" u="none" strike="noStrike" cap="none" dirty="0">
                <a:solidFill>
                  <a:schemeClr val="dk1"/>
                </a:solidFill>
                <a:latin typeface="Times New Roman"/>
                <a:ea typeface="Times New Roman"/>
                <a:cs typeface="Times New Roman"/>
                <a:sym typeface="Times New Roman"/>
              </a:rPr>
              <a:t>, the Extractor embeds content into a </a:t>
            </a:r>
            <a:r>
              <a:rPr lang="en-IN" sz="2400" b="0" i="0" u="none" strike="noStrike" cap="none" dirty="0" err="1">
                <a:solidFill>
                  <a:schemeClr val="dk1"/>
                </a:solidFill>
                <a:latin typeface="Times New Roman"/>
                <a:ea typeface="Times New Roman"/>
                <a:cs typeface="Times New Roman"/>
                <a:sym typeface="Times New Roman"/>
              </a:rPr>
              <a:t>pgvector</a:t>
            </a:r>
            <a:r>
              <a:rPr lang="en-IN" sz="2400" b="0" i="0" u="none" strike="noStrike" cap="none" dirty="0">
                <a:solidFill>
                  <a:schemeClr val="dk1"/>
                </a:solidFill>
                <a:latin typeface="Times New Roman"/>
                <a:ea typeface="Times New Roman"/>
                <a:cs typeface="Times New Roman"/>
                <a:sym typeface="Times New Roman"/>
              </a:rPr>
              <a:t> store, and the Verifier and Critic ensure factual grounding and coverage completeness, looping back to retrieval when gaps are found. A </a:t>
            </a:r>
            <a:r>
              <a:rPr lang="en-IN" sz="2400" b="0" i="0" u="none" strike="noStrike" cap="none" dirty="0" err="1">
                <a:solidFill>
                  <a:schemeClr val="dk1"/>
                </a:solidFill>
                <a:latin typeface="Times New Roman"/>
                <a:ea typeface="Times New Roman"/>
                <a:cs typeface="Times New Roman"/>
                <a:sym typeface="Times New Roman"/>
              </a:rPr>
              <a:t>FastAPI</a:t>
            </a:r>
            <a:r>
              <a:rPr lang="en-IN" sz="2400" b="0" i="0" u="none" strike="noStrike" cap="none" dirty="0">
                <a:solidFill>
                  <a:schemeClr val="dk1"/>
                </a:solidFill>
                <a:latin typeface="Times New Roman"/>
                <a:ea typeface="Times New Roman"/>
                <a:cs typeface="Times New Roman"/>
                <a:sym typeface="Times New Roman"/>
              </a:rPr>
              <a:t> backend streams live agent progress to a Vue.js frontend, giving users real-time visibility into the review as it's generated. </a:t>
            </a:r>
            <a:endParaRPr sz="24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Introduction</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164034" y="385620"/>
            <a:ext cx="8691239" cy="458816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500"/>
              </a:spcAft>
              <a:buFont typeface="Arial" panose="020B0604020202020204" pitchFamily="34" charset="0"/>
              <a:buChar char="•"/>
            </a:pPr>
            <a:r>
              <a:rPr lang="en-IN" sz="2000" b="0" i="0" dirty="0">
                <a:solidFill>
                  <a:srgbClr val="000000"/>
                </a:solidFill>
                <a:latin typeface="Times New Roman" panose="02020603050405020304" pitchFamily="18" charset="0"/>
                <a:cs typeface="Times New Roman" panose="02020603050405020304" pitchFamily="18" charset="0"/>
              </a:rPr>
              <a:t>Writing a literature review means locating, reading and synthesising dozens of papers; the task is described in the literature as one of the most challenging in natural language processing, and no current system automates it end to end.</a:t>
            </a:r>
          </a:p>
          <a:p>
            <a:pPr marL="368300" indent="-368300" algn="just">
              <a:spcAft>
                <a:spcPts val="500"/>
              </a:spcAft>
              <a:buFont typeface="Arial" panose="020B0604020202020204" pitchFamily="34" charset="0"/>
              <a:buChar char="•"/>
            </a:pPr>
            <a:r>
              <a:rPr lang="en-IN" sz="2000" b="0" i="0" dirty="0">
                <a:solidFill>
                  <a:srgbClr val="000000"/>
                </a:solidFill>
                <a:latin typeface="Times New Roman" panose="02020603050405020304" pitchFamily="18" charset="0"/>
                <a:cs typeface="Times New Roman" panose="02020603050405020304" pitchFamily="18" charset="0"/>
              </a:rPr>
              <a:t>This project therefore automates literature review using six specialised agents (Planner, Retriever, Extractor, Verifier, Critic and Writer) orchestrated as a stateful LangGraph graph, with an ingestion stage that parses, chunks and embeds full-text PDFs into a Chroma vector store.</a:t>
            </a:r>
          </a:p>
          <a:p>
            <a:pPr marL="368300" indent="-368300" algn="just">
              <a:spcAft>
                <a:spcPts val="500"/>
              </a:spcAft>
              <a:buFont typeface="Arial" panose="020B0604020202020204" pitchFamily="34" charset="0"/>
              <a:buChar char="•"/>
            </a:pPr>
            <a:r>
              <a:rPr lang="en-IN" sz="2000" b="0" i="0" dirty="0">
                <a:solidFill>
                  <a:srgbClr val="000000"/>
                </a:solidFill>
                <a:latin typeface="Times New Roman" panose="02020603050405020304" pitchFamily="18" charset="0"/>
                <a:cs typeface="Times New Roman" panose="02020603050405020304" pitchFamily="18" charset="0"/>
              </a:rPr>
              <a:t>A claim-verification model fine-tuned on SciFact and running locally classifies every atomic claim against its evidence span and removes unsupported ones, while a bounded critique loop returns control to retrieval or planning when coverage is incomplete and a human reviewer confirms or overrides dropped claims.</a:t>
            </a:r>
          </a:p>
          <a:p>
            <a:pPr marL="368300" indent="-368300" algn="just">
              <a:spcAft>
                <a:spcPts val="500"/>
              </a:spcAft>
              <a:buFont typeface="Arial" panose="020B0604020202020204" pitchFamily="34" charset="0"/>
              <a:buChar char="•"/>
            </a:pPr>
            <a:r>
              <a:rPr lang="en-IN" sz="2000" b="0" i="0" dirty="0">
                <a:solidFill>
                  <a:srgbClr val="000000"/>
                </a:solidFill>
                <a:latin typeface="Times New Roman" panose="02020603050405020304" pitchFamily="18" charset="0"/>
                <a:cs typeface="Times New Roman" panose="02020603050405020304" pitchFamily="18" charset="0"/>
              </a:rPr>
              <a:t>The result is delivered as a full-stack application, a FastAPI backend streaming Events to a Vue 3 frontend with clickable and downloadable artefacts.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736216435"/>
              </p:ext>
            </p:extLst>
          </p:nvPr>
        </p:nvGraphicFramePr>
        <p:xfrm>
          <a:off x="212716" y="781921"/>
          <a:ext cx="8540317" cy="401807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a:t>
                      </a:r>
                    </a:p>
                    <a:p>
                      <a:pPr algn="ctr"/>
                      <a:r>
                        <a:rPr lang="en-IN" sz="1100" b="1" i="0" dirty="0">
                          <a:solidFill>
                            <a:srgbClr val="000000"/>
                          </a:solidFill>
                          <a:latin typeface="Times New Roman" panose="02020603050405020304" pitchFamily="18" charset="0"/>
                          <a:cs typeface="Times New Roman" panose="02020603050405020304" pitchFamily="18" charset="0"/>
                        </a:rPr>
                        <a:t>2025</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standardised dataset existed to judge LLM-generated scientific surveys against human-written ones.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SurveyGen (own): 4,200+ human-written surveys with section-level structure; 242,143 cited references.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QUAL-SG: quality-aware extension of RAG that reranks retrieved literature using citation count, author influence and venue reputation; three task settings by degree of human involvement.</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Semantic similarity to human surveys; ROUGE-L; citation precision / recall / F1; structural consistency.</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Exact task match; quality-aware reranking lifts citation F1 to 16.73%, beating UPR (10.45) and RankGPT (14.81); human-involvement gradient isolates where automation fails.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Restricted to abstracts and metadata for copyright reasons; best citation accuracy only 35.84%; no post-generation refinement; only 120 short surveys evaluated.</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[2]</a:t>
                      </a:r>
                    </a:p>
                    <a:p>
                      <a:pPr algn="ctr"/>
                      <a:r>
                        <a:rPr lang="en-IN" sz="1100" b="1" i="0" dirty="0">
                          <a:solidFill>
                            <a:srgbClr val="000000"/>
                          </a:solidFill>
                          <a:latin typeface="Times New Roman" panose="02020603050405020304" pitchFamily="18" charset="0"/>
                          <a:cs typeface="Times New Roman" panose="02020603050405020304" pitchFamily="18" charset="0"/>
                        </a:rPr>
                        <a:t>2023</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large-scale dataset existed for automatic literature review generation, blocking progress on the task.</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SciReviewGen (own): 10,000+ computer-science literature reviews and 690,000 cited papers, built from S2ORC.</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QFiD (Query-weighted Fusion-in-Decoder) weighting each cited paper by relevance; baselines LEAD, LexRank, extractive oracle, BigBird, FiD; SciBERT quality classifier.</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ROUGE-1 / 2 / L; three-way human evaluation of chapter quality; Cohen’s kappa.</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The field’s reference dataset, in computer science; two-stage quality control (kappa 0.66; SciBERT F1 92%); QFiD best at ROUGE-1 34.00; honest negative human results.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Abstracts only as input; chapters generated independently; inter-paper relations ignored; output "contains incorrect information"; annotator agreement only kappa 0.212.</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4057013386"/>
              </p:ext>
            </p:extLst>
          </p:nvPr>
        </p:nvGraphicFramePr>
        <p:xfrm>
          <a:off x="212716" y="781921"/>
          <a:ext cx="8540317" cy="401807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[3]</a:t>
                      </a:r>
                    </a:p>
                    <a:p>
                      <a:pPr algn="ctr"/>
                      <a:r>
                        <a:rPr lang="en-IN" sz="1100" b="1" i="0" dirty="0">
                          <a:solidFill>
                            <a:srgbClr val="000000"/>
                          </a:solidFill>
                          <a:latin typeface="Times New Roman" panose="02020603050405020304" pitchFamily="18" charset="0"/>
                          <a:cs typeface="Times New Roman" panose="02020603050405020304" pitchFamily="18" charset="0"/>
                        </a:rPr>
                        <a:t>2023</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Citation text generation studies use widely diverging task definitions, so results cannot be compared or accumulated.</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CiteBench, unifying ABURAED, XING, CHEN Delve and Multi-XScience; references S2ORC and arXiv.</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Unified benchmark and task format; LED baselines (led-base, led-large-arxiv) with cross-dataset transfer experiments; citation-intent discourse analysis.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ROUGE-L and BERTScore; KL divergence over citation-intent distributions; human ratings of readability and consistency; Cohen’s kappa.</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Solves a real fragmentation problem; rare cross-dataset transfer study; discourse analysis goes beyond n-gram overlap; finds ROUGE configuration alone shifts scores ~3 points.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English only; automatically inferred labels; data shipped as fetch scripts; citation text is far smaller than a review chapter; pre-dates current LLMs.</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[4]</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AI-assisted systematic-review tooling has proliferated with no systematic map of what exists or how tools compare.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Reviews 21 leading SLR tools plus 11 recent LLM-based tools; sources include Scopus, Semantic Scholar, PubMed and CORE.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Systematic review protocol; assessment framework of 23 traditional features and 11 AI features across technical, usability and economic categories.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Feature coverage per tool; recommends the F2 score in place of F1 for the screening stage.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Maps the real competitive landscape rather than only papers; ready-made comparison instrument; concrete transparency and metric guidance; 167 references.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system, benchmarking or head-to-head performance data; tool landscapes date quickly; focused on screening and extraction, light on synthesis and writing.</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2661612710"/>
              </p:ext>
            </p:extLst>
          </p:nvPr>
        </p:nvGraphicFramePr>
        <p:xfrm>
          <a:off x="212716" y="781921"/>
          <a:ext cx="8540317" cy="3896706"/>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[5]</a:t>
                      </a:r>
                    </a:p>
                    <a:p>
                      <a:pPr algn="ctr"/>
                      <a:r>
                        <a:rPr lang="en-IN" sz="1100" b="1" i="0" dirty="0">
                          <a:solidFill>
                            <a:srgbClr val="000000"/>
                          </a:solidFill>
                          <a:latin typeface="Times New Roman" panose="02020603050405020304" pitchFamily="18" charset="0"/>
                          <a:cs typeface="Times New Roman" panose="02020603050405020304" pitchFamily="18" charset="0"/>
                        </a:rPr>
                        <a:t>2025</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LLM literature tools hallucinate citations, and existing frameworks either lack end-to-end pipelines or cannot handle large claim batches.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SciFact for evaluation; Semantic Scholar as the live retrieval corpus; references MultiVerS and S2ORC.</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RAG combined with structured bibliometric scoring and chain-of-thought guided prompt-flow; asynchronous parallelisation; works with any OpenAI-compatible model.</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Precision, recall, F1 and an uncertainty (abstention) rate; ablations on retrieval depth and bibliometric scoring.</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Valsci with GPT-4o-mini (F1 0.720) beats bare GPT-4o (0.706); eliminates citation hallucination by construction; self-hostable on an 8 GiB virtual machine.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Evaluation described as preliminary; verifies claims but does not synthesise a review; biomedical framing; prompted LLM rather than a trained verifier; abstains on about a third of claims.</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[6]</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Evaluating RAG pipelines needs costly human reference annotation across both retrieval and generation dimensions.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WikiEval (own), a small paired high/low-quality set built for validating the three metrics.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Reference-free LLM-judged metric suite: faithfulness computed as F = |V| / |S| over decomposed statements, answer relevance and context relevance; LlamaIndex and LangChain integrations.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Faithfulness, answer relevance, context relevance; agreement with two human annotators.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ground truth required; the faithfulness formula is simple and directly implementable; ~95% annotator agreement on WikiEval; de-facto standard with 330+ citations.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Demonstration track; metrics are LLM-judged and inherit judge bias; reference-free scores measure internal consistency, not truth; WikiEval is small and general-domain.</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754162176"/>
              </p:ext>
            </p:extLst>
          </p:nvPr>
        </p:nvGraphicFramePr>
        <p:xfrm>
          <a:off x="212716" y="781921"/>
          <a:ext cx="8540317" cy="401807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[7]</a:t>
                      </a:r>
                    </a:p>
                    <a:p>
                      <a:pPr algn="ctr"/>
                      <a:r>
                        <a:rPr lang="en-IN" sz="1100" b="1" i="0" dirty="0">
                          <a:solidFill>
                            <a:srgbClr val="000000"/>
                          </a:solidFill>
                          <a:latin typeface="Times New Roman" panose="02020603050405020304" pitchFamily="18" charset="0"/>
                          <a:cs typeface="Times New Roman" panose="02020603050405020304" pitchFamily="18" charset="0"/>
                        </a:rPr>
                        <a:t>2023</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Binary factuality judgements are inadequate for long-form text that mixes supported and unsupported information, and human evaluation is costly.</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People biographies with Wikipedia as knowledge source; 6,500 generations from 13 language models.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Decompose a generation into atomic facts and compute the percentage supported by a named knowledge source; automated estimator combining retrieval with a strong LM.</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FActScore (percentage of supported atomic facts); estimator error rate against human labels.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Estimator within 2% of human judgement; replaced $26,000 of manual annotation; gives a principled definition of precision relative to a named corpus.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Biographies and Wikipedia only; measures precision without recall; explicitly "not applicable when the facts are more nuanced, open-ended, and debatable".</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[8]</a:t>
                      </a:r>
                    </a:p>
                    <a:p>
                      <a:pPr algn="ctr"/>
                      <a:r>
                        <a:rPr lang="en-IN" sz="1100" b="1" i="0" dirty="0">
                          <a:solidFill>
                            <a:srgbClr val="000000"/>
                          </a:solidFill>
                          <a:latin typeface="Times New Roman" panose="02020603050405020304" pitchFamily="18" charset="0"/>
                          <a:cs typeface="Times New Roman" panose="02020603050405020304" pitchFamily="18" charset="0"/>
                        </a:rPr>
                        <a:t>2023</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reproducible benchmark existed for judging whether LLM-generated text is actually supported by the sources it cites.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ALCE, comprising ASQA, QAMPARI and ELI5 over a 21-million-passage Wikipedia corpus; DPR, GTR and BM25 retrievers.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Benchmark with NLI-computed citation recall and precision; strategies compared include vanilla, post-hoc citation attachment, reranking by citation recall, snippets and interactive inspection.</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Fluency via MAUVE; correctness via exact match or claim recall; citation recall and citation precision, both validated against human annotation.</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First reproducible end-to-end citation benchmark; metrics validated against humans (kappa 0.698 recall, 0.525 precision); three-dimensional design resists shortcut gaming.</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Best models lack complete citation support 50% of the time; MAUVE unstable with output length; the NLI model cannot detect partial support; no multi-hop or reasoning coverage.</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368918102"/>
              </p:ext>
            </p:extLst>
          </p:nvPr>
        </p:nvGraphicFramePr>
        <p:xfrm>
          <a:off x="212716" y="781921"/>
          <a:ext cx="8540317" cy="401807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[9]</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Hallucination research lacked a unified taxonomy, and the limits of retrieval augmentation as a remedy were undocumented.</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Survey drawing on 214 references.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Taxonomy of hallucination in the LLM era; systematic review of contributing factors, detection methods, benchmarks and mitigation methodologies.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Reviews existing detection benchmarks and mitigation evaluations; proposes no new metric.</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1,757 citations; explicitly analyses where retrieval-augmented LLMs fail to prevent hallucination; introduces the knowledge-boundary concept.</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Survey with no method or experiments; scientific-domain hallucination treated shallowly; 2024 cut-off already misses recent mitigation work.</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[10]</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Verifying scientific claims against the clinical trial literature is manual and does not scale to publication volume.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CoVERt (own): 15 PICO-encoded claims, 96 labelled abstracts, Fleiss kappa 0.684; SciFact; 189,648 PubMed abstracts.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CliVER: retrieve abstracts, extract pertinent sentences, apply PICO framing, then a majority-vote ensemble of RoBERTa, PubMedBERT and T5 predicting Support / Refute / Neutral.</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Macro-F1; Precision@K, MRR@K and NDCG@K for ranking; label agreement against four medical clinicians.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Three-way label space; the Oracle versus Open evaluation split isolates retrieval error from verification error; ensemble reaches macro-F1 0.93 on SciFact; benchmarked against clinicians.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0.93 Oracle falls to 0.85 Open, 0.797 against clinicians and 0.44 in the worst domain; 21% false-Support rate; recall not measured; three-transformer ensemble is expensive.</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2498896627"/>
              </p:ext>
            </p:extLst>
          </p:nvPr>
        </p:nvGraphicFramePr>
        <p:xfrm>
          <a:off x="212716" y="781921"/>
          <a:ext cx="8540317" cy="418571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[11]</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Extracting structured knowledge from scientific prose remains a hard task for machine learning models.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Three materials-chemistry tasks (host–dopant, metal-organic frameworks, general composition/phase/morphology); 77-sentence hold-out; five-fold cross-validation.</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LLM-NERRE: fine-tuned GPT-3 and 8-bit quantised Llama-2-70B for joint named-entity and relation extraction; JSON versus English-sentence output schemas compared.</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Exact word-match relation F1 plus a holistic manual F1 assigned by a domain expert.</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Nature-family precedent for structured JSON extraction from papers; beats seq2rel (F1 0.496) and MatBERT (0.390); the dual scoring regime is itself a reusable contribution.</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Output schema validity is not enforced; models invent information absent from the input; pairwise relations cannot capture all scientific content; no evidence-span or provenance mechanism.</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[12]</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Citations frequently misrepresent what the cited paper said, and citation integrity had not been studied from an NLP perspective.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Own annotated corpus: 100 highly-cited biomedical publications, 3,063 citation instances, 39.18% containing accuracy errors.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Citation context identification, then BM25 + MonoT5 top-20 evidence retrieval, then fine-tuned MultiVerS three-way accuracy classification; GPT-3.5 and GPT-4 in-context baselines.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Precision, recall, micro- and macro-F1; recall@k and MRR for evidence retrieval; inter-annotator kappa.</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The closest published analogue to claim-level citation verification; exceptionally honest per-stage reporting; public corpus and models.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Best model only 0.59 micro-F1; evidence retrieval recall 0.53; annotator agreement 0.18–0.31; biomedical domain; requires fine-tuning and a MonoT5 reranker.</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2556997208"/>
              </p:ext>
            </p:extLst>
          </p:nvPr>
        </p:nvGraphicFramePr>
        <p:xfrm>
          <a:off x="212716" y="781921"/>
          <a:ext cx="8540317" cy="3896706"/>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[13]</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Citation text generation conditioned only on cited-paper abstracts produces non-factual hallucinations that distort the cited work.</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S2ORC-derived data; roughly 12,000 retrieved cited text spans across 239 cited papers; ANLI and QuestEval as evaluators.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Condition generation on cited text spans instead of abstracts; ROUGE-based distant labelling; four settings (Abstract, Context CTS, Oracle CTS, Keyword CTS) with RAG-FiD and LED generators.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ROUGE-L, BLEU and METEOR for generation; QuestEval and ANLI entailment for faithfulness.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Measures the hallucination cost of abstract-only input across two generators; distant labelling removes the annotation bottleneck; ROUGE retrieval needs no GPU.</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Retrieval from citation context alone is unsatisfactory; ROUGE labelling is lexical; the keyword setting burdens inexperienced users; extractive output raises plagiarism risk.</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[14]</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 single retrieval strategy either wastes computation on simple queries or fails on complex multi-step ones.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SQuAD, Natural Questions and TriviaQA (single-hop); MuSiQue, HotpotQA and 2WikiMultiHopQA (multi-hop).</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 smaller-LM complexity classifier routes each query to no retrieval, single-step retrieval or iterative retrieval; training labels built automatically from model outcomes and dataset bias.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F1, exact match and accuracy; time per query and number of retrieval steps.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Improves efficiency and accuracy together rather than trading them; labels need no human annotation; small classifiers match large ones, so routing is cheap.</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Automatic labelling may mislabel complexity; a measurable gap remains to an oracle classifier; routing is decided once before retrieval and never revised.</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733429533"/>
              </p:ext>
            </p:extLst>
          </p:nvPr>
        </p:nvGraphicFramePr>
        <p:xfrm>
          <a:off x="212716" y="781921"/>
          <a:ext cx="8540317" cy="3896706"/>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[15]</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Irrelevant retrieved documents mislead generation, and retrieved content suppresses the model’s own reliable intrinsic knowledge.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TriviaQA and RealTimeQA named; three open-domain QA sets for main results; 10K GPT-4-generated note set; LLaMa-2 7B.</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CHAIN-OF-NOTE generates a sequential reading note assessing each retrieved document before answering; deployed by prompting GPT-4 and by distillation into LLaMa-2 7B.</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Exact match and F1 for open-domain QA; rejection rate for unanswerable and real-time questions; accuracy for GPT-4.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Explicit and measurable refusal capability; +7.9 EM under fully noisy documents; per-document notes are inherently interpretable; distillation into a 7B model works.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One extra generation pass per retrieved document raises cost and latency; note quality fluctuates with document complexity; distillation requires frontier-model access.</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[16]</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Generic retrieval-augmented models generalise poorly to specialist domains, fetching incorrect documents and making inaccurate judgements.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84k filtered biomedical instruction sets; three medical QA benchmarks and two long-form QA benchmarks.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Self-BioRAG: domain-specific retriever plus a model trained to emit customised reflective tokens that assess its own generated explanations; 7B and 13B weights released.</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Accuracy on medical QA benchmarks; ROUGE-1 on long-form QA.</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+7.2% absolute over comparable models at 7B or below; +8% ROUGE-1 over RAG on long-form output; full release of weights, data and code.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Requires 84k curated domain instructions; biomedical only; reflection is internal to the model so it cannot be audited or ablated; 7B inference impractical on CPU.</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4031171148"/>
              </p:ext>
            </p:extLst>
          </p:nvPr>
        </p:nvGraphicFramePr>
        <p:xfrm>
          <a:off x="212716" y="781921"/>
          <a:ext cx="8540317" cy="401807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[17]</a:t>
                      </a:r>
                    </a:p>
                    <a:p>
                      <a:pPr algn="ctr"/>
                      <a:r>
                        <a:rPr lang="en-IN" sz="1100" b="1" i="0" dirty="0">
                          <a:solidFill>
                            <a:srgbClr val="000000"/>
                          </a:solidFill>
                          <a:latin typeface="Times New Roman" panose="02020603050405020304" pitchFamily="18" charset="0"/>
                          <a:cs typeface="Times New Roman" panose="02020603050405020304" pitchFamily="18" charset="0"/>
                        </a:rPr>
                        <a:t>2025</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Standard RAG struggles to retrieve precisely relevant context from dense, fast-moving academic literature.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Custom data-science query set (unreleased); textbook corpus used for embedding fine-tuning. No public benchmark.</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Four coordinated stages: GROBID structured parsing, textbook-derived domain embedding fine-tuning, semantic chunking, and an "Abstract First" retrieval strategy.</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RAGAS Context Relevance, with ablations against configurations using only subsets of the four enhancements.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Ablation-driven design; reports a more than fifteen-fold Context Relevance gain over baseline RAG; Scopus-indexed Elsevier venue.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 single metric only; bespoke unreleased query set so the gain is not independently comparable; domain-locked by textbook fine-tuning; heavy GROBID infrastructure.</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[18]</a:t>
                      </a:r>
                    </a:p>
                    <a:p>
                      <a:pPr algn="ctr"/>
                      <a:r>
                        <a:rPr lang="en-IN" sz="1100" b="1" i="0" dirty="0">
                          <a:solidFill>
                            <a:srgbClr val="000000"/>
                          </a:solidFill>
                          <a:latin typeface="Times New Roman" panose="02020603050405020304" pitchFamily="18" charset="0"/>
                          <a:cs typeface="Times New Roman" panose="02020603050405020304" pitchFamily="18" charset="0"/>
                        </a:rPr>
                        <a:t>2025</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Multi-hop questions defeat standard RAG because the required facts are distributed across several documents rather than co-occurring in one.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MultiHop-RAG and HotpotQA; generation with Qwen2.5-32B-Instruct.</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An LLM decomposes the query into sub-questions, passages are retrieved per sub-question, and the merged candidate pool is reranked by an off-the-shelf cross-encoder; no extra training.</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Hits@4, Hits@10, MAP@10 and MRR@10 for retrieval; F1, exact match, precision, recall plus supporting-fact and joint metrics for answers.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+16.5% Hits@10 and +8.4% MRR@10 over the published baseline despite a smaller embedding model; careful per-component attribution; drop-in with no training.</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Sub-queries are generated once and never updated from retrieved evidence; gains depend on a strong domain-aligned reranker; decomposition can hurt already-specific queries.</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640398599"/>
              </p:ext>
            </p:extLst>
          </p:nvPr>
        </p:nvGraphicFramePr>
        <p:xfrm>
          <a:off x="212716" y="781921"/>
          <a:ext cx="8540317" cy="4018072"/>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[19]</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Phase-specific models fragment multi-stage workflows, causing technical inconsistency across phases of a development process.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Evaluated on software-development tasks rather than a public benchmark; ChatGPT and GPT-4 as backbones.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Role-specialised LLM agents across design, coding and testing, coordinated by a "chat chain" controlling what is communicated and "communicative dehallucination" controlling how.</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Completeness, executability, consistency and overall quality of the produced software.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Canonical peer-reviewed evidence that role decomposition beats monolithic prompting; explicitly recognises hallucination at agent interfaces; over 1,000 citations.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Agent capability is overestimated and suited to prototypes only; no retrieval or evidence grounding; multiple agents cost more tokens and time; no quantitative benchmark.</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[20]</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LLM-based multi-agent systems proliferated without a unifying account, making architectures difficult to compare.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Survey drawing on 254 references across 43 pages.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Five-component framework — profile, perception, self-action including memory, mutual interaction and evolution; applications split into problem-solving and world simulation.</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descriptive classification rather than empirical measurement.</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Comprehensive vocabulary for describing agent architectures; catalogues hallucination-mitigation families including verification chains, multi-agent debate and plan revision on failure.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evaluation or empirical comparison; components are descriptive not prescriptive; no document- or retrieval-specific content; young venue whose indexing must be confirmed.</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939110177"/>
              </p:ext>
            </p:extLst>
          </p:nvPr>
        </p:nvGraphicFramePr>
        <p:xfrm>
          <a:off x="212716" y="781921"/>
          <a:ext cx="8540317" cy="3896706"/>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[21]</a:t>
                      </a:r>
                    </a:p>
                    <a:p>
                      <a:pPr algn="ctr"/>
                      <a:r>
                        <a:rPr lang="en-IN" sz="1100" b="1" i="0" dirty="0">
                          <a:solidFill>
                            <a:srgbClr val="000000"/>
                          </a:solidFill>
                          <a:latin typeface="Times New Roman" panose="02020603050405020304" pitchFamily="18" charset="0"/>
                          <a:cs typeface="Times New Roman" panose="02020603050405020304" pitchFamily="18" charset="0"/>
                        </a:rPr>
                        <a:t>2025</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Coordinating heterogeneous agents in complex, dynamic environments is costly and unstable, with coordination overhead dominating.</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Logistics, inspection and search-and-rescue scenarios; no public dataset.</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Multi-tier hybrid architecture: a cloud-based LLM central planner plus device-specific LLMs and generative agents, combined with classical control algorithms and real-time feedback.</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Task completion accuracy; number of communication steps; token usage and API call counts.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+5.7% task accuracy with −46% communication steps and −31% token usage; publishes the efficiency numbers most multi-agent papers omit; IEEE Q1 venue.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Robotics and IoT domain so transfer is architectural only; requires a cloud LLM planner; scenario-based evaluation with no public benchmark for replication.</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[22]</a:t>
                      </a:r>
                    </a:p>
                    <a:p>
                      <a:pPr algn="ctr"/>
                      <a:r>
                        <a:rPr lang="en-IN" sz="1100" b="1" i="0" dirty="0">
                          <a:solidFill>
                            <a:srgbClr val="000000"/>
                          </a:solidFill>
                          <a:latin typeface="Times New Roman" panose="02020603050405020304" pitchFamily="18" charset="0"/>
                          <a:cs typeface="Times New Roman" panose="02020603050405020304" pitchFamily="18" charset="0"/>
                        </a:rPr>
                        <a:t>2026</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RAG research has fragmented as it has grown, with no shared organising vocabulary across its sub-stages.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Survey.</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Four-stage taxonomy from the retrieval viewpoint — pre-retrieval, retrieval, post-retrieval and generation — with significant studies analysed per stage.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Reviews existing evaluation practice across stages; proposes no new metric.</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ACM Computing Surveys authority; the four-stage structure maps directly onto implementation boundaries; covers evaluation as well as method.</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Survey with no new results; retrieval-centric framing under-weights agentic control; comparatively few references for the venue.</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32339037"/>
              </p:ext>
            </p:extLst>
          </p:nvPr>
        </p:nvGraphicFramePr>
        <p:xfrm>
          <a:off x="212716" y="781921"/>
          <a:ext cx="8540317" cy="3896706"/>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[23]</a:t>
                      </a:r>
                    </a:p>
                    <a:p>
                      <a:pPr algn="ctr"/>
                      <a:r>
                        <a:rPr lang="en-IN" sz="1100" b="1" i="0" dirty="0">
                          <a:solidFill>
                            <a:srgbClr val="000000"/>
                          </a:solidFill>
                          <a:latin typeface="Times New Roman" panose="02020603050405020304" pitchFamily="18" charset="0"/>
                          <a:cs typeface="Times New Roman" panose="02020603050405020304" pitchFamily="18" charset="0"/>
                        </a:rPr>
                        <a:t>2025</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Flat vector retrieval discards relational structure between entities, limiting reasoning over connected knowledge.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None. Survey with a maintained live repository of GraphRAG work.</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Formalises GraphRAG as graph-based indexing, graph-guided retrieval and graph-enhanced generation; covers core technologies, training methods and industrial use cases.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Reviews downstream task evaluation practice; contributes no new metric.</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First systematic treatment of GraphRAG; clean three-stage formalisation; documents real industrial deployments.</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Young area whose novelty the authors acknowledge; graph construction cost understated by survey framing; no comparative benchmarking against flat RAG, so the benefit is unquantified.</a:t>
                      </a:r>
                    </a:p>
                  </a:txBody>
                  <a:tcPr marL="45720" marR="45720" marT="18288" marB="18288" anchor="ctr"/>
                </a:tc>
                <a:extLst>
                  <a:ext uri="{0D108BD9-81ED-4DB2-BD59-A6C34878D82A}">
                    <a16:rowId xmlns:a16="http://schemas.microsoft.com/office/drawing/2014/main" val="3243046419"/>
                  </a:ext>
                </a:extLst>
              </a:tr>
              <a:tr h="175925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[24]</a:t>
                      </a:r>
                    </a:p>
                    <a:p>
                      <a:pPr algn="ctr"/>
                      <a:r>
                        <a:rPr lang="en-IN" sz="1100" b="1" i="0" dirty="0">
                          <a:solidFill>
                            <a:srgbClr val="000000"/>
                          </a:solidFill>
                          <a:latin typeface="Times New Roman" panose="02020603050405020304" pitchFamily="18" charset="0"/>
                          <a:cs typeface="Times New Roman" panose="02020603050405020304" pitchFamily="18" charset="0"/>
                        </a:rPr>
                        <a:t>2024</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RAG benchmarks focus on question answering and assess only the LLM or the retriever, overlooking knowledge-base construction.</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CRUD-RAG (own, Chinese) with four sub-datasets covering Create, Read, Update and Delete scenarios; code publicly released.</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CRUD taxonomy of RAG applications with a separate dataset per category; component-wise analysis of retriever, context length, knowledge-base construction and LLM.</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Task-appropriate generation metrics per CRUD category, reported per component rather than end-to-end only.</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Evaluates the whole pipeline rather than the generator alone; covers summarisation and content creation, not just QA; uniquely evaluates knowledge-base construction; public code.</a:t>
                      </a:r>
                    </a:p>
                  </a:txBody>
                  <a:tcPr marL="45720" marR="45720" marT="18288" marB="18288" anchor="ctr"/>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Chinese-language data only so it is not directly reusable; the CRUD framing fits generation loosely; no agentic or multi-step scenarios.</a:t>
                      </a:r>
                    </a:p>
                  </a:txBody>
                  <a:tcPr marL="45720" marR="45720" marT="18288" marB="18288" anchor="ctr"/>
                </a:tc>
                <a:extLst>
                  <a:ext uri="{0D108BD9-81ED-4DB2-BD59-A6C34878D82A}">
                    <a16:rowId xmlns:a16="http://schemas.microsoft.com/office/drawing/2014/main" val="158514083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graphicFrame>
        <p:nvGraphicFramePr>
          <p:cNvPr id="4" name="Table 3">
            <a:extLst>
              <a:ext uri="{FF2B5EF4-FFF2-40B4-BE49-F238E27FC236}">
                <a16:creationId xmlns:a16="http://schemas.microsoft.com/office/drawing/2014/main" id="{4BEA85CC-5C78-4F14-92F4-463B844E7A15}"/>
              </a:ext>
            </a:extLst>
          </p:cNvPr>
          <p:cNvGraphicFramePr>
            <a:graphicFrameLocks noGrp="1"/>
          </p:cNvGraphicFramePr>
          <p:nvPr>
            <p:extLst>
              <p:ext uri="{D42A27DB-BD31-4B8C-83A1-F6EECF244321}">
                <p14:modId xmlns:p14="http://schemas.microsoft.com/office/powerpoint/2010/main" val="1952418689"/>
              </p:ext>
            </p:extLst>
          </p:nvPr>
        </p:nvGraphicFramePr>
        <p:xfrm>
          <a:off x="212716" y="781921"/>
          <a:ext cx="8540317" cy="3896707"/>
        </p:xfrm>
        <a:graphic>
          <a:graphicData uri="http://schemas.openxmlformats.org/drawingml/2006/table">
            <a:tbl>
              <a:tblPr firstRow="1" firstCol="1" bandRow="1">
                <a:tableStyleId>{5C22544A-7EE6-4342-B048-85BDC9FD1C3A}</a:tableStyleId>
              </a:tblPr>
              <a:tblGrid>
                <a:gridCol w="683754">
                  <a:extLst>
                    <a:ext uri="{9D8B030D-6E8A-4147-A177-3AD203B41FA5}">
                      <a16:colId xmlns:a16="http://schemas.microsoft.com/office/drawing/2014/main" val="3057034935"/>
                    </a:ext>
                  </a:extLst>
                </a:gridCol>
                <a:gridCol w="1541930">
                  <a:extLst>
                    <a:ext uri="{9D8B030D-6E8A-4147-A177-3AD203B41FA5}">
                      <a16:colId xmlns:a16="http://schemas.microsoft.com/office/drawing/2014/main" val="1602104467"/>
                    </a:ext>
                  </a:extLst>
                </a:gridCol>
                <a:gridCol w="1066800">
                  <a:extLst>
                    <a:ext uri="{9D8B030D-6E8A-4147-A177-3AD203B41FA5}">
                      <a16:colId xmlns:a16="http://schemas.microsoft.com/office/drawing/2014/main" val="2851784802"/>
                    </a:ext>
                  </a:extLst>
                </a:gridCol>
                <a:gridCol w="1461247">
                  <a:extLst>
                    <a:ext uri="{9D8B030D-6E8A-4147-A177-3AD203B41FA5}">
                      <a16:colId xmlns:a16="http://schemas.microsoft.com/office/drawing/2014/main" val="2666012794"/>
                    </a:ext>
                  </a:extLst>
                </a:gridCol>
                <a:gridCol w="1030941">
                  <a:extLst>
                    <a:ext uri="{9D8B030D-6E8A-4147-A177-3AD203B41FA5}">
                      <a16:colId xmlns:a16="http://schemas.microsoft.com/office/drawing/2014/main" val="1337382263"/>
                    </a:ext>
                  </a:extLst>
                </a:gridCol>
                <a:gridCol w="1318007">
                  <a:extLst>
                    <a:ext uri="{9D8B030D-6E8A-4147-A177-3AD203B41FA5}">
                      <a16:colId xmlns:a16="http://schemas.microsoft.com/office/drawing/2014/main" val="3261930833"/>
                    </a:ext>
                  </a:extLst>
                </a:gridCol>
                <a:gridCol w="1437638">
                  <a:extLst>
                    <a:ext uri="{9D8B030D-6E8A-4147-A177-3AD203B41FA5}">
                      <a16:colId xmlns:a16="http://schemas.microsoft.com/office/drawing/2014/main" val="3793490099"/>
                    </a:ext>
                  </a:extLst>
                </a:gridCol>
              </a:tblGrid>
              <a:tr h="374193">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Ref. No.</a:t>
                      </a:r>
                    </a:p>
                    <a:p>
                      <a:pPr marL="0" marR="0" algn="ctr">
                        <a:lnSpc>
                          <a:spcPct val="107000"/>
                        </a:lnSpc>
                        <a:spcBef>
                          <a:spcPts val="0"/>
                        </a:spcBef>
                        <a:spcAft>
                          <a:spcPts val="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&amp; Year</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Problem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Dataset</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Algorithm</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Evaluation metrics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IN" sz="1200" dirty="0">
                          <a:effectLst/>
                          <a:latin typeface="Times New Roman" panose="02020603050405020304" pitchFamily="18" charset="0"/>
                          <a:cs typeface="Times New Roman" panose="02020603050405020304" pitchFamily="18" charset="0"/>
                        </a:rPr>
                        <a:t>Limitations</a:t>
                      </a:r>
                      <a:endParaRPr lang="en-IN"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9208407"/>
                  </a:ext>
                </a:extLst>
              </a:tr>
              <a:tr h="3518501">
                <a:tc>
                  <a:txBody>
                    <a:bodyPr/>
                    <a:lstStyle/>
                    <a:p>
                      <a:pPr algn="ctr"/>
                      <a:r>
                        <a:rPr lang="en-IN" sz="1400" b="1" i="0" dirty="0">
                          <a:solidFill>
                            <a:srgbClr val="000000"/>
                          </a:solidFill>
                          <a:latin typeface="Times New Roman" panose="02020603050405020304" pitchFamily="18" charset="0"/>
                          <a:cs typeface="Times New Roman" panose="02020603050405020304" pitchFamily="18" charset="0"/>
                        </a:rPr>
                        <a:t>[25]</a:t>
                      </a:r>
                    </a:p>
                    <a:p>
                      <a:pPr algn="ctr"/>
                      <a:r>
                        <a:rPr lang="en-IN" sz="1400" b="1" i="0" dirty="0">
                          <a:solidFill>
                            <a:srgbClr val="000000"/>
                          </a:solidFill>
                          <a:latin typeface="Times New Roman" panose="02020603050405020304" pitchFamily="18" charset="0"/>
                          <a:cs typeface="Times New Roman" panose="02020603050405020304" pitchFamily="18" charset="0"/>
                        </a:rPr>
                        <a:t>2023</a:t>
                      </a:r>
                    </a:p>
                  </a:txBody>
                  <a:tcPr marL="45720" marR="45720" marT="18288" marB="18288" anchor="ctr"/>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RAG was trained and explored only on Wikipedia and degrades badly on specialised domains such as healthcare and news.</a:t>
                      </a:r>
                    </a:p>
                  </a:txBody>
                  <a:tcPr marL="45720" marR="45720" marT="18288" marB="18288" anchor="ctr"/>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COVID-19 (CORD-19), News and Conversations domains; SQuAD open-domain; DPR, BART, BERT and BM25 models.</a:t>
                      </a:r>
                    </a:p>
                  </a:txBody>
                  <a:tcPr marL="45720" marR="45720" marT="18288" marB="18288" anchor="ctr"/>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RAG-end2end: joint end-to-end training of retriever and generator with periodic knowledge-base re-encoding, plus an auxiliary sentence-reconstruction training signal.</a:t>
                      </a:r>
                    </a:p>
                  </a:txBody>
                  <a:tcPr marL="45720" marR="45720" marT="18288" marB="18288" anchor="ctr"/>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Exact match, F1, and Top-5 / Top-20 retrieval accuracy.</a:t>
                      </a:r>
                    </a:p>
                  </a:txBody>
                  <a:tcPr marL="45720" marR="45720" marT="18288" marB="18288" anchor="ctr"/>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Consistent large gains across three domains (EM +1.13 to +12.16) and +11.9 EM on SQuAD; open-sourced into HuggingFace Transformers; identifies the retriever as the key driver.</a:t>
                      </a:r>
                    </a:p>
                  </a:txBody>
                  <a:tcPr marL="45720" marR="45720" marT="18288" marB="18288" anchor="ctr"/>
                </a:tc>
                <a:tc>
                  <a:txBody>
                    <a:bodyPr/>
                    <a:lstStyle/>
                    <a:p>
                      <a:pPr algn="l"/>
                      <a:r>
                        <a:rPr lang="en-IN" sz="1400" b="0" i="0" dirty="0">
                          <a:solidFill>
                            <a:srgbClr val="000000"/>
                          </a:solidFill>
                          <a:latin typeface="Times New Roman" panose="02020603050405020304" pitchFamily="18" charset="0"/>
                          <a:cs typeface="Times New Roman" panose="02020603050405020304" pitchFamily="18" charset="0"/>
                        </a:rPr>
                        <a:t>Requires full end-to-end training with periodic re-indexing, which fails if the knowledge base is not entirely updated; restricted to open-domain QA; pre-dates instruction-tuned LLMs.</a:t>
                      </a:r>
                    </a:p>
                  </a:txBody>
                  <a:tcPr marL="45720" marR="45720" marT="18288" marB="18288" anchor="ctr"/>
                </a:tc>
                <a:extLst>
                  <a:ext uri="{0D108BD9-81ED-4DB2-BD59-A6C34878D82A}">
                    <a16:rowId xmlns:a16="http://schemas.microsoft.com/office/drawing/2014/main" val="3243046419"/>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[1] T. Bao, M. T. Nayeem, D. Rafiei and C. Zhang, "SurveyGen: Quality-Aware Scientific Survey Generation with Large Language Models," EMNLP 2025.</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Automatic survey generation asks a large language model to produce a full literature survey on a topic from the papers it retrieves. Progress in the area had been blocked by the absence of a standardised dataset against which machine output could be compared with human-written surveys.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enable rigorous assessment of generated surveys by releasing a large, structured evaluation dataset. It further aims to show that selecting higher-quality source papers during retrieval improves the citations a generated survey produces.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authors release SurveyGen, over 4,200 human-written surveys with section-level structure and 242,143 cited references carrying citation performance, author influence and venue reputation metadata. They propose QUAL-SG, a quality-aware extension of the naive RAG framework that reranks retrieved literature using those quality indicators before generation. Evaluation runs in three settings of increasing human involvement — fully-LLM generation, fully automatic RAG with no intervention, and human-guided generation with accurate references and outlines supplied.</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LLaMA-3.1-70B reached the highest similarity to human-written surveys at 82.43% with ROUGE-L of 15.36%, while QUAL-SG achieved the best citation quality with an F1 of 16.73%, outperforming Naive-RAG and Fully-LLMGen by 10.80 and 8.97 points respectively. Citation accuracy nevertheless peaked at only 35.84%, leading the authors to conclude that relying solely on LLMs is insufficient for reliable reference generation.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For copyright reasons the pipeline uses only abstracts and bibliographic metadata, which the authors say may leave generated surveys lacking depth and completeness, and no post-generation refinement or verification stage is applied. The clear future direction is to ground generation in full text and to add an explicit claim-verification stage that removes unsupported statements before they are written.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[2] T. Kasanishi, M. Isonuma, J. Mori and I. Sakata, "SciReviewGen: A Large-Scale Dataset for Automatic Literature Review Generation," Findings of ACL 2023.</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Literature review generation is described by its authors as one of the most challenging tasks in natural language processing, because it requires synthesising many papers into coherent prose. Progress had been blocked by data, since no large-scale corpus pairing reviews with their cited papers existed.</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release a dataset large enough to train and benchmark review generation models. It also aims to establish baseline performance and measure how close automatic output comes to human-written reviews.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authors build SciReviewGen from S2ORC, comprising over 10,000 computer-science literature reviews and 690,000 cited papers. Quality control was two-stage: human annotators screened candidate reviews, accepting 583 of 889 at Cohen’s kappa 0.66, and those labels trained a SciBERT classifier reaching 92% F1 that filtered the remainder automatically. They then propose QFiD, a query-weighted Fusion-in-Decoder that weights each input document by relevance to the chapter query, evaluated against LEAD, LexRank, an extractive oracle, BigBird and vanilla FiD.</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QFiD achieved the best scores with ROUGE-1 34.00, ROUGE-2 7.75 and ROUGE-L 16.52, and the FiD-based models outperformed the extractive oracle, showing that simply copying sentences from cited papers does not work and the task is genuinely abstractive. Human evaluation found only about 30% of generated chapters competitive with or superior to human-written text, at an inter-annotator agreement of kappa 0.212.</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list five limitations: only abstract text is used as input, only 70% of cited papers have accessible body text, chapters are generated independently so cross-chapter coherence is impossible, relations between cited papers are ignored, and the generated text "contains incorrect information" so it cannot be published without human revision. Supplying full text, modelling inter-paper relations and verifying generated statements are therefore the stated future directions.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[3] M. Funkquist, I. Kuznetsov, Y. Hou and I. Gurevych, "CiteBench: A Benchmark for Scientific Citation Text Generation," EMNLP 2023.</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Citation text generation produces the sentences that cite a paper inside a related-work section. Research on it could not accumulate, because as the authors state, existing studies "are based upon widely diverging task definitions".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unify divergent task definitions into a single benchmark with standardised evaluation. It also aims to test whether models trained on one citation-generation dataset transfer to others.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CiteBench merges four existing datasets — ABURAED, XING, CHEN Delve and Multi-XScience — into one task format with a common evaluation protocol. Longformer Encoder-Decoder baselines are fine-tuned on each dataset and evaluated across all others to quantify transfer. Beyond ROUGE-L and BERTScore, the authors add a discourse analysis comparing the KL divergence between citation-intent distributions of generated and gold text, plus a human qualitative evaluation of a 50-instance subsample.</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Models showed non-trivial transfer across datasets, but no system scored above 3 on the consistency scale, with raters noting the generated text misses key factual details about the cited papers while remaining topically related. Annotator agreement was about 0.50 for readability and only 0.18 to 0.42 for consistency, and different ROUGE package configurations alone shifted scores by roughly three points.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benchmark is English-only, relies on automatically inferred labels, and can ship only fetch-and-transform scripts rather than the data itself because of reuse restrictions. The authors conclude that current task definitions "overly simplify the complex process of composing a related work section", pointing towards full-section, factually grounded generation as the necessary next step.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[4] F. J. Bolaños, A. A. Salatino, F. Osborne and E. Motta, "Artificial Intelligence for Literature Reviews: Opportunities and Challenges," Artificial Intelligence Review, vol. 57, 2024.</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Dozens of tools now claim to automate parts of a systematic literature review, yet they had never been compared under a common framework. Bolaños et al. survey the field to establish what these tools actually do and where AI genuinely helps.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review aims to map the capabilities of existing systematic-review tools against a consistent feature framework. It also aims to give developers concrete guidance on evaluation metrics, usability and transparency.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authors systematically review 21 leading SLR tools against 23 traditional features and 11 AI features, concentrating on the screening and extraction phases. A further 11 recent LLM-based tools for literature search and academic writing are assessed separately. Tools are scored across technical, usability and economic categories, and the search string is reported in full so the review can be reproduced.</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Three primary research challenges emerge: integrating advanced AI such as large language models and knowledge graphs, improving usability, and developing a standardised evaluation framework. The authors recommend the F2 score rather than F1 for screening, because missing a relevant paper is far costlier than reviewing an irrelevant one, and they call for traceability, explainability and explicit disclosure of each tool’s limitations.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As a tool review it contains no system, no benchmarking and no head-to-head performance data, and tool landscapes date quickly. It also concentrates on screening and extraction rather than synthesis and writing, leaving the harder half of the review process unmapped; the authors themselves note the restricted range of dimensions assessed.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[5] B. Edelman and J. Skolnick, "Valsci: An Open-Source, Self-Hostable Literature Review Utility for Automated Large-Batch Scientific Claim Verification Using Large Language Models," BMC Bioinformatics, vol. 26, 2025.</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Researchers increasingly ask language models to validate scientific claims against the literature, but generative models invent plausible yet false citations. Valsci is an open-source, self-hostable utility built for automated large-batch scientific claim verification.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provide an end-to-end pipeline that verifies many claims concurrently without users manually feeding in abstracts. It also aims to remove citation hallucination entirely by retrieving every cited source rather than generating it.</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Valsci unites retrieval-augmented generation with structured bibliometric scoring and chain-of-thought prompting, searching Semantic Scholar for supporting evidence. Its guided prompt-flow decomposes complex claims into testable components, balances query specificity against recall, and assesses each retrieved passage for whether it is direct or mechanistic evidence and what limitations it carries. The system is model-agnostic across OpenAI-compatible LLMs, scales through asynchronous parallelisation to hundreds of claims per hour, and runs on an 8 GiB virtual machine.</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On SciFact, Valsci with GPT-4o reached F1 0.761 at an uncertainty rate of 0.267, and critically Valsci with the far cheaper GPT-4o-mini reached F1 0.720, exceeding bare GPT-4o at 0.706 — the architecture contributed more than the model upgrade. Raising retrieved citations per claim from 9 to 49 lifted F1 from 0.655 to 0.724, while disabling bibliometric indicators cost 1.6 F1 points.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describe their evaluation as preliminary; the system verifies claims but produces evidence reports rather than a synthesised review, its verification is a prompted LLM with chain-of-thought rather than a trained model, and it abstains on roughly a quarter to a third of claims. Replacing the prompted verifier with a trained one and extending the output to full review synthesis are the natural extensions.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[6] S. Es, J. James, L. Espinosa-Anke and S. Schockaert, "RAGAs: Automated Evaluation of Retrieval Augmented Generation," EACL 2024 System Demonstrations.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A retrieval-augmented pipeline can fail at retrieval, at generation, or at faithfully using what it retrieved, and separating these causes normally requires expensive human annotation. RAGAs proposes a reference-free way to score all three dimensions automatically.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framework aims to let developers evaluate RAG systems without human-written ground truth. It also aims to decompose evaluation so that failures can be attributed to the retriever or to the generator.</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Three quality aspects are defined: faithfulness, answer relevance and context relevance. Faithfulness decomposes an answer into individual statements and checks each against the retrieved context, scoring F = |V| / |S| where |V| is the number of statements supported and |S| the total number of statements. The metrics are validated on WikiEval, a purpose-built dataset of paired high- and low-quality examples for each dimension, and shipped as integrations for LlamaIndex and LangChain.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RAGAs predictions aligned closely with human judgement, with the two annotators agreeing in around 95% of cases for faithfulness and context relevance. The framework was rapidly adopted as the de-facto standard for RAG evaluation and now carries over 330 citations.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state the approach "relies heavily on the performance of the LLMs used for evaluating the different components" and explicitly recommend "prioritizing open models over full-fledged products behind paid APIs". Being reference-free, the metrics measure internal consistency rather than correctness against the world, and the 95% agreement was obtained on a small general-domain set that may not transfer to scientific text.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[7] S. Min, K. Krishna, X. Lyu, M. Lewis, W. Yih, P. W. Koh, M. Iyyer, L. Zettlemoyer and H. Hajishirzi, "FActScore: Fine-Grained Atomic Evaluation of Factual Precision in Long Form Text Generation," EMNLP 2023.</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Long-form model output usually mixes true and false statements, so a single true-or-false verdict discards most of the available information. FActScore reframes factual precision as the fraction of atomic facts that a generation gets right.</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provide a fine-grained, reproducible measure of factual precision for long-form generation. It also aims to remove the cost barrier by automating what previously required expensive human annotation.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A generation is decomposed into atomic facts, and each is checked for support against a named knowledge source, making factual precision explicitly a function of that source rather than of global truth. Human annotators label factual precision on people biographies grounded in Wikipedia, at about four dollars per generation given the 26 to 41 atomic facts each contains. An automated estimator combining retrieval with a strong language model is then validated against those human labels.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estimator stayed within a 2% error rate of human evaluation and was applied to 6,500 generations from 13 language models, work that would have cost $26,000 to annotate manually. ChatGPT scored only 58% factual precision on a task the authors describe as fairly easy, and citations proved almost uninformative, with 36.0% of supported and 37.6% of unsupported sentences carrying them.</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restrict the method to objective, specific facts and state that it "is not applicable when the facts are more nuanced, open-ended, and debatable", and it measures precision without any measure of recall or coverage. Extending atomic-fact verification to interpretive scientific content, and pairing it with a recall measure, remain open problems.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[8] T. Gao, H. Yen, J. Yu and D. Chen, "Enabling Large Language Models to Generate Text with Citations," EMNLP 2023.</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Systems that answer questions with citations had been evaluated mainly by human inspection of commercial search engines, which is neither reproducible nor comparable across methods. ALCE is presented as the first automatic benchmark for citation quality in LLM output.</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make citation quality measurable and reproducible without human raters. It also aims to design a metric set that cannot be gamed by optimising a single dimension in isolation.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benchmark covers three datasets — ASQA, QAMPARI and ELI5 — over a 21-million-passage Wikipedia corpus with DPR, GTR and BM25 retrievers. Three metric dimensions are defined: fluency via MAUVE, correctness via exact-match or claim recall, and citation quality via a natural language inference model, where citation recall is one only if the concatenated cited passages entail the statement, and a citation counts as irrelevant if it alone does not support the claim and removing it does not break that support. Several generation strategies are compared, including attaching citations after generation, reranking sampled responses by citation recall, and interactive passage inspection.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Agreement with human judgement was substantial for citation recall at kappa 0.698 and moderate for precision at 0.525, corresponding to 85.1% and 77.6% accuracy. Even the best models lacked complete citation support 50% of the time on ELI5, attaching citations after generation cost 47% of citation recall, and retrieval recall acted as a hard upper bound on downstream performance.</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note that MAUVE is sensitive to output length and that their NLI model "cannot detect the case of ‘partially support’", which depresses precision relative to human judgement. Coverage excludes multi-hop and reasoning-heavy scenarios, and they observe that training a model to incorporate citations directly remains blocked by the lack of supervised data.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[9] L. Huang, W. Yu, W. Ma, W. Zhong, Z. Feng, H. Wang, Q. Chen, W. Peng, X. Feng, B. Qin et al., "A Survey on Hallucination in Large Language Models: Principles, Taxonomy, Challenges and Open Questions," ACM Transactions on Information Systems, 2024.</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Large language models generate plausible yet non-factual content, which directly undermines their reliability in real-world information retrieval systems. Huang et al. provide the field’s most cited systematic account of the phenomenon.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survey aims to organise a fragmented literature under a single taxonomy of hallucination types. It also aims to document what causes hallucination, how it is detected, and how effective current mitigations actually are.</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authors construct an innovative taxonomy of hallucination for the LLM era and then review contributing factors across data, training and inference. Detection methods and benchmarks are catalogued alongside mitigation methodologies drawn from 214 references. A dedicated section analyses the current limitations faced by retrieval-augmented LLMs in combating hallucination, and the survey closes on future directions including vision-language hallucination and knowledge boundaries.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survey establishes that retrieval augmentation reduces but does not eliminate hallucination, and that no single mitigation family is sufficient on its own. Its knowledge-boundary framing names the desirable behaviour of a system that recognises when its own corpus does not cover a question, turning refusal into a research goal rather than a failure.</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As a survey it contributes no new method, experiment or benchmark, and its very broad coverage leaves hallucination in scientific and scholarly text treated only shallowly. The 2024 cut-off also means the fastest-moving verification and mitigation work is not represented.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[10] H. Liu, A. Soroush, J. G. Nestor, E. Park, B. Idnay, Y. Fang, J. Pan, S. Liao, M. Bernard, Y. Peng et al., "Retrieval Augmented Scientific Claim Verification," JAMIA Open, vol. 7, no. 1, 2024.</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Clinical claims must be checked against trial evidence, a task that is entirely manual and cannot keep pace with the rate of publication. CliVER automates it using retrieval over PubMed abstracts.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automate scientific claim verification and surface both supporting and refuting clinical evidence. It also aims to measure honestly how automated verdicts compare with those of practising clinicians.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CliVER retrieves relevant clinical-trial abstracts, extracts the pertinent sentences and classifies the claim under the PICO framework using a majority-vote ensemble of RoBERTa, PubMedBERT and T5 predicting Support, Refute or Neutral. Evaluation deliberately runs in two settings — an Oracle setting where gold abstracts are supplied, and an Open setting with full retrieval from 189,648 PubMed abstracts. The authors also construct CoVERt, 15 PICO-encoded drug claims with 96 manually labelled abstracts annotated at Fleiss kappa 0.684, and compare system labels against four medical clinicians across six disease domains.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ensemble reached macro-F1 0.93 on SciFact in the Oracle setting, a four-point absolute gain over the best individual model, but fell to 0.85 in the Open setting and to 79.7% label agreement against clinicians. Accuracy varied from 0.44 to 0.80 across disease domains, and the Support class showed recall 1.0 with precision 0.79, meaning 21% of predicted Support labels were false.</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Recall was not measured because all relevant PubMed abstracts cannot be exhaustively reviewed, the ranking modules use a general-domain T5 fine-tuned on MS MARCO, and CoVERt is very small at 15 claims. A three-transformer ensemble is also computationally heavy, and the authors describe the system as showing only early potential.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[11] J. Dagdelen, A. Dunn, S. Lee, N. Walker, A. S. Rosen, G. Ceder, K. A. Persson and A. Jain, "Structured Information Extraction from Scientific Text with Large Language Models," Nature Communications, vol. 15, 2024.</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Scientific facts are locked inside prose that resists conversion into database records, so structured extraction has long relied on task-specific models. Dagdelen et al. show that fine-tuned large language models can emit structured records directly.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perform joint named-entity recognition and relation extraction from scientific text using LLMs. It also aims to determine which output schema format produces the most reliable structured results.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authors fine-tune GPT-3 and an 8-bit quantised Llama-2-70B on three materials-chemistry tasks: host–dopant linking, metal-organic framework cataloguing, and general composition, phase, morphology and application extraction. They compare a JSON output schema against English-sentence schemas, and score results two ways — a stringent exact word-match relation F1, and a holistic manual F1 assigned by a domain expert. Their justification for the second is that surface-similarity metrics mislead, since "Bi2Te3 nanoparticles" and "Bi2Se3 nanoparticles" score 0.977 Jaro-Winkler similarity yet describe entirely different chemistry.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On the dopant task Llama-2 reached precision 0.836, recall 0.807 and F1 0.821, a 13% improvement over GPT-3, while the general and MOF tasks landed in the 0.3 to 0.6 band; both far exceeded the seq2rel (0.496) and MatBERT (0.390) baselines. Structural reliability required roughly 20 training examples, with outputs malformed below about ten, and schema format interacted with model choice, JSON favouring Llama-2 and English schemas favouring GPT-3.</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state that "valid output schema formatting is not rigorously enforced", that models tend "to generate or invent information that is not actually present in the input text", and that scientific information often cannot be modelled as simple pairwise relations. Crucially the extracted records carry no evidence span or provenance link, so a fact cannot be traced back to the sentence that justified it.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[12] M. J. Sarol, S. Ming, S. Radhakrishna, J. Schneider and H. Kilicoglu, "Assessing Citation Integrity in Biomedical Publications: Corpus Annotation and NLP Models," Bioinformatics, vol. 40, no. 7, 2024.</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A quotation error occurs when a citation points to a real paper that does not actually support the statement being made. A 2008 meta-analysis placed the median quotation error rate near 20%, yet the problem had never been approached with NLP methods.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build the first annotated corpus for citation integrity and to model the task computationally. It also aims to measure how accurately automated systems can detect misrepresented citations.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authors annotate 100 highly-cited biomedical publications, extracting the paragraph containing each citation marker and labelling three sub-tasks: citation context identification, evidence segment identification and citation accuracy classification. Because reference articles exceed the 512-token limit of models such as PubMedBERT, relevant sentences are first retrieved with BM25 and a MonoT5 reranker at top-20, after which a fine-tuned MultiVerS model classifies accuracy in a single step. GPT-3.5 and GPT-4 few-shot in-context learning are evaluated as comparison baselines.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corpus contains 3,063 annotated citation instances of which 39.18% contain accuracy errors, and inter-annotator agreement on accuracy labels reached only 0.18 to 0.31. The best pipeline achieved 0.59 micro-F1, evidence retrieval recall at top-20 was 0.53, and GPT-4 scored 0.80 F1 on accurate citations while performing poorly on inaccurate ones — precisely the class that matters.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Absolute performance is too low for autonomous filtering, and the authors observe that quotation errors "are often subtle" and remain challenging for NLP models to identify. The work is biomedical, depends on a domain-pretrained classifier and a MonoT5 reranker, and demonstrates that verification quality is capped by evidence-retrieval recall.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[13] X. Li, Y. Lee and J. Ouyang, "Cited Text Spans for Citation Text Generation," 4th Workshop on Scholarly Document Processing, ACL 2024.</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Generating the text that cites a paper requires grounding in that paper’s content, but scientific documents are long, so existing systems condition only on the abstract. Li et al. argue and then demonstrate that this shortcut teaches models to hallucinate.</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show empirically that abstract-only conditioning damages the faithfulness of generated citations. It also aims to supply a practical way of obtaining cited text spans without prohibitive manual annotation.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Generation is conditioned on cited text spans — the specific passages a citation refers to — obtained by distant labelling that scores candidate sentences on the average of ROUGE-1 and ROUGE-2 recall after stop-word removal. Four input settings are compared: Abstract, Context CTS retrieved using only citation-context sentences, Oracle CTS retrieved using the gold citation text as an upper bound, and a human-in-the-loop Keyword CTS. Two generators, RAG-FiD and LED, are evaluated with QuestEval and ANLI entailment as faithfulness measures over roughly 12,000 retrieved spans.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Abstract-conditioned generation scored ANLI faithfulness of 0.745 with RAG-FiD and 0.744 with LED, while every cited-text-span variant scored between 0.940 and 0.959 — a gap of about 21 points reproduced across both generators. The authors infer that abstract conditioning "produces more non-factual hallucinations that distort the ideas of the cited paper".</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Retrieving spans from citation context alone remains unsatisfactory and needs further investigation, ROUGE-based labelling is lexical and misses semantically relevant but lexically dissimilar spans, and the keyword setting "might be unfriendly to less-experienced researchers". More extractive generation also raises a plagiarism risk the authors say requires an additional rewriting module.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[14] S. Jeong, J. Baek, S. Cho, S. J. Hwang and J. C. Park, "Adaptive-RAG: Learning to Adapt Retrieval-Augmented Large Language Models through Question Complexity," NAACL-HLT 2024, pp. 7036–7050.</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Real users ask both trivial and multi-hop questions, yet most retrieval-augmented systems apply a single strategy to all of them. Adaptive-RAG routes each query to a strategy matched to its complexity.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avoid unnecessary retrieval for simple queries while still supporting iterative retrieval for genuinely complex ones. It also aims to learn this routing decision without any human-labelled complexity data.</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Three strategies are made available — no retrieval for queries answerable from parametric memory, single-step retrieval, and iterative multi-step retrieval — and a smaller language model classifies each incoming query to select one. Training data for the classifier is generated automatically from two signals: which models actually answer which queries correctly, and the inherent single-hop or multi-hop design of the source datasets. Evaluation uses F1, exact match and accuracy alongside efficiency measures of time per query and number of steps, across three single-hop and three multi-hop QA benchmarks.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Adaptive-RAG dominated the accuracy-versus-latency frontier against no-retrieval, single-step, adaptive-retrieval and multi-step baselines, and its classification accuracy exceeded that of other adaptive methods. Removing the silver-label training raised F1 slightly but increased retrieval steps by 35% and collapsed no-retrieval accuracy to zero, while classifiers of different sizes performed comparably, showing routing can be done cheaply.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acknowledge their labelling "is one specific instantiation" that "may have the potential to label queries incorrectly", and that the gap to an oracle classifier shows "there is still room to improve the effectiveness of the classifier". Most importantly, routing happens once, before retrieval, on the query alone, and is never revised in the light of what the retrieval actually returned.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[15] W. Yu, H. Zhang, X. Pan, P. Cao, K. Ma, J. Li, H. Wang and D. Yu, "Chain-of-Note: Enhancing Robustness in Retrieval-Augmented Language Models," EMNLP 2024.</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Retrieval-augmented models fail in two distinct ways: they are misled by irrelevant retrieved passages, and they neglect their own reliable knowledge when retrieved text interferes. Chain-of-Note addresses both by making the model reason explicitly about each document before answering.</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make retrieval-augmented generation robust to noisy retrieval. It also aims to produce a model that answers "unknown" rather than inventing content when neither retrieved nor intrinsic knowledge suffices.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system generates sequential reading notes for each retrieved document, assessing that document’s relevance before any information is integrated into an answer. It is deployed in two modes: prompting GPT-4 directly with the note-taking scheme, and distilling the behaviour by using GPT-4 to create 10,000 note examples and training LLaMa-2 7B on them. Evaluation uses exact match and F1 for open-domain question answering, and an explicit rejection rate for unanswerable and real-time questions.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method delivered +7.9 exact match when all retrieved documents were noisy and +1.97 average exact match overall with LLaMa-2 as backbone. On RealTimeQA the rejection rate rose from 6.1 to 13.0 while exact match and F1 barely moved, showing that the gain comes almost entirely from knowing when to refuse rather than from answering better.</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identify "increased inference cost due to the sequential generation of notes", which lengthens response times and is problematic for time-sensitive applications, and note that efficiency depends on note conciseness, which fluctuates with the complexity of retrieved documents. Distillation also requires access to a frontier model, and the notes are themselves unverified model output.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[16] M. Jeong, J. Sohn, M. Sung and J. Kang, "Improving Medical Reasoning through Retrieval and Self-Reflection with Retrieval-Augmented Large Language Models," Bioinformatics, vol. 40, suppl. 1, 2024.</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Retrieval-augmented models tuned on general corpora degrade sharply in specialist domains such as medicine, where the authors note that poor generalisation leads to fetching incorrect documents. Self-BioRAG adds domain-specific retrieval and learned self-reflection to close that gap.</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improve medical reasoning by retrieving domain-specific documents and critiquing the model’s own explanations. It also aims to show that reflective behaviour can be learned inside the model rather than imposed externally.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authors train a model on 84,000 filtered biomedical instruction sets so that it can generate explanations, retrieve domain-specific documents and assess its own responses using customised reflective tokens. Retrieval uses a biomedical retriever and corpus rather than a general-domain one, making retriever, corpus and instructions jointly domain-adapted. The complete system, at 7B and 13B parameters, is released together with its data and code, and evaluated on three medical question-answering benchmarks and two long-form question-answering benchmarks.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Self-BioRAG achieved a 7.2% absolute average improvement over the best open foundation model of comparable size on medical QA, and an 8% ROUGE-1 gain over standard RAG on long-form generation. The long-form result is the more significant one, since it shows self-reflection helps extended generated text and not only multiple-choice answers.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approach requires 84,000 curated domain instructions that most projects cannot construct, is restricted to biomedicine, and runs at 7B scale which is impractical on CPU-only hardware. Because reflection is baked into the model as reflective tokens, its judgements cannot be separated, independently audited or ablated apart from the generator.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[17] A. Y. Aytar, K. Kaya and K. Kılıç, "A Synergistic Multi-Stage RAG Architecture for Boosting Context Relevance in Data Science Literature," Natural Language Processing Journal, 2025.</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Data-science literature is voluminous and fast-moving, and the authors observe that standard RAG systems "often struggle with retrieving precisely relevant context from this dense academic corpus". They respond with a multi-stage architecture built specifically to raise retrieval precision.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improve the relevance of the context supplied to the generator in an academic-literature setting. It also aims to quantify how much each individual pipeline enhancement contributes in isolation.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Four coordinated stages are combined: GROBID structured document parsing, domain-specific embedding fine-tuning derived from textbooks, semantic chunking that preserves coherence, and a novel "Abstract First" retrieval strategy prioritising concise, high-signal summaries. The complete system is evaluated with the RAGAS framework on a custom data-science query set. Ablations compare the full architecture against configurations using only subsets of the enhancements, so that synergy between stages can be observed.</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full architecture boosted Context Relevance by more than fifteen-fold over baseline RAG and surpassed every partial configuration, confirming that the four stages are complementary rather than redundant. The "Abstract First" finding is notable, since prioritising abstracts improved retrieval quality despite abstracts carrying far less detail than full text.</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Only Context Relevance is reported, on a bespoke unreleased query set, so the fifteen-fold gain cannot be verified independently and implies a comparatively weak baseline. The pipeline is domain-locked by textbook-derived fine-tuning and depends on a GROBID service, and it remains a static pipeline with no verification of the answers it ultimately produces.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[18] P. Ammann, J. Golde and A. Akbik, "Question Decomposition for Retrieval-Augmented Generation," ACL 2025 Student Research Workshop, p. 501.</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Standard retrieval fails on multi-hop questions because, as the authors put it, "relevant facts are often distributed across multiple documents rather than co-occurring in one source". Ammann et al. combine LLM question decomposition with cross-encoder reranking as a practical drop-in fix.</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bridge the retrieval gap on multi-hop questions without any additional training or specialised indexing. It also aims to separate how much of the gain comes from decomposition and how much from reranking.</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An LLM first decomposes the query into sub-questions, passages are retrieved for each, and the merged candidate pool is reranked with an off-the-shelf cross-encoder, followed by a filtering step that retains only passages addressing distinct aspects of the original question. Four configurations are compared — naive RAG, decomposition only, reranking only, and both together — with Qwen2.5-32B-Instruct as generator. Retrieval is measured with Hits@4, Hits@10, MAP@10 and MRR@10, and answer quality with F1, exact match and supporting-fact metrics.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combined configuration reached 87.2% Hits@10 and 0.635 MRR@10 on MultiHop-RAG, improving the published baseline by 16.5% and 8.4% respectively despite using a smaller embedding model, and lifted HotpotQA F1 from 31.3 to 35.0. The two components behave differently: decomposition improves coverage while reranking restores precision.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list six limitations, two of which dominate: the observed gains "rely on a strong, domain-aligned cross-encoder reranker" and may diminish or vanish when it is mismatched, and the pipeline "operates in a single-shot manner: subqueries are generated once and not updated based on retrieved evidence", which "limits its ability to support adaptive multi-step reasoning". An evidence-driven feedback loop is therefore the explicit next step.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[19] C. Qian, W. Liu, H. Liu, N. Chen, Y. Dang, J. Li, C. Yang, W. Chen, Y. Su, X. Cong, J. Xu, D. Li, Z. Liu and M. Sun, "ChatDev: Communicative Agents for Software Development," ACL 2024 (Long Papers).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Complex multi-stage workflows are usually handled by a different specialised model at each phase, which the authors say "leads to technical inconsistencies across various phases". ChatDev instead assigns distinct roles to multiple LLM agents inside one unified framework.</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demonstrate that role-specialised agents communicating in a structured way outperform a single monolithic prompt. It also aims to control the new hallucinations that appear when agents pass information to one another.</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ChatDev integrates multiple software agents across the three core phases of the software lifecycle — design, coding and testing. A chat chain governs what agents communicate by structuring the sequence of agent interactions, while communicative dehallucination governs how they communicate, encouraging the assistant "to actively seek more detailed suggestions from the instructor before delivering a formal response". Output is assessed on completeness, executability, consistency and overall quality.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Role specialisation combined with structured communication produced more complete and executable results than monolithic prompting, establishing the design pattern that most later multi-agent systems adopt. Communicative dehallucination showed that multi-agent systems create new hallucination surfaces at agent boundaries, where one agent’s imprecise output becomes another’s confident input, and that requiring clarification before commitment reduces this.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caution that "the capabilities of autonomous agents in software production might be overestimated", that these technologies are "more suitable for prototype systems rather than complex real-world applications", and that "multiple agents require more tokens and time". The framework also has no retrieval or evidence grounding, and reports no quantitative benchmark results.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[20] X. Li, S. Wang, S. Zeng, Y. Wu and Y. Yang, "A Survey on LLM-Based Multi-Agent Systems: Recent Advances and New Frontiers in Application," Vicinagearth, vol. 1, no. 9, 2024.</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Multi-agent systems built on large language models multiplied rapidly without any shared account of how they are structured. Li et al. survey the area across 254 references and propose a common descriptive vocabulary.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survey aims to synthesise a unifying framework for LLM-based multi-agent architectures. It also aims to catalogue how such systems handle memory, coordination and factual reliability.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authors organise the field around five key components — profile, perception, self-action, mutual interaction and evolution — with self-action further decomposed to include a memory module that stores and recalls prior cognitive and experiential knowledge. Applications are divided into problem-solving and world simulation. A substantial section catalogues hallucination mitigation in multi-agent settings, distinguishing intrinsic hallucinations that contradict input logic from extrinsic ones that cannot be verified against existing information.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survey identifies verification-style mitigations, including chain-of-verification approaches in which a model generates verification queries to check a draft’s factual accuracy before producing a refined response, and multi-agent debate for reaching factual consensus. It also documents plan-revision designs in which agents execute until "indications of plan failure emerge" and then revise the plan, the closest published description of an evidence-driven replanning loop.</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survey offers no evaluation or empirical comparison, and its five components classify systems without predicting which designs actually work. It warns that centralised designs are "susceptible to single points of failure and communication delays", contains no document- or retrieval-specific content, and appears in a venue new enough that its indexing should be confirmed before citation.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[21] T. Yang, P. Feng, Q. Guo, J. Zhang, X. Zhang, J. Ning, X. Wang and Z. Mao, "AutoHMA-LLM: Efficient Task Coordination and Execution in Heterogeneous Multi-Agent Systems Using Hybrid Large Language Models," IEEE Transactions on Cognitive Communications and Networking, 2025.</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Multi-agent systems are routinely criticised for the communication and token overhead they add on top of a single model. AutoHMA-LLM tackles that overhead directly by assigning work to differently sized models across tiers.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coordinate heterogeneous agents efficiently in complex, dynamic environments. It also aims to demonstrate that a well-designed multi-agent system can cost less, not more, than a monolithic one.</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architecture is multi-tier, pairing a cloud-based large language model acting as the central planner with device-specific LLMs and generative agents, and combining these with classical control algorithms. Execution is improved through refined task scheduling and real-time feedback mechanisms that let the planner respond to conditions observed during execution. Evaluation spans logistics, inspection and search-and-rescue scenarios measured against conventional coordination baselines.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system improved task completion accuracy by 5.7% while reducing communication steps by 46% and token usage and API calls by 31%. This is direct published evidence that tiered model assignment — a strong central planner with smaller specialised workers — reduces rather than increases the operating cost of a multi-agent design.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work sits in robotics and IoT, so only the architectural lesson transfers to document processing, and "heterogeneous" here refers to hardware rather than to agent role, making the analogy weaker than it first appears. It also depends on a cloud LLM for planning and reports scenario-based results with no public dataset for replication.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[22] Y. Huang and J. X. Huang, "A Survey on Retrieval-Augmented Text Generation for Large Language Models," ACM Computing Surveys, 2026.</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Retrieval-augmented generation has grown into a large and fragmented field with no common way of describing its constituent parts. Huang and Huang provide an organising taxonomy in ACM Computing Surveys.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survey aims to give the field a shared vocabulary for describing retrieval-augmented pipelines. It also aims to consolidate how such pipelines are evaluated and where the open challenges lie.</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authors organise RAG into four sequential stages viewed from the retrieval perspective: pre-retrieval, retrieval, post-retrieval and generation. Significant studies are analysed stage by stage so that individual contributions can be located precisely rather than described as generic improvements. The survey then reviews evaluation methods across those stages and closes with a discussion of open challenges.</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four-stage decomposition cleanly separates query preparation, evidence acquisition, evidence refinement and answer production, and it maps directly onto the module boundaries of real implementations. The survey also shows that evaluation practice in RAG is considerably less standardised than method development.</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As a survey it contributes no new system or experimental result, and the retrieval-centric framing under-weights agentic control, in which the pipeline itself decides what step to take next. The recorded reference count is also modest for a Computing Surveys article, so coverage of the newest agentic work is thin.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[23] B. Peng, Y. Zhu, Y. Liu, X. Bo, H. Shi, C. Hong, Y. Zhang and S. Tang, "Graph Retrieval-Augmented Generation: A Survey," ACM Transactions on Information Systems, 2025.</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Conventional retrieval treats a corpus as a flat set of passages and therefore discards the relationships between the entities it contains. Peng et al. survey graph-based retrieval augmentation as the field’s response to that limitation.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survey aims to provide the first systematic account of GraphRAG methods. It also aims to establish a formalisation that separates indexing, retrieval and generation concerns cleanly.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authors formalise GraphRAG as three stages — graph-based indexing, graph-guided retrieval and graph-enhanced generation — and review the core technologies within each. Training methods, downstream tasks and evaluation practice are surveyed alongside industrial use cases so that the account covers deployment as well as research. A live repository is maintained to track new work in a fast-moving area.</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survey establishes that structural retrieval is the current frontier for relational and multi-hop reasoning, and that graph construction rather than retrieval has become the dominant engineering cost. It also shows the area is still young, with practice consolidating around the proposed three-stage formalisation.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authors acknowledge the novelty of the area, and the survey provides no comparative benchmarking of GraphRAG against flat retrieval, leaving the actual benefit unquantified. The cost of constructing and maintaining a knowledge graph is also understated by a framing that reports capabilities rather than overheads.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[24] Y. Lyu, Z. Li, S. Niu, F. Xiong, B. Tang, W. Wang, H. Wu, H. Liu, T. Xu and E. Chen, "CRUD-RAG: A Comprehensive Chinese Benchmark for Retrieval-Augmented Generation of Large Language Models," ACM Transactions on Information Systems, 2024.</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Most retrieval-augmented benchmarks test question answering and score only the language model, leaving the rest of the pipeline unmeasured. CRUD-RAG argues that this practice hides where systems actually fail.</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benchmark RAG across the full range of applications rather than question answering alone. It also aims to isolate the contribution of each pipeline component, including the knowledge base itself.</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The authors categorise RAG applications with a CRUD taxonomy — Create for original varied content, Read for knowledge-intensive question answering, Update for correcting inaccuracies in existing text, and Delete for summarising long text — and construct a separate dataset for each category. They then analyse the effect of the retriever, the context length, the construction of the knowledge base and the choice of language model. All code and data are released publicly for reuse.</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The benchmark shows that component choices outside the generator materially change end-to-end quality, and that knowledge-base construction, which is almost never evaluated, is a significant factor in its own right. The Delete category, long-text summarisation, is the closest published analogue to synthesising many documents into a single narrative.</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datasets are Chinese-language only, so the data cannot be reused directly in an English setting, and the CRUD framing borrowed from database semantics fits generation tasks only loosely. The benchmark also contains no agentic or multi-step scenarios, so adaptive pipelines cannot be evaluated within it.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100" b="1" i="0" dirty="0">
                <a:solidFill>
                  <a:srgbClr val="00007A"/>
                </a:solidFill>
                <a:latin typeface="Times New Roman" panose="02020603050405020304" pitchFamily="18" charset="0"/>
                <a:cs typeface="Times New Roman" panose="02020603050405020304" pitchFamily="18" charset="0"/>
              </a:rPr>
              <a:t>[25] S. Siriwardhana, R. Weerasekera, E. Wen, T. Kaluarachchi, R. Rana and S. Nanayakkara, "Improving the Domain Adaptation of Retrieval Augmented Generation (RAG) Models for Open Domain Question Answering," Transactions of the Association for Computational Linguistics, vol. 11, 2023.</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Introduction: </a:t>
            </a:r>
            <a:r>
              <a:rPr lang="en-IN" sz="1100" b="0" i="0" dirty="0">
                <a:solidFill>
                  <a:srgbClr val="000000"/>
                </a:solidFill>
                <a:latin typeface="Times New Roman" panose="02020603050405020304" pitchFamily="18" charset="0"/>
                <a:cs typeface="Times New Roman" panose="02020603050405020304" pitchFamily="18" charset="0"/>
              </a:rPr>
              <a:t>The original RAG architecture was trained and explored only on a Wikipedia knowledge base and, as the authors state, "is not optimized for use in other specialized domains such as healthcare and news". Siriwardhana et al. ask what is actually required to adapt it properly.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Objective: </a:t>
            </a:r>
            <a:r>
              <a:rPr lang="en-IN" sz="1100" b="0" i="0" dirty="0">
                <a:solidFill>
                  <a:srgbClr val="000000"/>
                </a:solidFill>
                <a:latin typeface="Times New Roman" panose="02020603050405020304" pitchFamily="18" charset="0"/>
                <a:cs typeface="Times New Roman" panose="02020603050405020304" pitchFamily="18" charset="0"/>
              </a:rPr>
              <a:t>The work aims to adapt retrieval-augmented generation to specialist domains including healthcare, news and conversation. It also aims to establish whether the retriever or the generator is the limiting component in domain transfer.</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Methodology: </a:t>
            </a:r>
            <a:r>
              <a:rPr lang="en-IN" sz="1100" b="0" i="0" dirty="0">
                <a:solidFill>
                  <a:srgbClr val="000000"/>
                </a:solidFill>
                <a:latin typeface="Times New Roman" panose="02020603050405020304" pitchFamily="18" charset="0"/>
                <a:cs typeface="Times New Roman" panose="02020603050405020304" pitchFamily="18" charset="0"/>
              </a:rPr>
              <a:t>RAG-end2end makes two modifications to the original architecture. First, it trains the retriever and generator jointly end-to-end, updating the passage encoder and the question encoder and periodically re-indexing the knowledge base as the embeddings shift. Second, it adds an auxiliary reconstruction signal that forces the model to rebuild a given sentence by accessing the external knowledge base, injecting domain knowledge beyond the question-answering objective; each variant is trained for ten epochs with the highest-validation checkpoint selected and evaluated with exact match, F1 and Top-5 and Top-20 retrieval accuracy.</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Results: </a:t>
            </a:r>
            <a:r>
              <a:rPr lang="en-IN" sz="1100" b="0" i="0" dirty="0">
                <a:solidFill>
                  <a:srgbClr val="000000"/>
                </a:solidFill>
                <a:latin typeface="Times New Roman" panose="02020603050405020304" pitchFamily="18" charset="0"/>
                <a:cs typeface="Times New Roman" panose="02020603050405020304" pitchFamily="18" charset="0"/>
              </a:rPr>
              <a:t>RAG-end2end outperformed original RAG on every metric across all three domains, with exact-match gains ranging from +1.13 on News to +12.16 on Conversation, and on open-domain SQuAD it lifted exact match from 28.12 to 40.02 and Top-20 retrieval accuracy from 72.38 to 85.57. The reconstruction signal alone gave moderate gains, and the authors conclude that a domain-specific retriever plays the key role in adaptation.</a:t>
            </a:r>
          </a:p>
          <a:p>
            <a:pPr marL="368300" indent="-368300" algn="just">
              <a:spcAft>
                <a:spcPts val="300"/>
              </a:spcAft>
              <a:buFont typeface="Arial" panose="020B0604020202020204" pitchFamily="34" charset="0"/>
              <a:buChar char="•"/>
            </a:pPr>
            <a:r>
              <a:rPr lang="en-IN" sz="1100" b="1" i="0" dirty="0">
                <a:solidFill>
                  <a:srgbClr val="000000"/>
                </a:solidFill>
                <a:latin typeface="Times New Roman" panose="02020603050405020304" pitchFamily="18" charset="0"/>
                <a:cs typeface="Times New Roman" panose="02020603050405020304" pitchFamily="18" charset="0"/>
              </a:rPr>
              <a:t>Limitations and future scope: </a:t>
            </a:r>
            <a:r>
              <a:rPr lang="en-IN" sz="1100" b="0" i="0" dirty="0">
                <a:solidFill>
                  <a:srgbClr val="000000"/>
                </a:solidFill>
                <a:latin typeface="Times New Roman" panose="02020603050405020304" pitchFamily="18" charset="0"/>
                <a:cs typeface="Times New Roman" panose="02020603050405020304" pitchFamily="18" charset="0"/>
              </a:rPr>
              <a:t>The method requires full end-to-end training with periodic knowledge-base re-encoding, and the authors note that "if the knowledge base is not entirely updated with the new embeddings, the re-indexing process fails". It is also restricted to open-domain question answering rather than long-form generation, and pre-dates instruction-tuned language models, so its baselines are now dated.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Limitations of Existing Approaches (Summary)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200" b="1" i="0" dirty="0">
                <a:solidFill>
                  <a:srgbClr val="C00000"/>
                </a:solidFill>
                <a:latin typeface="Times New Roman" panose="02020603050405020304" pitchFamily="18" charset="0"/>
                <a:cs typeface="Times New Roman" panose="02020603050405020304" pitchFamily="18" charset="0"/>
              </a:rPr>
              <a:t>Dataset and input issues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1. Abstract-only conditioning is the field’s shared constraint. </a:t>
            </a:r>
            <a:r>
              <a:rPr lang="en-IN" sz="1200" b="0" i="0" dirty="0">
                <a:solidFill>
                  <a:srgbClr val="000000"/>
                </a:solidFill>
                <a:latin typeface="Times New Roman" panose="02020603050405020304" pitchFamily="18" charset="0"/>
                <a:cs typeface="Times New Roman" panose="02020603050405020304" pitchFamily="18" charset="0"/>
              </a:rPr>
              <a:t>SciReviewGen [2] and SurveyGen [1] both restrict input to abstracts and bibliographic metadata for copyright reasons, and Li et al. [13] measure the cost at roughly 21 points of ANLI faithfulness (0.745 against ~0.95).</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2. Benchmark data is domain-locked or language-locked. </a:t>
            </a:r>
            <a:r>
              <a:rPr lang="en-IN" sz="1200" b="0" i="0" dirty="0">
                <a:solidFill>
                  <a:srgbClr val="000000"/>
                </a:solidFill>
                <a:latin typeface="Times New Roman" panose="02020603050405020304" pitchFamily="18" charset="0"/>
                <a:cs typeface="Times New Roman" panose="02020603050405020304" pitchFamily="18" charset="0"/>
              </a:rPr>
              <a:t>CRUD-RAG [24] is Chinese-only, SciFact, CoVERt [10] and the citation-integrity corpus [12] are biomedical, and the structured-extraction work [11] is materials chemistry, so cross-domain transfer is untested.</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3. Gold sets are small, bespoke or unreleased. </a:t>
            </a:r>
            <a:r>
              <a:rPr lang="en-IN" sz="1200" b="0" i="0" dirty="0">
                <a:solidFill>
                  <a:srgbClr val="000000"/>
                </a:solidFill>
                <a:latin typeface="Times New Roman" panose="02020603050405020304" pitchFamily="18" charset="0"/>
                <a:cs typeface="Times New Roman" panose="02020603050405020304" pitchFamily="18" charset="0"/>
              </a:rPr>
              <a:t>CoVERt contains 15 claims [10], SurveyGen evaluates 120 short surveys [1], and the multi-stage RAG architecture [17] reports a fifteen-fold gain on an unreleased query set, so the numbers are not independently comparable.</a:t>
            </a:r>
          </a:p>
          <a:p>
            <a:pPr marL="368300" indent="-368300" algn="just">
              <a:spcAft>
                <a:spcPts val="300"/>
              </a:spcAft>
              <a:buFont typeface="Arial" panose="020B0604020202020204" pitchFamily="34" charset="0"/>
              <a:buChar char="•"/>
            </a:pPr>
            <a:r>
              <a:rPr lang="en-IN" sz="1200" b="1" i="0" dirty="0">
                <a:solidFill>
                  <a:srgbClr val="C00000"/>
                </a:solidFill>
                <a:latin typeface="Times New Roman" panose="02020603050405020304" pitchFamily="18" charset="0"/>
                <a:cs typeface="Times New Roman" panose="02020603050405020304" pitchFamily="18" charset="0"/>
              </a:rPr>
              <a:t>Algorithm and model issues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4. Retrieval is single-shot. </a:t>
            </a:r>
            <a:r>
              <a:rPr lang="en-IN" sz="1200" b="0" i="0" dirty="0">
                <a:solidFill>
                  <a:srgbClr val="000000"/>
                </a:solidFill>
                <a:latin typeface="Times New Roman" panose="02020603050405020304" pitchFamily="18" charset="0"/>
                <a:cs typeface="Times New Roman" panose="02020603050405020304" pitchFamily="18" charset="0"/>
              </a:rPr>
              <a:t>Sub-queries are generated once and never updated from retrieved evidence [18], and Adaptive-RAG [14] routes once per query before retrieval, so neither adapts to what the retrieval actually returned.</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5. Verification is separated from synthesis. </a:t>
            </a:r>
            <a:r>
              <a:rPr lang="en-IN" sz="1200" b="0" i="0" dirty="0">
                <a:solidFill>
                  <a:srgbClr val="000000"/>
                </a:solidFill>
                <a:latin typeface="Times New Roman" panose="02020603050405020304" pitchFamily="18" charset="0"/>
                <a:cs typeface="Times New Roman" panose="02020603050405020304" pitchFamily="18" charset="0"/>
              </a:rPr>
              <a:t>Valsci [5] verifies claims but does not write a review, while SurveyGen [1] and SciReviewGen [2] write reviews with no claim-level verification stage anywhere in the pipeline.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Limitations of Existing Approaches (Summary)</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6. Reasoning about evidence is internal and unauditable, and extracted facts carry no provenance. </a:t>
            </a:r>
            <a:r>
              <a:rPr lang="en-IN" sz="1200" b="0" i="0" dirty="0">
                <a:solidFill>
                  <a:srgbClr val="000000"/>
                </a:solidFill>
                <a:latin typeface="Times New Roman" panose="02020603050405020304" pitchFamily="18" charset="0"/>
                <a:cs typeface="Times New Roman" panose="02020603050405020304" pitchFamily="18" charset="0"/>
              </a:rPr>
              <a:t>Self-BioRAG [16] bakes reflection into tokens that cannot be ablated or inspected, and structured extraction [11] produces records with no evidence span linking a fact back to the sentence that justified it.</a:t>
            </a:r>
          </a:p>
          <a:p>
            <a:pPr marL="368300" indent="-368300" algn="just">
              <a:spcAft>
                <a:spcPts val="300"/>
              </a:spcAft>
              <a:buFont typeface="Arial" panose="020B0604020202020204" pitchFamily="34" charset="0"/>
              <a:buChar char="•"/>
            </a:pPr>
            <a:r>
              <a:rPr lang="en-IN" sz="1200" b="1" i="0" dirty="0">
                <a:solidFill>
                  <a:srgbClr val="C00000"/>
                </a:solidFill>
                <a:latin typeface="Times New Roman" panose="02020603050405020304" pitchFamily="18" charset="0"/>
                <a:cs typeface="Times New Roman" panose="02020603050405020304" pitchFamily="18" charset="0"/>
              </a:rPr>
              <a:t>Evaluation issues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7. Accuracy on realistic scientific verification is low. </a:t>
            </a:r>
            <a:r>
              <a:rPr lang="en-IN" sz="1200" b="0" i="0" dirty="0">
                <a:solidFill>
                  <a:srgbClr val="000000"/>
                </a:solidFill>
                <a:latin typeface="Times New Roman" panose="02020603050405020304" pitchFamily="18" charset="0"/>
                <a:cs typeface="Times New Roman" panose="02020603050405020304" pitchFamily="18" charset="0"/>
              </a:rPr>
              <a:t>The best citation-integrity model reaches 0.59 micro-F1 on real citations [12], the best survey citation-quality F1 is 16.73% [1], and complete citation support is missing half the time [8].</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8. Benchmark scores overstate real performance. </a:t>
            </a:r>
            <a:r>
              <a:rPr lang="en-IN" sz="1200" b="0" i="0" dirty="0">
                <a:solidFill>
                  <a:srgbClr val="000000"/>
                </a:solidFill>
                <a:latin typeface="Times New Roman" panose="02020603050405020304" pitchFamily="18" charset="0"/>
                <a:cs typeface="Times New Roman" panose="02020603050405020304" pitchFamily="18" charset="0"/>
              </a:rPr>
              <a:t>CliVER [10] falls from 0.93 macro-F1 with gold evidence to 0.85 under real retrieval, 0.797 against clinicians and 0.44 in its worst domain — a 49-point spread for one unchanged system.</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9. Metrics are unstable and human agreement is only fair. </a:t>
            </a:r>
            <a:r>
              <a:rPr lang="en-IN" sz="1200" b="0" i="0" dirty="0">
                <a:solidFill>
                  <a:srgbClr val="000000"/>
                </a:solidFill>
                <a:latin typeface="Times New Roman" panose="02020603050405020304" pitchFamily="18" charset="0"/>
                <a:cs typeface="Times New Roman" panose="02020603050405020304" pitchFamily="18" charset="0"/>
              </a:rPr>
              <a:t>ROUGE package configuration alone shifts scores by about three points [3], RAGAs [6] is LLM-judged and inherits judge bias, and annotator agreement is 0.18–0.31 [12], 0.212 [2] and 0.18–0.42 [3].</a:t>
            </a:r>
          </a:p>
          <a:p>
            <a:pPr marL="368300" indent="-368300" algn="just">
              <a:spcAft>
                <a:spcPts val="300"/>
              </a:spcAft>
              <a:buFont typeface="Arial" panose="020B0604020202020204" pitchFamily="34" charset="0"/>
              <a:buChar char="•"/>
            </a:pPr>
            <a:r>
              <a:rPr lang="en-IN" sz="1200" b="1" i="0" dirty="0">
                <a:solidFill>
                  <a:srgbClr val="C00000"/>
                </a:solidFill>
                <a:latin typeface="Times New Roman" panose="02020603050405020304" pitchFamily="18" charset="0"/>
                <a:cs typeface="Times New Roman" panose="02020603050405020304" pitchFamily="18" charset="0"/>
              </a:rPr>
              <a:t>Deployment and cost issues</a:t>
            </a:r>
          </a:p>
          <a:p>
            <a:pPr marL="368300" indent="-368300" algn="just">
              <a:spcAft>
                <a:spcPts val="3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10. State-of-the-art methods assume resources most users do not have. </a:t>
            </a:r>
            <a:r>
              <a:rPr lang="en-IN" sz="1200" b="0" i="0" dirty="0">
                <a:solidFill>
                  <a:srgbClr val="000000"/>
                </a:solidFill>
                <a:latin typeface="Times New Roman" panose="02020603050405020304" pitchFamily="18" charset="0"/>
                <a:cs typeface="Times New Roman" panose="02020603050405020304" pitchFamily="18" charset="0"/>
              </a:rPr>
              <a:t>End-to-end retriever training with periodic re-indexing [25], 84k curated domain instructions [16], three-transformer ensembles [10] and one LLM call per retrieved document [15] are all infeasible on zero-budget, CPU-only hardware, and usability and transparency remain named open challenges [4].</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Research Gap</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5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Gap 1 — No peer-reviewed multi-agent architecture exists for literature review generation. </a:t>
            </a:r>
            <a:r>
              <a:rPr lang="en-IN" sz="1200" b="0" i="0" dirty="0">
                <a:solidFill>
                  <a:srgbClr val="000000"/>
                </a:solidFill>
                <a:latin typeface="Times New Roman" panose="02020603050405020304" pitchFamily="18" charset="0"/>
                <a:cs typeface="Times New Roman" panose="02020603050405020304" pitchFamily="18" charset="0"/>
              </a:rPr>
              <a:t>Role specialisation is proven in software engineering [19] and robotics [21], while review generation uses single-pass RAG [1], [5]; the intersection is empty in the 2023–2026 literature.</a:t>
            </a:r>
          </a:p>
          <a:p>
            <a:pPr marL="368300" indent="-368300" algn="just">
              <a:spcAft>
                <a:spcPts val="5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Gap 2 — Claim-level verification is not embedded as a control mechanism inside review generation. </a:t>
            </a:r>
            <a:r>
              <a:rPr lang="en-IN" sz="1200" b="0" i="0" dirty="0">
                <a:solidFill>
                  <a:srgbClr val="000000"/>
                </a:solidFill>
                <a:latin typeface="Times New Roman" panose="02020603050405020304" pitchFamily="18" charset="0"/>
                <a:cs typeface="Times New Roman" panose="02020603050405020304" pitchFamily="18" charset="0"/>
              </a:rPr>
              <a:t>Atomic grounding [7], [8] and citation checking [12] form a separate literature from the systems that write reviews [1], [2]; no system removes unsupported claims before writing.</a:t>
            </a:r>
          </a:p>
          <a:p>
            <a:pPr marL="368300" indent="-368300" algn="just">
              <a:spcAft>
                <a:spcPts val="5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Gap 3 — No bounded feedback loop with explicit stop criteria. </a:t>
            </a:r>
            <a:r>
              <a:rPr lang="en-IN" sz="1200" b="0" i="0" dirty="0">
                <a:solidFill>
                  <a:srgbClr val="000000"/>
                </a:solidFill>
                <a:latin typeface="Times New Roman" panose="02020603050405020304" pitchFamily="18" charset="0"/>
                <a:cs typeface="Times New Roman" panose="02020603050405020304" pitchFamily="18" charset="0"/>
              </a:rPr>
              <a:t>Adaptive-RAG [14] routes once per query, Self-BioRAG [16] reflects within one generation, and question decomposition [18] never revises its sub-queries; none returns control to planning after assessing coverage.</a:t>
            </a:r>
          </a:p>
          <a:p>
            <a:pPr marL="368300" indent="-368300" algn="just">
              <a:spcAft>
                <a:spcPts val="5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Gap 4 — Structured per-paper extraction with traceable full-text spans is unused in review generation. </a:t>
            </a:r>
            <a:r>
              <a:rPr lang="en-IN" sz="1200" b="0" i="0" dirty="0">
                <a:solidFill>
                  <a:srgbClr val="000000"/>
                </a:solidFill>
                <a:latin typeface="Times New Roman" panose="02020603050405020304" pitchFamily="18" charset="0"/>
                <a:cs typeface="Times New Roman" panose="02020603050405020304" pitchFamily="18" charset="0"/>
              </a:rPr>
              <a:t>LLMs can emit structured records from scientific text [11], yet review generators emit free text conditioned on abstracts alone [1], [2], despite a measured 21-point faithfulness penalty [13].</a:t>
            </a:r>
          </a:p>
          <a:p>
            <a:pPr marL="368300" indent="-368300" algn="just">
              <a:spcAft>
                <a:spcPts val="5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Gap 5 — Cost- and hardware-constrained agentic RAG is essentially unstudied. </a:t>
            </a:r>
            <a:r>
              <a:rPr lang="en-IN" sz="1200" b="0" i="0" dirty="0">
                <a:solidFill>
                  <a:srgbClr val="000000"/>
                </a:solidFill>
                <a:latin typeface="Times New Roman" panose="02020603050405020304" pitchFamily="18" charset="0"/>
                <a:cs typeface="Times New Roman" panose="02020603050405020304" pitchFamily="18" charset="0"/>
              </a:rPr>
              <a:t>Every system reviewed assumes frontier-model API access or GPU training [16], [25], leaving zero-budget, CPU-only operation without any published baseline to compare against.</a:t>
            </a:r>
          </a:p>
          <a:p>
            <a:pPr marL="368300" indent="-368300" algn="just">
              <a:spcAft>
                <a:spcPts val="5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Gap 6 — Evaluation of generated reviews is unsettled and partly circular. </a:t>
            </a:r>
            <a:r>
              <a:rPr lang="en-IN" sz="1200" b="0" i="0" dirty="0">
                <a:solidFill>
                  <a:srgbClr val="000000"/>
                </a:solidFill>
                <a:latin typeface="Times New Roman" panose="02020603050405020304" pitchFamily="18" charset="0"/>
                <a:cs typeface="Times New Roman" panose="02020603050405020304" pitchFamily="18" charset="0"/>
              </a:rPr>
              <a:t>Reference-free metrics are LLM-judged [6], human agreement is fair at best [2], [3], [12], and no trusted automatic measure of review quality currently exists.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Research Gap</a:t>
            </a:r>
          </a:p>
        </p:txBody>
      </p:sp>
      <p:graphicFrame>
        <p:nvGraphicFramePr>
          <p:cNvPr id="2" name="Table 3">
            <a:extLst>
              <a:ext uri="{FF2B5EF4-FFF2-40B4-BE49-F238E27FC236}">
                <a16:creationId xmlns:a16="http://schemas.microsoft.com/office/drawing/2014/main" id="{44451AF8-973F-4C97-8884-95D429B32473}"/>
              </a:ext>
            </a:extLst>
          </p:cNvPr>
          <p:cNvGraphicFramePr>
            <a:graphicFrameLocks noGrp="1"/>
          </p:cNvGraphicFramePr>
          <p:nvPr>
            <p:extLst>
              <p:ext uri="{D42A27DB-BD31-4B8C-83A1-F6EECF244321}">
                <p14:modId xmlns:p14="http://schemas.microsoft.com/office/powerpoint/2010/main" val="278720224"/>
              </p:ext>
            </p:extLst>
          </p:nvPr>
        </p:nvGraphicFramePr>
        <p:xfrm>
          <a:off x="475128" y="781920"/>
          <a:ext cx="8238564" cy="3942480"/>
        </p:xfrm>
        <a:graphic>
          <a:graphicData uri="http://schemas.openxmlformats.org/drawingml/2006/table">
            <a:tbl>
              <a:tblPr firstRow="1" bandRow="1">
                <a:tableStyleId>{5C22544A-7EE6-4342-B048-85BDC9FD1C3A}</a:tableStyleId>
              </a:tblPr>
              <a:tblGrid>
                <a:gridCol w="3056966">
                  <a:extLst>
                    <a:ext uri="{9D8B030D-6E8A-4147-A177-3AD203B41FA5}">
                      <a16:colId xmlns:a16="http://schemas.microsoft.com/office/drawing/2014/main" val="2563268523"/>
                    </a:ext>
                  </a:extLst>
                </a:gridCol>
                <a:gridCol w="2435410">
                  <a:extLst>
                    <a:ext uri="{9D8B030D-6E8A-4147-A177-3AD203B41FA5}">
                      <a16:colId xmlns:a16="http://schemas.microsoft.com/office/drawing/2014/main" val="2089377196"/>
                    </a:ext>
                  </a:extLst>
                </a:gridCol>
                <a:gridCol w="2746188">
                  <a:extLst>
                    <a:ext uri="{9D8B030D-6E8A-4147-A177-3AD203B41FA5}">
                      <a16:colId xmlns:a16="http://schemas.microsoft.com/office/drawing/2014/main" val="1629991231"/>
                    </a:ext>
                  </a:extLst>
                </a:gridCol>
              </a:tblGrid>
              <a:tr h="492810">
                <a:tc>
                  <a:txBody>
                    <a:bodyPr/>
                    <a:lstStyle/>
                    <a:p>
                      <a:pPr algn="ctr"/>
                      <a:r>
                        <a:rPr lang="en-IN" sz="1000" b="1" i="0" dirty="0">
                          <a:solidFill>
                            <a:srgbClr val="000000"/>
                          </a:solidFill>
                          <a:latin typeface="Times New Roman" panose="02020603050405020304" pitchFamily="18" charset="0"/>
                          <a:cs typeface="Times New Roman" panose="02020603050405020304" pitchFamily="18" charset="0"/>
                        </a:rPr>
                        <a:t>Existing Findings</a:t>
                      </a:r>
                    </a:p>
                  </a:txBody>
                  <a:tcPr marL="45720" marR="45720" marT="18288" marB="18288"/>
                </a:tc>
                <a:tc>
                  <a:txBody>
                    <a:bodyPr/>
                    <a:lstStyle/>
                    <a:p>
                      <a:pPr algn="ctr"/>
                      <a:r>
                        <a:rPr lang="en-IN" sz="1000" b="1" i="0" dirty="0">
                          <a:solidFill>
                            <a:srgbClr val="000000"/>
                          </a:solidFill>
                          <a:latin typeface="Times New Roman" panose="02020603050405020304" pitchFamily="18" charset="0"/>
                          <a:cs typeface="Times New Roman" panose="02020603050405020304" pitchFamily="18" charset="0"/>
                        </a:rPr>
                        <a:t>Limitations</a:t>
                      </a:r>
                    </a:p>
                  </a:txBody>
                  <a:tcPr marL="45720" marR="45720" marT="18288" marB="18288"/>
                </a:tc>
                <a:tc>
                  <a:txBody>
                    <a:bodyPr/>
                    <a:lstStyle/>
                    <a:p>
                      <a:pPr algn="ctr"/>
                      <a:r>
                        <a:rPr lang="en-IN" sz="1000" b="1" i="0" dirty="0">
                          <a:solidFill>
                            <a:srgbClr val="000000"/>
                          </a:solidFill>
                          <a:latin typeface="Times New Roman" panose="02020603050405020304" pitchFamily="18" charset="0"/>
                          <a:cs typeface="Times New Roman" panose="02020603050405020304" pitchFamily="18" charset="0"/>
                        </a:rPr>
                        <a:t>Research Gap</a:t>
                      </a:r>
                    </a:p>
                  </a:txBody>
                  <a:tcPr marL="45720" marR="45720" marT="18288" marB="18288"/>
                </a:tc>
                <a:extLst>
                  <a:ext uri="{0D108BD9-81ED-4DB2-BD59-A6C34878D82A}">
                    <a16:rowId xmlns:a16="http://schemas.microsoft.com/office/drawing/2014/main" val="1176633816"/>
                  </a:ext>
                </a:extLst>
              </a:tr>
              <a:tr h="49281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Role-specialised multi-agent systems outperform monolithic prompting [19], [21]</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Shown only in software engineering and robotics; no retrieval or evidence grounding</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No multi-agent architecture has been applied to literature review generation</a:t>
                      </a:r>
                    </a:p>
                  </a:txBody>
                  <a:tcPr marL="45720" marR="45720" marT="18288" marB="18288"/>
                </a:tc>
                <a:extLst>
                  <a:ext uri="{0D108BD9-81ED-4DB2-BD59-A6C34878D82A}">
                    <a16:rowId xmlns:a16="http://schemas.microsoft.com/office/drawing/2014/main" val="558744182"/>
                  </a:ext>
                </a:extLst>
              </a:tr>
              <a:tr h="49281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Quality-aware RAG raises survey citation quality to F1 16.73% [1]</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Single-pass; abstracts and metadata only; citation accuracy still 35.84%</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Agentic control and full-text grounding unexplored for survey generation</a:t>
                      </a:r>
                    </a:p>
                  </a:txBody>
                  <a:tcPr marL="45720" marR="45720" marT="18288" marB="18288"/>
                </a:tc>
                <a:extLst>
                  <a:ext uri="{0D108BD9-81ED-4DB2-BD59-A6C34878D82A}">
                    <a16:rowId xmlns:a16="http://schemas.microsoft.com/office/drawing/2014/main" val="1573194546"/>
                  </a:ext>
                </a:extLst>
              </a:tr>
              <a:tr h="49281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Atomic claim verification is accurate and automatable [7], [8]</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Developed as post-hoc evaluation, applied after the text is generated</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Verification never used as a gate that removes unsupported claims before writing</a:t>
                      </a:r>
                    </a:p>
                  </a:txBody>
                  <a:tcPr marL="45720" marR="45720" marT="18288" marB="18288"/>
                </a:tc>
                <a:extLst>
                  <a:ext uri="{0D108BD9-81ED-4DB2-BD59-A6C34878D82A}">
                    <a16:rowId xmlns:a16="http://schemas.microsoft.com/office/drawing/2014/main" val="1025215930"/>
                  </a:ext>
                </a:extLst>
              </a:tr>
              <a:tr h="49281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Query decomposition with reranking lifts retrieval by 16.5% Hits@10 [18]</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Sub-queries generated once and never updated from retrieved evidence</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No bounded, evidence-driven replanning loop with explicit stop criteria</a:t>
                      </a:r>
                    </a:p>
                  </a:txBody>
                  <a:tcPr marL="45720" marR="45720" marT="18288" marB="18288"/>
                </a:tc>
                <a:extLst>
                  <a:ext uri="{0D108BD9-81ED-4DB2-BD59-A6C34878D82A}">
                    <a16:rowId xmlns:a16="http://schemas.microsoft.com/office/drawing/2014/main" val="881091722"/>
                  </a:ext>
                </a:extLst>
              </a:tr>
              <a:tr h="49281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LLMs can emit structured JSON records from scientific text [11]</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No evidence spans or provenance; materials-chemistry domain only</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Structured per-paper extraction with traceable spans unused in review generation</a:t>
                      </a:r>
                    </a:p>
                  </a:txBody>
                  <a:tcPr marL="45720" marR="45720" marT="18288" marB="18288"/>
                </a:tc>
                <a:extLst>
                  <a:ext uri="{0D108BD9-81ED-4DB2-BD59-A6C34878D82A}">
                    <a16:rowId xmlns:a16="http://schemas.microsoft.com/office/drawing/2014/main" val="3249890358"/>
                  </a:ext>
                </a:extLst>
              </a:tr>
              <a:tr h="49281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Claim verification reaches 0.93 macro-F1 with gold evidence [10]</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Falls to 0.85 under real retrieval and 0.44 in the worst domain</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Verifier behaviour under realistic retrieval and domain shift unreported for CS</a:t>
                      </a:r>
                    </a:p>
                  </a:txBody>
                  <a:tcPr marL="45720" marR="45720" marT="18288" marB="18288"/>
                </a:tc>
                <a:extLst>
                  <a:ext uri="{0D108BD9-81ED-4DB2-BD59-A6C34878D82A}">
                    <a16:rowId xmlns:a16="http://schemas.microsoft.com/office/drawing/2014/main" val="3155836937"/>
                  </a:ext>
                </a:extLst>
              </a:tr>
              <a:tr h="49281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21 systematic-review tools mapped across 34 features [4]</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Cluster on screening and extraction; usability and transparency named open challenges</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No usable, traceable end-to-end tool for verified review synthesis</a:t>
                      </a:r>
                    </a:p>
                  </a:txBody>
                  <a:tcPr marL="45720" marR="45720" marT="18288" marB="18288"/>
                </a:tc>
                <a:extLst>
                  <a:ext uri="{0D108BD9-81ED-4DB2-BD59-A6C34878D82A}">
                    <a16:rowId xmlns:a16="http://schemas.microsoft.com/office/drawing/2014/main" val="4111201072"/>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Problem Statement</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73980" y="3856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500"/>
              </a:spcAft>
              <a:buFont typeface="Arial" panose="020B0604020202020204" pitchFamily="34" charset="0"/>
              <a:buChar char="•"/>
            </a:pPr>
            <a:r>
              <a:rPr lang="en-IN" sz="1800" b="1" i="0" dirty="0">
                <a:solidFill>
                  <a:srgbClr val="000000"/>
                </a:solidFill>
                <a:latin typeface="Times New Roman" panose="02020603050405020304" pitchFamily="18" charset="0"/>
                <a:cs typeface="Times New Roman" panose="02020603050405020304" pitchFamily="18" charset="0"/>
              </a:rPr>
              <a:t>Background of the problem. </a:t>
            </a:r>
            <a:r>
              <a:rPr lang="en-IN" sz="1800" b="0" i="0" dirty="0">
                <a:solidFill>
                  <a:srgbClr val="000000"/>
                </a:solidFill>
                <a:latin typeface="Times New Roman" panose="02020603050405020304" pitchFamily="18" charset="0"/>
                <a:cs typeface="Times New Roman" panose="02020603050405020304" pitchFamily="18" charset="0"/>
              </a:rPr>
              <a:t>A literature review requires locating, reading and synthesising dozens of papers, and the growth of scientific publication has made this manually intractable; automating it is described as one of the most challenging tasks in natural language processing [2].</a:t>
            </a:r>
          </a:p>
          <a:p>
            <a:pPr marL="368300" indent="-368300" algn="just">
              <a:spcAft>
                <a:spcPts val="500"/>
              </a:spcAft>
              <a:buFont typeface="Arial" panose="020B0604020202020204" pitchFamily="34" charset="0"/>
              <a:buChar char="•"/>
            </a:pPr>
            <a:r>
              <a:rPr lang="en-IN" sz="1800" b="1" i="0" dirty="0">
                <a:solidFill>
                  <a:srgbClr val="000000"/>
                </a:solidFill>
                <a:latin typeface="Times New Roman" panose="02020603050405020304" pitchFamily="18" charset="0"/>
                <a:cs typeface="Times New Roman" panose="02020603050405020304" pitchFamily="18" charset="0"/>
              </a:rPr>
              <a:t>Current challenge — generated reviews are factually thin. </a:t>
            </a:r>
            <a:r>
              <a:rPr lang="en-IN" sz="1800" b="0" i="0" dirty="0">
                <a:solidFill>
                  <a:srgbClr val="000000"/>
                </a:solidFill>
                <a:latin typeface="Times New Roman" panose="02020603050405020304" pitchFamily="18" charset="0"/>
                <a:cs typeface="Times New Roman" panose="02020603050405020304" pitchFamily="18" charset="0"/>
              </a:rPr>
              <a:t>The best survey-generation citation accuracy is 35.84% [1], the best models lack complete citation support 50% of the time [8], and ChatGPT is factually correct on only 58% of atomic claims in long-form text [7].</a:t>
            </a:r>
          </a:p>
          <a:p>
            <a:pPr marL="368300" indent="-368300" algn="just">
              <a:spcAft>
                <a:spcPts val="500"/>
              </a:spcAft>
              <a:buFont typeface="Arial" panose="020B0604020202020204" pitchFamily="34" charset="0"/>
              <a:buChar char="•"/>
            </a:pPr>
            <a:r>
              <a:rPr lang="en-IN" sz="1800" b="1" i="0" dirty="0">
                <a:solidFill>
                  <a:srgbClr val="000000"/>
                </a:solidFill>
                <a:latin typeface="Times New Roman" panose="02020603050405020304" pitchFamily="18" charset="0"/>
                <a:cs typeface="Times New Roman" panose="02020603050405020304" pitchFamily="18" charset="0"/>
              </a:rPr>
              <a:t>Impact of the problem. </a:t>
            </a:r>
            <a:r>
              <a:rPr lang="en-IN" sz="1800" b="0" i="0" dirty="0">
                <a:solidFill>
                  <a:srgbClr val="000000"/>
                </a:solidFill>
                <a:latin typeface="Times New Roman" panose="02020603050405020304" pitchFamily="18" charset="0"/>
                <a:cs typeface="Times New Roman" panose="02020603050405020304" pitchFamily="18" charset="0"/>
              </a:rPr>
              <a:t>An automated review that cites confidently but inaccurately is worse than no automation, because the error is invisible to the reader and propagates into downstream work; the authors of the field’s reference dataset state that their generated output "contains incorrect information" and cannot be published without human revision [2].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Problem Statement</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53198" y="442484"/>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400"/>
              </a:spcAft>
              <a:buFont typeface="Arial" panose="020B0604020202020204" pitchFamily="34" charset="0"/>
              <a:buChar char="•"/>
            </a:pPr>
            <a:r>
              <a:rPr lang="en-IN" sz="1700" b="1" i="0" dirty="0">
                <a:solidFill>
                  <a:srgbClr val="000000"/>
                </a:solidFill>
                <a:latin typeface="Times New Roman" panose="02020603050405020304" pitchFamily="18" charset="0"/>
                <a:cs typeface="Times New Roman" panose="02020603050405020304" pitchFamily="18" charset="0"/>
              </a:rPr>
              <a:t>Why existing methods are insufficient — retrieval alone, applied once. </a:t>
            </a:r>
            <a:r>
              <a:rPr lang="en-IN" sz="1700" b="0" i="0" dirty="0">
                <a:solidFill>
                  <a:srgbClr val="000000"/>
                </a:solidFill>
                <a:latin typeface="Times New Roman" panose="02020603050405020304" pitchFamily="18" charset="0"/>
                <a:cs typeface="Times New Roman" panose="02020603050405020304" pitchFamily="18" charset="0"/>
              </a:rPr>
              <a:t>Retrieval augmentation reduces but does not eliminate hallucination [9], retrieval recall is a hard upper bound on everything downstream [8], [12], and current pipelines are single-shot: sub-queries are generated once without being updated from retrieved evidence [18], and routing is decided before retrieval on the query alone [14].</a:t>
            </a:r>
          </a:p>
          <a:p>
            <a:pPr marL="368300" indent="-368300" algn="just">
              <a:spcAft>
                <a:spcPts val="400"/>
              </a:spcAft>
              <a:buFont typeface="Arial" panose="020B0604020202020204" pitchFamily="34" charset="0"/>
              <a:buChar char="•"/>
            </a:pPr>
            <a:r>
              <a:rPr lang="en-IN" sz="1700" b="1" i="0" dirty="0">
                <a:solidFill>
                  <a:srgbClr val="000000"/>
                </a:solidFill>
                <a:latin typeface="Times New Roman" panose="02020603050405020304" pitchFamily="18" charset="0"/>
                <a:cs typeface="Times New Roman" panose="02020603050405020304" pitchFamily="18" charset="0"/>
              </a:rPr>
              <a:t>Why existing methods are insufficient — verification sits outside the writer, and the strongest methods are unaffordable. </a:t>
            </a:r>
            <a:r>
              <a:rPr lang="en-IN" sz="1700" b="0" i="0" dirty="0">
                <a:solidFill>
                  <a:srgbClr val="000000"/>
                </a:solidFill>
                <a:latin typeface="Times New Roman" panose="02020603050405020304" pitchFamily="18" charset="0"/>
                <a:cs typeface="Times New Roman" panose="02020603050405020304" pitchFamily="18" charset="0"/>
              </a:rPr>
              <a:t>Systems that verify claims do not synthesise reviews [5], and systems that synthesise reviews do not verify claims [1], [2], so unsupported statements are never removed before writing; meanwhile end-to-end retriever training [25], 84k curated domain instructions [16] and per-document LLM calls [15] all assume GPU hardware and paid API access that a zero-budget, CPU-only project does not have.</a:t>
            </a:r>
          </a:p>
          <a:p>
            <a:pPr marL="368300" indent="-368300" algn="just">
              <a:spcAft>
                <a:spcPts val="400"/>
              </a:spcAft>
              <a:buFont typeface="Arial" panose="020B0604020202020204" pitchFamily="34" charset="0"/>
              <a:buChar char="•"/>
            </a:pPr>
            <a:r>
              <a:rPr lang="en-IN" sz="1700" b="1" i="0" dirty="0">
                <a:solidFill>
                  <a:srgbClr val="000000"/>
                </a:solidFill>
                <a:latin typeface="Times New Roman" panose="02020603050405020304" pitchFamily="18" charset="0"/>
                <a:cs typeface="Times New Roman" panose="02020603050405020304" pitchFamily="18" charset="0"/>
              </a:rPr>
              <a:t>Problem to be addressed. </a:t>
            </a:r>
            <a:r>
              <a:rPr lang="en-IN" sz="1700" b="0" i="0" dirty="0">
                <a:solidFill>
                  <a:srgbClr val="000000"/>
                </a:solidFill>
                <a:latin typeface="Times New Roman" panose="02020603050405020304" pitchFamily="18" charset="0"/>
                <a:cs typeface="Times New Roman" panose="02020603050405020304" pitchFamily="18" charset="0"/>
              </a:rPr>
              <a:t>To design and build a multi-agent agentic RAG platform that generates a literature review in which every written claim is verified against a retrieved evidence span by a locally trained model, unsupported claims are removed before writing, coverage gaps trigger bounded re-planning, and a human reviewer can confirm or override every dropped clai</a:t>
            </a:r>
            <a:r>
              <a:rPr lang="en-IN" sz="1700" dirty="0">
                <a:solidFill>
                  <a:srgbClr val="000000"/>
                </a:solidFill>
                <a:latin typeface="Times New Roman" panose="02020603050405020304" pitchFamily="18" charset="0"/>
                <a:cs typeface="Times New Roman" panose="02020603050405020304" pitchFamily="18" charset="0"/>
              </a:rPr>
              <a:t>m.</a:t>
            </a:r>
            <a:endParaRPr lang="en-IN" sz="1700" b="0" i="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Objectives of the Proposed Work</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1000"/>
              </a:spcAft>
              <a:buFont typeface="Arial" panose="020B0604020202020204" pitchFamily="34" charset="0"/>
              <a:buChar char="•"/>
            </a:pPr>
            <a:r>
              <a:rPr lang="en-IN" sz="1800" b="1" i="0" dirty="0">
                <a:solidFill>
                  <a:srgbClr val="000000"/>
                </a:solidFill>
                <a:latin typeface="Times New Roman" panose="02020603050405020304" pitchFamily="18" charset="0"/>
                <a:cs typeface="Times New Roman" panose="02020603050405020304" pitchFamily="18" charset="0"/>
              </a:rPr>
              <a:t>To design and implement </a:t>
            </a:r>
            <a:r>
              <a:rPr lang="en-IN" sz="1800" b="0" i="0" dirty="0">
                <a:solidFill>
                  <a:srgbClr val="000000"/>
                </a:solidFill>
                <a:latin typeface="Times New Roman" panose="02020603050405020304" pitchFamily="18" charset="0"/>
                <a:cs typeface="Times New Roman" panose="02020603050405020304" pitchFamily="18" charset="0"/>
              </a:rPr>
              <a:t>an end-to-end literature review pipeline as a multi-agent agentic RAG system, orchestrated as a stateful graph in which the Planner, Retriever, Extractor, Verifier, Critic and Writer agents exchange typed state rather than free text.</a:t>
            </a:r>
          </a:p>
          <a:p>
            <a:pPr marL="368300" indent="-368300" algn="just">
              <a:spcAft>
                <a:spcPts val="1000"/>
              </a:spcAft>
              <a:buFont typeface="Arial" panose="020B0604020202020204" pitchFamily="34" charset="0"/>
              <a:buChar char="•"/>
            </a:pPr>
            <a:r>
              <a:rPr lang="en-IN" sz="1800" b="1" i="0" dirty="0">
                <a:solidFill>
                  <a:srgbClr val="000000"/>
                </a:solidFill>
                <a:latin typeface="Times New Roman" panose="02020603050405020304" pitchFamily="18" charset="0"/>
                <a:cs typeface="Times New Roman" panose="02020603050405020304" pitchFamily="18" charset="0"/>
              </a:rPr>
              <a:t>To develop and evaluate </a:t>
            </a:r>
            <a:r>
              <a:rPr lang="en-IN" sz="1800" b="0" i="0" dirty="0">
                <a:solidFill>
                  <a:srgbClr val="000000"/>
                </a:solidFill>
                <a:latin typeface="Times New Roman" panose="02020603050405020304" pitchFamily="18" charset="0"/>
                <a:cs typeface="Times New Roman" panose="02020603050405020304" pitchFamily="18" charset="0"/>
              </a:rPr>
              <a:t>a fine-tuned claim-verification model that, together with a bounded critique loop and human-in-the-loop confirmation, ensures factual grounding and coverage completeness by removing every claim that is not supported by a retrieved evidence span.</a:t>
            </a:r>
          </a:p>
          <a:p>
            <a:pPr marL="368300" indent="-368300" algn="just">
              <a:spcAft>
                <a:spcPts val="1000"/>
              </a:spcAft>
              <a:buFont typeface="Arial" panose="020B0604020202020204" pitchFamily="34" charset="0"/>
              <a:buChar char="•"/>
            </a:pPr>
            <a:r>
              <a:rPr lang="en-IN" sz="1800" b="1" i="0" dirty="0">
                <a:solidFill>
                  <a:srgbClr val="000000"/>
                </a:solidFill>
                <a:latin typeface="Times New Roman" panose="02020603050405020304" pitchFamily="18" charset="0"/>
                <a:cs typeface="Times New Roman" panose="02020603050405020304" pitchFamily="18" charset="0"/>
              </a:rPr>
              <a:t>To deliver </a:t>
            </a:r>
            <a:r>
              <a:rPr lang="en-IN" sz="1800" b="0" i="0" dirty="0">
                <a:solidFill>
                  <a:srgbClr val="000000"/>
                </a:solidFill>
                <a:latin typeface="Times New Roman" panose="02020603050405020304" pitchFamily="18" charset="0"/>
                <a:cs typeface="Times New Roman" panose="02020603050405020304" pitchFamily="18" charset="0"/>
              </a:rPr>
              <a:t>a usable full-stack web application with real-time progress visibility and traceable, downloadable review artefacts, so that every generated sentence can be inspected against the evidence that produced it.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Software &amp; Hardware Requirements</a:t>
            </a:r>
          </a:p>
        </p:txBody>
      </p:sp>
      <p:graphicFrame>
        <p:nvGraphicFramePr>
          <p:cNvPr id="2" name="Table 4">
            <a:extLst>
              <a:ext uri="{FF2B5EF4-FFF2-40B4-BE49-F238E27FC236}">
                <a16:creationId xmlns:a16="http://schemas.microsoft.com/office/drawing/2014/main" id="{719EA98D-6D75-48DE-816E-3703372A751C}"/>
              </a:ext>
            </a:extLst>
          </p:cNvPr>
          <p:cNvGraphicFramePr>
            <a:graphicFrameLocks noGrp="1"/>
          </p:cNvGraphicFramePr>
          <p:nvPr>
            <p:extLst>
              <p:ext uri="{D42A27DB-BD31-4B8C-83A1-F6EECF244321}">
                <p14:modId xmlns:p14="http://schemas.microsoft.com/office/powerpoint/2010/main" val="3101587141"/>
              </p:ext>
            </p:extLst>
          </p:nvPr>
        </p:nvGraphicFramePr>
        <p:xfrm>
          <a:off x="466164" y="830000"/>
          <a:ext cx="8220636" cy="3360000"/>
        </p:xfrm>
        <a:graphic>
          <a:graphicData uri="http://schemas.openxmlformats.org/drawingml/2006/table">
            <a:tbl>
              <a:tblPr firstRow="1" bandRow="1">
                <a:tableStyleId>{5C22544A-7EE6-4342-B048-85BDC9FD1C3A}</a:tableStyleId>
              </a:tblPr>
              <a:tblGrid>
                <a:gridCol w="4110318">
                  <a:extLst>
                    <a:ext uri="{9D8B030D-6E8A-4147-A177-3AD203B41FA5}">
                      <a16:colId xmlns:a16="http://schemas.microsoft.com/office/drawing/2014/main" val="2165162916"/>
                    </a:ext>
                  </a:extLst>
                </a:gridCol>
                <a:gridCol w="4110318">
                  <a:extLst>
                    <a:ext uri="{9D8B030D-6E8A-4147-A177-3AD203B41FA5}">
                      <a16:colId xmlns:a16="http://schemas.microsoft.com/office/drawing/2014/main" val="3782162276"/>
                    </a:ext>
                  </a:extLst>
                </a:gridCol>
              </a:tblGrid>
              <a:tr h="210000">
                <a:tc>
                  <a:txBody>
                    <a:bodyPr/>
                    <a:lstStyle/>
                    <a:p>
                      <a:pPr algn="ctr"/>
                      <a:r>
                        <a:rPr lang="en-IN" sz="900" b="1" i="0" dirty="0">
                          <a:solidFill>
                            <a:srgbClr val="000000"/>
                          </a:solidFill>
                          <a:latin typeface="Times New Roman" panose="02020603050405020304" pitchFamily="18" charset="0"/>
                          <a:cs typeface="Times New Roman" panose="02020603050405020304" pitchFamily="18" charset="0"/>
                        </a:rPr>
                        <a:t>Name of the Software (with version)</a:t>
                      </a:r>
                    </a:p>
                  </a:txBody>
                  <a:tcPr marL="45720" marR="45720" marT="18288" marB="18288"/>
                </a:tc>
                <a:tc>
                  <a:txBody>
                    <a:bodyPr/>
                    <a:lstStyle/>
                    <a:p>
                      <a:pPr algn="ctr"/>
                      <a:r>
                        <a:rPr lang="en-IN" sz="900" b="1" i="0" dirty="0">
                          <a:solidFill>
                            <a:srgbClr val="000000"/>
                          </a:solidFill>
                          <a:latin typeface="Times New Roman" panose="02020603050405020304" pitchFamily="18" charset="0"/>
                          <a:cs typeface="Times New Roman" panose="02020603050405020304" pitchFamily="18" charset="0"/>
                        </a:rPr>
                        <a:t>Purpose</a:t>
                      </a:r>
                    </a:p>
                  </a:txBody>
                  <a:tcPr marL="45720" marR="45720" marT="18288" marB="18288"/>
                </a:tc>
                <a:extLst>
                  <a:ext uri="{0D108BD9-81ED-4DB2-BD59-A6C34878D82A}">
                    <a16:rowId xmlns:a16="http://schemas.microsoft.com/office/drawing/2014/main" val="3206788789"/>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Windows 11, 64-bit</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Development and deployment host operating system</a:t>
                      </a:r>
                    </a:p>
                  </a:txBody>
                  <a:tcPr marL="45720" marR="45720" marT="18288" marB="18288"/>
                </a:tc>
                <a:extLst>
                  <a:ext uri="{0D108BD9-81ED-4DB2-BD59-A6C34878D82A}">
                    <a16:rowId xmlns:a16="http://schemas.microsoft.com/office/drawing/2014/main" val="2031497746"/>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Python 3.11 or later</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Backend, agent pipeline and all local model inference</a:t>
                      </a:r>
                    </a:p>
                  </a:txBody>
                  <a:tcPr marL="45720" marR="45720" marT="18288" marB="18288"/>
                </a:tc>
                <a:extLst>
                  <a:ext uri="{0D108BD9-81ED-4DB2-BD59-A6C34878D82A}">
                    <a16:rowId xmlns:a16="http://schemas.microsoft.com/office/drawing/2014/main" val="853662978"/>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FastAPI 0.115 with Uvicorn</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REST API endpoints and the Server-Sent Events progress stream</a:t>
                      </a:r>
                    </a:p>
                  </a:txBody>
                  <a:tcPr marL="45720" marR="45720" marT="18288" marB="18288"/>
                </a:tc>
                <a:extLst>
                  <a:ext uri="{0D108BD9-81ED-4DB2-BD59-A6C34878D82A}">
                    <a16:rowId xmlns:a16="http://schemas.microsoft.com/office/drawing/2014/main" val="1009655673"/>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LangGraph 0.2 with LangChain 0.3</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Stateful multi-agent orchestration and the bounded critic loop</a:t>
                      </a:r>
                    </a:p>
                  </a:txBody>
                  <a:tcPr marL="45720" marR="45720" marT="18288" marB="18288"/>
                </a:tc>
                <a:extLst>
                  <a:ext uri="{0D108BD9-81ED-4DB2-BD59-A6C34878D82A}">
                    <a16:rowId xmlns:a16="http://schemas.microsoft.com/office/drawing/2014/main" val="382207838"/>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Chroma 0.5 (embedded, persistent)</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Vector store for paper chunks, embeddings and metadata</a:t>
                      </a:r>
                    </a:p>
                  </a:txBody>
                  <a:tcPr marL="45720" marR="45720" marT="18288" marB="18288"/>
                </a:tc>
                <a:extLst>
                  <a:ext uri="{0D108BD9-81ED-4DB2-BD59-A6C34878D82A}">
                    <a16:rowId xmlns:a16="http://schemas.microsoft.com/office/drawing/2014/main" val="1888636300"/>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sentence-transformers with bge-small-en-v1.5 (33M)</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CPU embedding of section-aware document chunks</a:t>
                      </a:r>
                    </a:p>
                  </a:txBody>
                  <a:tcPr marL="45720" marR="45720" marT="18288" marB="18288"/>
                </a:tc>
                <a:extLst>
                  <a:ext uri="{0D108BD9-81ED-4DB2-BD59-A6C34878D82A}">
                    <a16:rowId xmlns:a16="http://schemas.microsoft.com/office/drawing/2014/main" val="1111977410"/>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Cross-encoder ms-marco-MiniLM-L-6-v2 (22M)</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Relevance reranking of the fused retrieval candidate pool</a:t>
                      </a:r>
                    </a:p>
                  </a:txBody>
                  <a:tcPr marL="45720" marR="45720" marT="18288" marB="18288"/>
                </a:tc>
                <a:extLst>
                  <a:ext uri="{0D108BD9-81ED-4DB2-BD59-A6C34878D82A}">
                    <a16:rowId xmlns:a16="http://schemas.microsoft.com/office/drawing/2014/main" val="3729925156"/>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PyTorch 2.x with Hugging Face Transformers</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Fine-tuning the NLI claim-verification model on SciFact</a:t>
                      </a:r>
                    </a:p>
                  </a:txBody>
                  <a:tcPr marL="45720" marR="45720" marT="18288" marB="18288"/>
                </a:tc>
                <a:extLst>
                  <a:ext uri="{0D108BD9-81ED-4DB2-BD59-A6C34878D82A}">
                    <a16:rowId xmlns:a16="http://schemas.microsoft.com/office/drawing/2014/main" val="1407450156"/>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ONNX Runtime 1.19</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int8-quantised CPU inference of the trained claim verifier</a:t>
                      </a:r>
                    </a:p>
                  </a:txBody>
                  <a:tcPr marL="45720" marR="45720" marT="18288" marB="18288"/>
                </a:tc>
                <a:extLst>
                  <a:ext uri="{0D108BD9-81ED-4DB2-BD59-A6C34878D82A}">
                    <a16:rowId xmlns:a16="http://schemas.microsoft.com/office/drawing/2014/main" val="1244058453"/>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PyMuPDF (fitz) 1.24</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Full-text PDF parsing and section-aware chunking</a:t>
                      </a:r>
                    </a:p>
                  </a:txBody>
                  <a:tcPr marL="45720" marR="45720" marT="18288" marB="18288"/>
                </a:tc>
                <a:extLst>
                  <a:ext uri="{0D108BD9-81ED-4DB2-BD59-A6C34878D82A}">
                    <a16:rowId xmlns:a16="http://schemas.microsoft.com/office/drawing/2014/main" val="2177961864"/>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Semantic Scholar Academic Graph API</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Paper discovery, bibliographic metadata and abstracts</a:t>
                      </a:r>
                    </a:p>
                  </a:txBody>
                  <a:tcPr marL="45720" marR="45720" marT="18288" marB="18288"/>
                </a:tc>
                <a:extLst>
                  <a:ext uri="{0D108BD9-81ED-4DB2-BD59-A6C34878D82A}">
                    <a16:rowId xmlns:a16="http://schemas.microsoft.com/office/drawing/2014/main" val="2298398257"/>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Google Gemini free-tier API (Groq as fallback)</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Generation for the Planner, Extractor, Critic and Writer agents</a:t>
                      </a:r>
                    </a:p>
                  </a:txBody>
                  <a:tcPr marL="45720" marR="45720" marT="18288" marB="18288"/>
                </a:tc>
                <a:extLst>
                  <a:ext uri="{0D108BD9-81ED-4DB2-BD59-A6C34878D82A}">
                    <a16:rowId xmlns:a16="http://schemas.microsoft.com/office/drawing/2014/main" val="1058812036"/>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Vue 3 with Vite 5</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Single-page frontend: live progress, evidence and dropped-claims panels</a:t>
                      </a:r>
                    </a:p>
                  </a:txBody>
                  <a:tcPr marL="45720" marR="45720" marT="18288" marB="18288"/>
                </a:tc>
                <a:extLst>
                  <a:ext uri="{0D108BD9-81ED-4DB2-BD59-A6C34878D82A}">
                    <a16:rowId xmlns:a16="http://schemas.microsoft.com/office/drawing/2014/main" val="1520632173"/>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Kaggle Notebooks (free Tesla T4 GPU)</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One-time fine-tuning and ONNX export of the claim verifier</a:t>
                      </a:r>
                    </a:p>
                  </a:txBody>
                  <a:tcPr marL="45720" marR="45720" marT="18288" marB="18288"/>
                </a:tc>
                <a:extLst>
                  <a:ext uri="{0D108BD9-81ED-4DB2-BD59-A6C34878D82A}">
                    <a16:rowId xmlns:a16="http://schemas.microsoft.com/office/drawing/2014/main" val="773512662"/>
                  </a:ext>
                </a:extLst>
              </a:tr>
              <a:tr h="210000">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Git and GitHub</a:t>
                      </a:r>
                    </a:p>
                  </a:txBody>
                  <a:tcPr marL="45720" marR="45720" marT="18288" marB="18288"/>
                </a:tc>
                <a:tc>
                  <a:txBody>
                    <a:bodyPr/>
                    <a:lstStyle/>
                    <a:p>
                      <a:pPr algn="l"/>
                      <a:r>
                        <a:rPr lang="en-IN" sz="900" b="0" i="0" dirty="0">
                          <a:solidFill>
                            <a:srgbClr val="000000"/>
                          </a:solidFill>
                          <a:latin typeface="Times New Roman" panose="02020603050405020304" pitchFamily="18" charset="0"/>
                          <a:cs typeface="Times New Roman" panose="02020603050405020304" pitchFamily="18" charset="0"/>
                        </a:rPr>
                        <a:t>Version control, issue tracking and artefact release</a:t>
                      </a:r>
                    </a:p>
                  </a:txBody>
                  <a:tcPr marL="45720" marR="45720" marT="18288" marB="18288"/>
                </a:tc>
                <a:extLst>
                  <a:ext uri="{0D108BD9-81ED-4DB2-BD59-A6C34878D82A}">
                    <a16:rowId xmlns:a16="http://schemas.microsoft.com/office/drawing/2014/main" val="4170599250"/>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Software &amp; Hardware Requirements</a:t>
            </a:r>
          </a:p>
        </p:txBody>
      </p:sp>
      <p:graphicFrame>
        <p:nvGraphicFramePr>
          <p:cNvPr id="2" name="Table 4">
            <a:extLst>
              <a:ext uri="{FF2B5EF4-FFF2-40B4-BE49-F238E27FC236}">
                <a16:creationId xmlns:a16="http://schemas.microsoft.com/office/drawing/2014/main" id="{719EA98D-6D75-48DE-816E-3703372A751C}"/>
              </a:ext>
            </a:extLst>
          </p:cNvPr>
          <p:cNvGraphicFramePr>
            <a:graphicFrameLocks noGrp="1"/>
          </p:cNvGraphicFramePr>
          <p:nvPr>
            <p:extLst>
              <p:ext uri="{D42A27DB-BD31-4B8C-83A1-F6EECF244321}">
                <p14:modId xmlns:p14="http://schemas.microsoft.com/office/powerpoint/2010/main" val="3355798084"/>
              </p:ext>
            </p:extLst>
          </p:nvPr>
        </p:nvGraphicFramePr>
        <p:xfrm>
          <a:off x="466164" y="830000"/>
          <a:ext cx="8220636" cy="3680000"/>
        </p:xfrm>
        <a:graphic>
          <a:graphicData uri="http://schemas.openxmlformats.org/drawingml/2006/table">
            <a:tbl>
              <a:tblPr firstRow="1" bandRow="1">
                <a:tableStyleId>{5C22544A-7EE6-4342-B048-85BDC9FD1C3A}</a:tableStyleId>
              </a:tblPr>
              <a:tblGrid>
                <a:gridCol w="4110318">
                  <a:extLst>
                    <a:ext uri="{9D8B030D-6E8A-4147-A177-3AD203B41FA5}">
                      <a16:colId xmlns:a16="http://schemas.microsoft.com/office/drawing/2014/main" val="2165162916"/>
                    </a:ext>
                  </a:extLst>
                </a:gridCol>
                <a:gridCol w="4110318">
                  <a:extLst>
                    <a:ext uri="{9D8B030D-6E8A-4147-A177-3AD203B41FA5}">
                      <a16:colId xmlns:a16="http://schemas.microsoft.com/office/drawing/2014/main" val="3782162276"/>
                    </a:ext>
                  </a:extLst>
                </a:gridCol>
              </a:tblGrid>
              <a:tr h="460000">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Name of the Hardware</a:t>
                      </a:r>
                    </a:p>
                  </a:txBody>
                  <a:tcPr marL="45720" marR="45720" marT="18288" marB="18288"/>
                </a:tc>
                <a:tc>
                  <a:txBody>
                    <a:bodyPr/>
                    <a:lstStyle/>
                    <a:p>
                      <a:pPr algn="ctr"/>
                      <a:r>
                        <a:rPr lang="en-IN" sz="1100" b="1" i="0" dirty="0">
                          <a:solidFill>
                            <a:srgbClr val="000000"/>
                          </a:solidFill>
                          <a:latin typeface="Times New Roman" panose="02020603050405020304" pitchFamily="18" charset="0"/>
                          <a:cs typeface="Times New Roman" panose="02020603050405020304" pitchFamily="18" charset="0"/>
                        </a:rPr>
                        <a:t>Purpose</a:t>
                      </a:r>
                    </a:p>
                  </a:txBody>
                  <a:tcPr marL="45720" marR="45720" marT="18288" marB="18288"/>
                </a:tc>
                <a:extLst>
                  <a:ext uri="{0D108BD9-81ED-4DB2-BD59-A6C34878D82A}">
                    <a16:rowId xmlns:a16="http://schemas.microsoft.com/office/drawing/2014/main" val="3206788789"/>
                  </a:ext>
                </a:extLst>
              </a:tr>
              <a:tr h="460000">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Processor — Intel Core i5 or equivalent, 4 cores at 2.0 GHz or higher</a:t>
                      </a:r>
                    </a:p>
                  </a:txBody>
                  <a:tcPr marL="45720" marR="45720" marT="18288" marB="18288"/>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Runs embedding, reranking and claim verification locally; all inference is CPU-only</a:t>
                      </a:r>
                    </a:p>
                  </a:txBody>
                  <a:tcPr marL="45720" marR="45720" marT="18288" marB="18288"/>
                </a:tc>
                <a:extLst>
                  <a:ext uri="{0D108BD9-81ED-4DB2-BD59-A6C34878D82A}">
                    <a16:rowId xmlns:a16="http://schemas.microsoft.com/office/drawing/2014/main" val="2031497746"/>
                  </a:ext>
                </a:extLst>
              </a:tr>
              <a:tr h="460000">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RAM — 8 GB minimum, 16 GB recommended</a:t>
                      </a:r>
                    </a:p>
                  </a:txBody>
                  <a:tcPr marL="45720" marR="45720" marT="18288" marB="18288"/>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Holds the loaded local models, the Chroma index and the LangGraph agent state</a:t>
                      </a:r>
                    </a:p>
                  </a:txBody>
                  <a:tcPr marL="45720" marR="45720" marT="18288" marB="18288"/>
                </a:tc>
                <a:extLst>
                  <a:ext uri="{0D108BD9-81ED-4DB2-BD59-A6C34878D82A}">
                    <a16:rowId xmlns:a16="http://schemas.microsoft.com/office/drawing/2014/main" val="853662978"/>
                  </a:ext>
                </a:extLst>
              </a:tr>
              <a:tr h="460000">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Storage — 20 GB free SSD space</a:t>
                      </a:r>
                    </a:p>
                  </a:txBody>
                  <a:tcPr marL="45720" marR="45720" marT="18288" marB="18288"/>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Downloaded PDFs, the persistent vector index, model checkpoints and trace logs</a:t>
                      </a:r>
                    </a:p>
                  </a:txBody>
                  <a:tcPr marL="45720" marR="45720" marT="18288" marB="18288"/>
                </a:tc>
                <a:extLst>
                  <a:ext uri="{0D108BD9-81ED-4DB2-BD59-A6C34878D82A}">
                    <a16:rowId xmlns:a16="http://schemas.microsoft.com/office/drawing/2014/main" val="1009655673"/>
                  </a:ext>
                </a:extLst>
              </a:tr>
              <a:tr h="460000">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GPU — not required on the development machine</a:t>
                      </a:r>
                    </a:p>
                  </a:txBody>
                  <a:tcPr marL="45720" marR="45720" marT="18288" marB="18288"/>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No local GPU is used; ONNX int8 quantisation keeps verifier latency acceptable on CPU</a:t>
                      </a:r>
                    </a:p>
                  </a:txBody>
                  <a:tcPr marL="45720" marR="45720" marT="18288" marB="18288"/>
                </a:tc>
                <a:extLst>
                  <a:ext uri="{0D108BD9-81ED-4DB2-BD59-A6C34878D82A}">
                    <a16:rowId xmlns:a16="http://schemas.microsoft.com/office/drawing/2014/main" val="4093124850"/>
                  </a:ext>
                </a:extLst>
              </a:tr>
              <a:tr h="460000">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Cloud GPU — free Kaggle Tesla T4 (16 GB), approximately 30 hours per week</a:t>
                      </a:r>
                    </a:p>
                  </a:txBody>
                  <a:tcPr marL="45720" marR="45720" marT="18288" marB="18288"/>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One-time fine-tuning and ONNX export of the claim-verification model only</a:t>
                      </a:r>
                    </a:p>
                  </a:txBody>
                  <a:tcPr marL="45720" marR="45720" marT="18288" marB="18288"/>
                </a:tc>
                <a:extLst>
                  <a:ext uri="{0D108BD9-81ED-4DB2-BD59-A6C34878D82A}">
                    <a16:rowId xmlns:a16="http://schemas.microsoft.com/office/drawing/2014/main" val="1198556920"/>
                  </a:ext>
                </a:extLst>
              </a:tr>
              <a:tr h="460000">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Network — stable broadband connection</a:t>
                      </a:r>
                    </a:p>
                  </a:txBody>
                  <a:tcPr marL="45720" marR="45720" marT="18288" marB="18288"/>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Semantic Scholar API queries, open-access PDF downloads and hosted-LLM calls</a:t>
                      </a:r>
                    </a:p>
                  </a:txBody>
                  <a:tcPr marL="45720" marR="45720" marT="18288" marB="18288"/>
                </a:tc>
                <a:extLst>
                  <a:ext uri="{0D108BD9-81ED-4DB2-BD59-A6C34878D82A}">
                    <a16:rowId xmlns:a16="http://schemas.microsoft.com/office/drawing/2014/main" val="1361626920"/>
                  </a:ext>
                </a:extLst>
              </a:tr>
              <a:tr h="460000">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Display — 1920 x 1080 or higher</a:t>
                      </a:r>
                    </a:p>
                  </a:txBody>
                  <a:tcPr marL="45720" marR="45720" marT="18288" marB="18288"/>
                </a:tc>
                <a:tc>
                  <a:txBody>
                    <a:bodyPr/>
                    <a:lstStyle/>
                    <a:p>
                      <a:pPr algn="l"/>
                      <a:r>
                        <a:rPr lang="en-IN" sz="1100" b="0" i="0" dirty="0">
                          <a:solidFill>
                            <a:srgbClr val="000000"/>
                          </a:solidFill>
                          <a:latin typeface="Times New Roman" panose="02020603050405020304" pitchFamily="18" charset="0"/>
                          <a:cs typeface="Times New Roman" panose="02020603050405020304" pitchFamily="18" charset="0"/>
                        </a:rPr>
                        <a:t>Vue dashboard showing the review and its evidence panel side by side</a:t>
                      </a:r>
                    </a:p>
                  </a:txBody>
                  <a:tcPr marL="45720" marR="45720" marT="18288" marB="18288"/>
                </a:tc>
                <a:extLst>
                  <a:ext uri="{0D108BD9-81ED-4DB2-BD59-A6C34878D82A}">
                    <a16:rowId xmlns:a16="http://schemas.microsoft.com/office/drawing/2014/main" val="117695782"/>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Architecture Diagram</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7279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Architecture Diagram</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Notation and structure. </a:t>
            </a:r>
            <a:r>
              <a:rPr lang="en-IN" sz="1200" b="0" i="0" dirty="0">
                <a:solidFill>
                  <a:srgbClr val="000000"/>
                </a:solidFill>
                <a:latin typeface="Times New Roman" panose="02020603050405020304" pitchFamily="18" charset="0"/>
                <a:cs typeface="Times New Roman" panose="02020603050405020304" pitchFamily="18" charset="0"/>
              </a:rPr>
              <a:t>The diagram is a UML 2.5 activity diagram divided into three vertical activity partitions, one per project objective: Presentation (Objective 3), Automated Multi-Agent Pipeline (Objective 1) and Grounding and Quality Control (Objective 2). Rounded rectangles are actions, plain rectangles are object nodes carrying data, diamonds are decision and merge nodes with bracketed guard conditions, and dashed «signal» edges carry the Server-Sent Events progress stream.</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Input. </a:t>
            </a:r>
            <a:r>
              <a:rPr lang="en-IN" sz="1200" b="0" i="0" dirty="0">
                <a:solidFill>
                  <a:srgbClr val="000000"/>
                </a:solidFill>
                <a:latin typeface="Times New Roman" panose="02020603050405020304" pitchFamily="18" charset="0"/>
                <a:cs typeface="Times New Roman" panose="02020603050405020304" pitchFamily="18" charset="0"/>
              </a:rPr>
              <a:t>The researcher submits a research question and constraints through the Vue 3 single-page application. A decision node checks whether the query is valid; an invalid query returns to the user, while a valid one produces the object node :ResearchQuery [validated], which is passed to the backend by a REST POST to /api/review.</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Processing — planning and retrieval. </a:t>
            </a:r>
            <a:r>
              <a:rPr lang="en-IN" sz="1200" b="0" i="0" dirty="0">
                <a:solidFill>
                  <a:srgbClr val="000000"/>
                </a:solidFill>
                <a:latin typeface="Times New Roman" panose="02020603050405020304" pitchFamily="18" charset="0"/>
                <a:cs typeface="Times New Roman" panose="02020603050405020304" pitchFamily="18" charset="0"/>
              </a:rPr>
              <a:t>The Planner decomposes the question into four to eight sub-questions and builds a search plan. The Retriever performs federated search over the Semantic Scholar Academic Graph, deduplicates results by DOI and screens them against the inclusion criteria.</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Processing — ingestion and ranking. </a:t>
            </a:r>
            <a:r>
              <a:rPr lang="en-IN" sz="1200" b="0" i="0" dirty="0">
                <a:solidFill>
                  <a:srgbClr val="000000"/>
                </a:solidFill>
                <a:latin typeface="Times New Roman" panose="02020603050405020304" pitchFamily="18" charset="0"/>
                <a:cs typeface="Times New Roman" panose="02020603050405020304" pitchFamily="18" charset="0"/>
              </a:rPr>
              <a:t>The Ingest action parses the retrieved PDFs, chunks them section-aware and embeds them on CPU into the Chroma vector store. The Rank action fuses BM25 and dense retrieval with reciprocal rank fusion and reranks the merged pool with a cross-encoder, keeping the top twelve chunks per sub-question.</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Processing — extraction. </a:t>
            </a:r>
            <a:r>
              <a:rPr lang="en-IN" sz="1200" b="0" i="0" dirty="0">
                <a:solidFill>
                  <a:srgbClr val="000000"/>
                </a:solidFill>
                <a:latin typeface="Times New Roman" panose="02020603050405020304" pitchFamily="18" charset="0"/>
                <a:cs typeface="Times New Roman" panose="02020603050405020304" pitchFamily="18" charset="0"/>
              </a:rPr>
              <a:t>The Extractor produces a four-field structured insight for each paper together with character-level evidence spans, so that every later claim can be traced to the exact text that justifies it.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Architecture Diagram</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Grounding — claim verification. </a:t>
            </a:r>
            <a:r>
              <a:rPr lang="en-IN" sz="1200" b="0" i="0" dirty="0">
                <a:solidFill>
                  <a:srgbClr val="000000"/>
                </a:solidFill>
                <a:latin typeface="Times New Roman" panose="02020603050405020304" pitchFamily="18" charset="0"/>
                <a:cs typeface="Times New Roman" panose="02020603050405020304" pitchFamily="18" charset="0"/>
              </a:rPr>
              <a:t>The Verifier decomposes each insight into atomic claims, and the Classify action scores every claim against its evidence span using the fine-tuned NLI cross-encoder exported to ONNX int8 for CPU inference. A decision node tests the support score against the threshold; claims that fall below it are discarded and logged to the trace file rather than silently dropped.</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Grounding — the bounded critic loop. </a:t>
            </a:r>
            <a:r>
              <a:rPr lang="en-IN" sz="1200" b="0" i="0" dirty="0">
                <a:solidFill>
                  <a:srgbClr val="000000"/>
                </a:solidFill>
                <a:latin typeface="Times New Roman" panose="02020603050405020304" pitchFamily="18" charset="0"/>
                <a:cs typeface="Times New Roman" panose="02020603050405020304" pitchFamily="18" charset="0"/>
              </a:rPr>
              <a:t>The Critic assesses coverage, grounding ratio, paper count and venue mix, then emits one of three guarded decisions: [RETRIEVE: coverage gap] returns control to the Retriever, [REPLAN: plan flawed] returns it to the Planner, and [WRITE: approved or max 3 iterations] proceeds to writing. The iteration cap guarantees termination, which is what makes the loop bounded rather than open-ended.</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Grounding — human in the loop. </a:t>
            </a:r>
            <a:r>
              <a:rPr lang="en-IN" sz="1200" b="0" i="0" dirty="0">
                <a:solidFill>
                  <a:srgbClr val="000000"/>
                </a:solidFill>
                <a:latin typeface="Times New Roman" panose="02020603050405020304" pitchFamily="18" charset="0"/>
                <a:cs typeface="Times New Roman" panose="02020603050405020304" pitchFamily="18" charset="0"/>
              </a:rPr>
              <a:t>Before writing, the analyst confirms or overrides the flagged and dropped claims in a review console, so a human decision is recorded on every claim the verifier rejected.</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Output. </a:t>
            </a:r>
            <a:r>
              <a:rPr lang="en-IN" sz="1200" b="0" i="0" dirty="0">
                <a:solidFill>
                  <a:srgbClr val="000000"/>
                </a:solidFill>
                <a:latin typeface="Times New Roman" panose="02020603050405020304" pitchFamily="18" charset="0"/>
                <a:cs typeface="Times New Roman" panose="02020603050405020304" pitchFamily="18" charset="0"/>
              </a:rPr>
              <a:t>The Writer performs thematic synthesis using only verified claims and inserts IEEE numeric citations, producing the object node :ReviewArtefacts [generated]. The review is displayed with clickable evidence spans and a dropped-claims panel, and review.md, insights.csv, refs.bib and trace.jsonl can be downloaded.</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Progress visibility. </a:t>
            </a:r>
            <a:r>
              <a:rPr lang="en-IN" sz="1200" b="0" i="0" dirty="0">
                <a:solidFill>
                  <a:srgbClr val="000000"/>
                </a:solidFill>
                <a:latin typeface="Times New Roman" panose="02020603050405020304" pitchFamily="18" charset="0"/>
                <a:cs typeface="Times New Roman" panose="02020603050405020304" pitchFamily="18" charset="0"/>
              </a:rPr>
              <a:t>Throughout execution, dashed «signal» edges emit Server-Sent Events from the pipeline and the quality-control partitions back to the Presentation partition, which is how Objective 3’s real-time visibility is realised in the control flow rather than added afterwards.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Module Connectivity Diagram</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7279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Module Connectivity Diagram</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Notation. </a:t>
            </a:r>
            <a:r>
              <a:rPr lang="en-IN" sz="1200" b="0" i="0" dirty="0">
                <a:solidFill>
                  <a:srgbClr val="000000"/>
                </a:solidFill>
                <a:latin typeface="Times New Roman" panose="02020603050405020304" pitchFamily="18" charset="0"/>
                <a:cs typeface="Times New Roman" panose="02020603050405020304" pitchFamily="18" charset="0"/>
              </a:rPr>
              <a:t>The diagram is a UML 2.5 component diagram drawn at module granularity. Every module is a «component», every data couple becomes a named provided or required interface written I&lt;Name&gt;, and every control couple becomes an interface stereotyped «signal». Solid arrows labelled with an interface are assembly connectors; dashed arrows are «use» dependencies; «boundary» marks the system’s input and output edges.</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Hierarchy. </a:t>
            </a:r>
            <a:r>
              <a:rPr lang="en-IN" sz="1200" b="0" i="0" dirty="0">
                <a:solidFill>
                  <a:srgbClr val="000000"/>
                </a:solidFill>
                <a:latin typeface="Times New Roman" panose="02020603050405020304" pitchFamily="18" charset="0"/>
                <a:cs typeface="Times New Roman" panose="02020603050405020304" pitchFamily="18" charset="0"/>
              </a:rPr>
              <a:t>The Researcher actor invokes 0.0 MainController through IResearchQuestion. MainController is the single root and delegates to four «subsystem» packages grouped by objective: Input (Objective 3), ReviewPipeline (Objective 1), GroundingAndQC (Objective 2) and Output (Objective 3). Every module has exactly one parent, so the call structure remains a clean tree.</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Input branch. </a:t>
            </a:r>
            <a:r>
              <a:rPr lang="en-IN" sz="1200" b="0" i="0" dirty="0">
                <a:solidFill>
                  <a:srgbClr val="000000"/>
                </a:solidFill>
                <a:latin typeface="Times New Roman" panose="02020603050405020304" pitchFamily="18" charset="0"/>
                <a:cs typeface="Times New Roman" panose="02020603050405020304" pitchFamily="18" charset="0"/>
              </a:rPr>
              <a:t>1.0 InputController is a «boundary» component that calls 1.1 GetQuery and 1.2 ValidateQuery. IRawQuery passes down to both children, ValidateQuery returns the «signal» IValidFlag, and IValidatedQuery is returned up to MainController — giving a clear, explicit input path.</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Processing branch 2.1 — the review pipeline. </a:t>
            </a:r>
            <a:r>
              <a:rPr lang="en-IN" sz="1200" b="0" i="0" dirty="0">
                <a:solidFill>
                  <a:srgbClr val="000000"/>
                </a:solidFill>
                <a:latin typeface="Times New Roman" panose="02020603050405020304" pitchFamily="18" charset="0"/>
                <a:cs typeface="Times New Roman" panose="02020603050405020304" pitchFamily="18" charset="0"/>
              </a:rPr>
              <a:t>2.1 PipelineController invokes 2.1.1 Planner, 2.1.2 Retriever, 2.1.3 Ingestor, 2.1.4 Ranker, 2.1.5 Extractor and 2.1.6 Writer in sequence. Each stage realises the interface the next one requires: IQuery to ISearchPlan to IPapers to IChunks to IRankedChunks to IPaperInsights.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Proposed Method: Module Connectivity Diagram</a:t>
            </a:r>
          </a:p>
        </p:txBody>
      </p:sp>
      <p:sp>
        <p:nvSpPr>
          <p:cNvPr id="2" name="Google Shape;55;p13">
            <a:extLst>
              <a:ext uri="{FF2B5EF4-FFF2-40B4-BE49-F238E27FC236}">
                <a16:creationId xmlns:a16="http://schemas.microsoft.com/office/drawing/2014/main" id="{80701272-4B26-EDC3-CDFE-3108EE6E8E21}"/>
              </a:ext>
            </a:extLst>
          </p:cNvPr>
          <p:cNvSpPr txBox="1">
            <a:spLocks/>
          </p:cNvSpPr>
          <p:nvPr/>
        </p:nvSpPr>
        <p:spPr>
          <a:xfrm>
            <a:off x="226380" y="781921"/>
            <a:ext cx="8691239" cy="39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Processing branch 2.2 — grounding and quality control. </a:t>
            </a:r>
            <a:r>
              <a:rPr lang="en-IN" sz="1200" b="0" i="0" dirty="0">
                <a:solidFill>
                  <a:srgbClr val="000000"/>
                </a:solidFill>
                <a:latin typeface="Times New Roman" panose="02020603050405020304" pitchFamily="18" charset="0"/>
                <a:cs typeface="Times New Roman" panose="02020603050405020304" pitchFamily="18" charset="0"/>
              </a:rPr>
              <a:t>2.2 QualityController drives 2.2.1 ClaimDecomposer, 2.2.2 SupportClassifier (the fine-tuned NLI model, ONNX int8, CPU), 2.2.3 ClaimFilter, 2.2.4 CoverageAssessor and the «boundary» component 2.2.5 HumanReviewConsole. IPaperInsights becomes IAtomicClaims, then ISupportScores, then IVerifiedClaims and IDroppedClaims.</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Control signals. </a:t>
            </a:r>
            <a:r>
              <a:rPr lang="en-IN" sz="1200" b="0" i="0" dirty="0">
                <a:solidFill>
                  <a:srgbClr val="000000"/>
                </a:solidFill>
                <a:latin typeface="Times New Roman" panose="02020603050405020304" pitchFamily="18" charset="0"/>
                <a:cs typeface="Times New Roman" panose="02020603050405020304" pitchFamily="18" charset="0"/>
              </a:rPr>
              <a:t>Three «signal» interfaces carry control rather than data: IHumanVerdict returns the analyst’s confirm-or-override decision, IDecision returns the Critic’s verdict to MainController, and IReplanOrRetrieve — annotated bounded, max 3 iterations — sends control back into the pipeline subsystem. This is what distinguishes the design from a straight-through pipeline.</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Output branch. </a:t>
            </a:r>
            <a:r>
              <a:rPr lang="en-IN" sz="1200" b="0" i="0" dirty="0">
                <a:solidFill>
                  <a:srgbClr val="000000"/>
                </a:solidFill>
                <a:latin typeface="Times New Roman" panose="02020603050405020304" pitchFamily="18" charset="0"/>
                <a:cs typeface="Times New Roman" panose="02020603050405020304" pitchFamily="18" charset="0"/>
              </a:rPr>
              <a:t>3.0 OutputController receives IReviewText and calls 3.1 ArtefactFormatter, which returns IArtefacts, and the «boundary» component 3.2 ReviewPresenter, which displays them and returns the «signal» IAck. The output path is therefore as explicit as the input path.</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End-to-end data flow. </a:t>
            </a:r>
            <a:r>
              <a:rPr lang="en-IN" sz="1200" b="0" i="0" dirty="0">
                <a:solidFill>
                  <a:srgbClr val="000000"/>
                </a:solidFill>
                <a:latin typeface="Times New Roman" panose="02020603050405020304" pitchFamily="18" charset="0"/>
                <a:cs typeface="Times New Roman" panose="02020603050405020304" pitchFamily="18" charset="0"/>
              </a:rPr>
              <a:t>IResearchQuestion → IValidatedQuery → ISearchPlan → IPapers → IChunks → IRankedChunks → IPaperInsights → IAtomicClaims → ISupportScores → IVerifiedClaims → IReviewText → IArtefacts. Every arrow in that chain is a named interface on the diagram, so input, processing and output are traceable without reading any code.</a:t>
            </a:r>
          </a:p>
          <a:p>
            <a:pPr marL="368300" indent="-368300" algn="just">
              <a:spcAft>
                <a:spcPts val="400"/>
              </a:spcAft>
              <a:buFont typeface="Arial" panose="020B0604020202020204" pitchFamily="34" charset="0"/>
              <a:buChar char="•"/>
            </a:pPr>
            <a:r>
              <a:rPr lang="en-IN" sz="1200" b="1" i="0" dirty="0">
                <a:solidFill>
                  <a:srgbClr val="000000"/>
                </a:solidFill>
                <a:latin typeface="Times New Roman" panose="02020603050405020304" pitchFamily="18" charset="0"/>
                <a:cs typeface="Times New Roman" panose="02020603050405020304" pitchFamily="18" charset="0"/>
              </a:rPr>
              <a:t>Alignment with the objectives. </a:t>
            </a:r>
            <a:r>
              <a:rPr lang="en-IN" sz="1200" b="0" i="0" dirty="0">
                <a:solidFill>
                  <a:srgbClr val="000000"/>
                </a:solidFill>
                <a:latin typeface="Times New Roman" panose="02020603050405020304" pitchFamily="18" charset="0"/>
                <a:cs typeface="Times New Roman" panose="02020603050405020304" pitchFamily="18" charset="0"/>
              </a:rPr>
              <a:t>The four subsystems map one-to-one onto the three objectives: ReviewPipeline realises Objective 1, GroundingAndQC realises Objective 2, and the Input and Output subsystems together realise Objective 3.</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01805E43-5B1A-0915-7980-441215310202}"/>
              </a:ext>
            </a:extLst>
          </p:cNvPr>
          <p:cNvSpPr txBox="1"/>
          <p:nvPr/>
        </p:nvSpPr>
        <p:spPr>
          <a:xfrm>
            <a:off x="231006" y="830000"/>
            <a:ext cx="8470232" cy="4196020"/>
          </a:xfrm>
          <a:prstGeom prst="rect">
            <a:avLst/>
          </a:prstGeom>
          <a:noFill/>
        </p:spPr>
        <p:txBody>
          <a:bodyPr wrap="square">
            <a:spAutoFit/>
          </a:bodyPr>
          <a:lstStyle/>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  T. Bao, M. T. Nayeem, D. Rafiei and C. Zhang, "SurveyGen: Quality-Aware Scientific Survey Generation with Large Language Models," in Proc. 2025 Conf. Empirical Methods in Natural Language Processing (EMNLP), 2025. https://doi.org/10.18653/v1/2025.emnlp-main.136</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[2]  T. Kasanishi, M. Isonuma, J. Mori and I. Sakata, "SciReviewGen: A Large-Scale Dataset for Automatic Literature Review Generation," in Findings of the Association for Computational Linguistics: ACL 2023, 2023, p. 6700. https://doi.org/10.18653/v1/2023.findings-acl.418</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[3]  M. Funkquist, I. Kuznetsov, Y. Hou and I. Gurevych, "CiteBench: A Benchmark for Scientific Citation Text Generation," in Proc. 2023 Conf. Empirical Methods in Natural Language Processing (EMNLP), 2023, p. 7344. https://doi.org/10.18653/v1/2023.emnlp-main.455</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[4]  F. J. Bolaños, A. A. Salatino, F. Osborne and E. Motta, "Artificial Intelligence for Literature Reviews: Opportunities and Challenges," Artificial Intelligence Review, vol. 57, 2024. https://doi.org/10.1007/s10462-024-10902-3</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[5]  B. Edelman and J. Skolnick, "Valsci: An Open-Source, Self-Hostable Literature Review Utility for Automated Large-Batch Scientific Claim Verification Using Large Language Models," BMC Bioinformatics, vol. 26, 2025. https://doi.org/10.1186/s12859-025-06159-4</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01805E43-5B1A-0915-7980-441215310202}"/>
              </a:ext>
            </a:extLst>
          </p:cNvPr>
          <p:cNvSpPr txBox="1"/>
          <p:nvPr/>
        </p:nvSpPr>
        <p:spPr>
          <a:xfrm>
            <a:off x="217152" y="435146"/>
            <a:ext cx="8470232" cy="4934684"/>
          </a:xfrm>
          <a:prstGeom prst="rect">
            <a:avLst/>
          </a:prstGeom>
          <a:noFill/>
        </p:spPr>
        <p:txBody>
          <a:bodyPr wrap="square">
            <a:spAutoFit/>
          </a:bodyPr>
          <a:lstStyle/>
          <a:p>
            <a:pPr marL="0" indent="0" algn="just">
              <a:spcAft>
                <a:spcPts val="800"/>
              </a:spcAft>
              <a:buNone/>
            </a:pPr>
            <a:r>
              <a:rPr lang="en-IN" sz="1200" b="0" i="0" dirty="0">
                <a:solidFill>
                  <a:srgbClr val="000000"/>
                </a:solidFill>
                <a:latin typeface="Times New Roman" panose="02020603050405020304" pitchFamily="18" charset="0"/>
                <a:cs typeface="Times New Roman" panose="02020603050405020304" pitchFamily="18" charset="0"/>
              </a:rPr>
              <a:t>[</a:t>
            </a:r>
            <a:r>
              <a:rPr lang="en-IN" sz="1600" b="0" i="0" dirty="0">
                <a:solidFill>
                  <a:srgbClr val="000000"/>
                </a:solidFill>
                <a:latin typeface="Times New Roman" panose="02020603050405020304" pitchFamily="18" charset="0"/>
                <a:cs typeface="Times New Roman" panose="02020603050405020304" pitchFamily="18" charset="0"/>
              </a:rPr>
              <a:t>6]  S. Es, J. James, L. Espinosa-Anke and S. Schockaert, "RAGAs: Automated Evaluation of Retrieval Augmented Generation," in Proc. 18th Conf. European Chapter of the Association for Computational Linguistics (EACL): System Demonstrations, 2024, p. 150. https://doi.org/10.18653/v1/2024.eacl-demo.16</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[7]  S. Min, K. Krishna, X. Lyu, M. Lewis, W. Yih, P. W. Koh, M. Iyyer, L. Zettlemoyer and H. Hajishirzi, "FActScore: Fine-Grained Atomic Evaluation of Factual Precision in Long Form Text Generation," in Proc. 2023 Conf. Empirical Methods in Natural Language Processing (EMNLP), 2023, p. 12084. https://doi.org/10.18653/v1/2023.emnlp-main.741</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[8]  T. Gao, H. Yen, J. Yu and D. Chen, "Enabling Large Language Models to Generate Text with Citations," in Proc. 2023 Conf. Empirical Methods in Natural Language Processing (EMNLP), 2023, p. 6465. https://doi.org/10.18653/v1/2023.emnlp-main.398</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[9]  L. Huang, W. Yu, W. Ma, W. Zhong, Z. Feng, H. Wang, Q. Chen, W. Peng, X. Feng, B. Qin et al., "A Survey on Hallucination in Large Language Models: Principles, Taxonomy, Challenges and Open Questions," ACM Transactions on Information Systems, 2024. https://doi.org/10.1145/3703155</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[10]  H. Liu, A. Soroush, J. G. Nestor, E. Park, B. Idnay, Y. Fang, J. Pan, S. Liao, M. Bernard, Y. Peng et al., "Retrieval Augmented Scientific Claim Verification," JAMIA Open, vol. 7, no. 1, 2024. https://doi.org/10.1093/jamiaopen/ooae021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01805E43-5B1A-0915-7980-441215310202}"/>
              </a:ext>
            </a:extLst>
          </p:cNvPr>
          <p:cNvSpPr txBox="1"/>
          <p:nvPr/>
        </p:nvSpPr>
        <p:spPr>
          <a:xfrm>
            <a:off x="189443" y="455037"/>
            <a:ext cx="8470232" cy="4688463"/>
          </a:xfrm>
          <a:prstGeom prst="rect">
            <a:avLst/>
          </a:prstGeom>
          <a:noFill/>
        </p:spPr>
        <p:txBody>
          <a:bodyPr wrap="square">
            <a:spAutoFit/>
          </a:bodyPr>
          <a:lstStyle/>
          <a:p>
            <a:pPr marL="0" indent="0" algn="just">
              <a:spcAft>
                <a:spcPts val="800"/>
              </a:spcAft>
              <a:buNone/>
            </a:pPr>
            <a:r>
              <a:rPr lang="en-IN" sz="1200" b="0" i="0" dirty="0">
                <a:solidFill>
                  <a:srgbClr val="000000"/>
                </a:solidFill>
                <a:latin typeface="Times New Roman" panose="02020603050405020304" pitchFamily="18" charset="0"/>
                <a:cs typeface="Times New Roman" panose="02020603050405020304" pitchFamily="18" charset="0"/>
              </a:rPr>
              <a:t>[</a:t>
            </a:r>
            <a:r>
              <a:rPr lang="en-IN" sz="1600" b="0" i="0" dirty="0">
                <a:solidFill>
                  <a:srgbClr val="000000"/>
                </a:solidFill>
                <a:latin typeface="Times New Roman" panose="02020603050405020304" pitchFamily="18" charset="0"/>
                <a:cs typeface="Times New Roman" panose="02020603050405020304" pitchFamily="18" charset="0"/>
              </a:rPr>
              <a:t>11]  J. Dagdelen, A. Dunn, S. Lee, N. Walker, A. S. Rosen, G. Ceder, K. A. Persson and A. Jain, "Structured Information Extraction from Scientific Text with Large Language Models," Nature Communications, vol. 15, 2024. https://doi.org/10.1038/s41467-024-45563-x</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[12]  M. J. Sarol, S. Ming, S. Radhakrishna, J. Schneider and H. Kilicoglu, "Assessing Citation Integrity in Biomedical Publications: Corpus Annotation and NLP Models," Bioinformatics, vol. 40, no. 7, 2024. https://doi.org/10.1093/bioinformatics/btae420</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[13]  X. Li, Y. Lee and J. Ouyang, "Cited Text Spans for Citation Text Generation," in Proc. 4th Workshop on Scholarly Document Processing (SDP) at ACL 2024, 2024, pp. 90–97. https://doi.org/10.18653/v1/2024.sdp-1.9</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[14]  S. Jeong, J. Baek, S. Cho, S. J. Hwang and J. C. Park, "Adaptive-RAG: Learning to Adapt Retrieval-Augmented Large Language Models through Question Complexity," in Proc. 2024 Conf. North American Chapter of the Association for Computational Linguistics (NAACL-HLT), 2024, pp. 7036–7050. https://doi.org/10.18653/v1/2024.naacl-long.389</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[15]  W. Yu, H. Zhang, X. Pan, P. Cao, K. Ma, J. Li, H. Wang and D. Yu, "Chain-of-Note: Enhancing Robustness in Retrieval-Augmented Language Models," in Proc. 2024 Conf. Empirical Methods in Natural Language Processing (EMNLP), 2024, p. 14679. https://doi.org/10.18653/v1/2024.emnlp-main.813</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01805E43-5B1A-0915-7980-441215310202}"/>
              </a:ext>
            </a:extLst>
          </p:cNvPr>
          <p:cNvSpPr txBox="1"/>
          <p:nvPr/>
        </p:nvSpPr>
        <p:spPr>
          <a:xfrm>
            <a:off x="161733" y="449000"/>
            <a:ext cx="8470232" cy="4442242"/>
          </a:xfrm>
          <a:prstGeom prst="rect">
            <a:avLst/>
          </a:prstGeom>
          <a:noFill/>
        </p:spPr>
        <p:txBody>
          <a:bodyPr wrap="square">
            <a:spAutoFit/>
          </a:bodyPr>
          <a:lstStyle/>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[16]  M. Jeong, J. Sohn, M. Sung and J. Kang, "Improving Medical Reasoning through Retrieval and Self-Reflection with Retrieval-Augmented Large Language Models," Bioinformatics, vol. 40, suppl. 1, 2024. https://doi.org/10.1093/bioinformatics/btae238</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[17]  A. Y. Aytar, K. Kaya and K. Kılıç, "A Synergistic Multi-Stage RAG Architecture for Boosting Context Relevance in Data Science Literature," Natural Language Processing Journal, 2025. https://doi.org/10.1016/j.nlp.2025.100179</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[18]  P. Ammann, J. Golde and A. Akbik, "Question Decomposition for Retrieval-Augmented Generation," in Proc. 63rd Annu. Meeting of the Association for Computational Linguistics: Student Research Workshop, 2025, p. 501. https://doi.org/10.18653/v1/2025.acl-srw.32</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[19]  C. Qian, W. Liu, H. Liu, N. Chen, Y. Dang, J. Li, C. Yang, W. Chen, Y. Su, X. Cong, J. Xu, D. Li, Z. Liu and M. Sun, "ChatDev: Communicative Agents for Software Development," in Proc. 62nd Annu. Meeting of the Association for Computational Linguistics (Long Papers), 2024. https://doi.org/10.18653/v1/2024.acl-long.810</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[20]  X. Li, S. Wang, S. Zeng, Y. Wu and Y. Yang, "A Survey on LLM-Based Multi-Agent Systems: Recent Advances and New Frontiers in Application," Vicinagearth, vol. 1, no. 9, 2024. https://doi.org/10.1007/s44336-024-00009-2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01805E43-5B1A-0915-7980-441215310202}"/>
              </a:ext>
            </a:extLst>
          </p:cNvPr>
          <p:cNvSpPr txBox="1"/>
          <p:nvPr/>
        </p:nvSpPr>
        <p:spPr>
          <a:xfrm>
            <a:off x="168660" y="455037"/>
            <a:ext cx="8470232" cy="4688463"/>
          </a:xfrm>
          <a:prstGeom prst="rect">
            <a:avLst/>
          </a:prstGeom>
          <a:noFill/>
        </p:spPr>
        <p:txBody>
          <a:bodyPr wrap="square">
            <a:spAutoFit/>
          </a:bodyPr>
          <a:lstStyle/>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[21]  T. Yang, P. Feng, Q. Guo, J. Zhang, X. Zhang, J. Ning, X. Wang and Z. Mao, "AutoHMA-LLM: Efficient Task Coordination and Execution in Heterogeneous Multi-Agent Systems Using Hybrid Large Language Models," IEEE Transactions on Cognitive Communications and Networking, 2025. https://doi.org/10.1109/TCCN.2025.3528892</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[22]  Y. Huang and J. X. Huang, "A Survey on Retrieval-Augmented Text Generation for Large Language Models," ACM Computing Surveys, 2026. https://doi.org/10.1145/3805774</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[23]  B. Peng, Y. Zhu, Y. Liu, X. Bo, H. Shi, C. Hong, Y. Zhang and S. Tang, "Graph Retrieval-Augmented Generation: A Survey," ACM Transactions on Information Systems, 2025. https://doi.org/10.1145/3777378</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[24]  Y. Lyu, Z. Li, S. Niu, F. Xiong, B. Tang, W. Wang, H. Wu, H. Liu, T. Xu and E. Chen, "CRUD-RAG: A Comprehensive Chinese Benchmark for Retrieval-Augmented Generation of Large Language Models," ACM Transactions on Information Systems, 2024. https://doi.org/10.1145/3701228</a:t>
            </a:r>
          </a:p>
          <a:p>
            <a:pPr marL="0" indent="0" algn="just">
              <a:spcAft>
                <a:spcPts val="800"/>
              </a:spcAft>
              <a:buNone/>
            </a:pPr>
            <a:r>
              <a:rPr lang="en-IN" sz="1600" b="0" i="0" dirty="0">
                <a:solidFill>
                  <a:srgbClr val="000000"/>
                </a:solidFill>
                <a:latin typeface="Times New Roman" panose="02020603050405020304" pitchFamily="18" charset="0"/>
                <a:cs typeface="Times New Roman" panose="02020603050405020304" pitchFamily="18" charset="0"/>
              </a:rPr>
              <a:t>[25]  S. Siriwardhana, R. Weerasekera, E. Wen, T. Kaluarachchi, R. Rana and S. Nanayakkara, "Improving the Domain Adaptation of Retrieval Augmented Generation (RAG) Models for Open Domain Question Answering," Transactions of the Association for Computational Linguistics, vol. 11, 2023. https://doi.org/10.1162/tacl_a_00530</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6905</TotalTime>
  <Words>17601</Words>
  <Application>Microsoft Office PowerPoint</Application>
  <PresentationFormat>On-screen Show (16:9)</PresentationFormat>
  <Paragraphs>686</Paragraphs>
  <Slides>63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Gokaraju Rangaraju Institute of Engineering and Technology (Autonomous) Department of Artificial Intelligence and Machine Learning Engineering</dc:title>
  <dc:creator>OM</dc:creator>
  <cp:lastModifiedBy>Palla Sree Karan Reddy</cp:lastModifiedBy>
  <cp:revision>133</cp:revision>
  <dcterms:modified xsi:type="dcterms:W3CDTF">2026-08-09T12:20:58Z</dcterms:modified>
</cp:coreProperties>
</file>