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4"/>
  </p:notesMasterIdLst>
  <p:sldIdLst>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 id="322" r:id="rId64"/>
    <p:sldId id="323" r:id="rId65"/>
    <p:sldId id="324" r:id="rId66"/>
    <p:sldId id="325" r:id="rId67"/>
    <p:sldId id="326" r:id="rId6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94660"/>
  </p:normalViewPr>
  <p:slideViewPr>
    <p:cSldViewPr snapToGrid="0">
      <p:cViewPr varScale="1">
        <p:scale>
          <a:sx n="71" d="100"/>
          <a:sy n="71" d="100"/>
        </p:scale>
        <p:origin x="1016" y="48"/>
      </p:cViewPr>
      <p:guideLst>
        <p:guide orient="horz" pos="1620"/>
        <p:guide pos="2880"/>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015625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3200" b="1">
                <a:latin typeface="Times New Roman" panose="02020603050405020304" pitchFamily="18" charset="0"/>
                <a:cs typeface="Times New Roman" panose="02020603050405020304" pitchFamily="18"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sz="2400">
                <a:latin typeface="Times New Roman" panose="02020603050405020304" pitchFamily="18" charset="0"/>
                <a:cs typeface="Times New Roman" panose="02020603050405020304" pitchFamily="18" charset="0"/>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userDrawn="1">
  <p:cSld name="SECTION_HEADER">
    <p:spTree>
      <p:nvGrpSpPr>
        <p:cNvPr id="1" name="Shape 13"/>
        <p:cNvGrpSpPr/>
        <p:nvPr/>
      </p:nvGrpSpPr>
      <p:grpSpPr>
        <a:xfrm>
          <a:off x="0" y="0"/>
          <a:ext cx="0" cy="0"/>
          <a:chOff x="0" y="0"/>
          <a:chExt cx="0" cy="0"/>
        </a:xfrm>
      </p:grpSpPr>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4" name="Google Shape;17;p4">
            <a:extLst>
              <a:ext uri="{FF2B5EF4-FFF2-40B4-BE49-F238E27FC236}">
                <a16:creationId xmlns:a16="http://schemas.microsoft.com/office/drawing/2014/main" id="{5BB4826D-B415-48FE-A973-A44EDAD80746}"/>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3200" b="1">
                <a:latin typeface="Times New Roman" panose="02020603050405020304" pitchFamily="18" charset="0"/>
                <a:cs typeface="Times New Roman" panose="02020603050405020304" pitchFamily="18"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5" name="Google Shape;18;p4">
            <a:extLst>
              <a:ext uri="{FF2B5EF4-FFF2-40B4-BE49-F238E27FC236}">
                <a16:creationId xmlns:a16="http://schemas.microsoft.com/office/drawing/2014/main" id="{48C3AF3A-D4D2-4FBC-B2BF-AD61BA6907AD}"/>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sz="2400">
                <a:latin typeface="Times New Roman" panose="02020603050405020304" pitchFamily="18" charset="0"/>
                <a:cs typeface="Times New Roman" panose="02020603050405020304" pitchFamily="18" charset="0"/>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82633384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dirty="0"/>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49" r:id="rId2"/>
    <p:sldLayoutId id="214748366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0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Class Diagram</a:t>
            </a:r>
          </a:p>
        </p:txBody>
      </p:sp>
      <p:sp>
        <p:nvSpPr>
          <p:cNvPr id="4" name="Rectangle 3"/>
          <p:cNvSpPr/>
          <p:nvPr/>
        </p:nvSpPr>
        <p:spPr>
          <a:xfrm>
            <a:off x="502919" y="868680"/>
            <a:ext cx="8138160" cy="3572093"/>
          </a:xfrm>
          <a:prstGeom prst="rect">
            <a:avLst/>
          </a:prstGeom>
          <a:solidFill>
            <a:srgbClr val="F4F4F4"/>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888888"/>
                </a:solidFill>
                <a:latin typeface="Times New Roman"/>
              </a:rPr>
              <a:t>paste the diagram here</a:t>
            </a:r>
          </a:p>
        </p:txBody>
      </p:sp>
      <p:sp>
        <p:nvSpPr>
          <p:cNvPr id="5" name="TextBox 4"/>
          <p:cNvSpPr txBox="1"/>
          <p:nvPr/>
        </p:nvSpPr>
        <p:spPr>
          <a:xfrm>
            <a:off x="502920" y="4513925"/>
            <a:ext cx="8138160" cy="274320"/>
          </a:xfrm>
          <a:prstGeom prst="rect">
            <a:avLst/>
          </a:prstGeom>
          <a:noFill/>
        </p:spPr>
        <p:txBody>
          <a:bodyPr wrap="square" lIns="0" rIns="0" tIns="0" bIns="0">
            <a:spAutoFit/>
          </a:bodyPr>
          <a:lstStyle/>
          <a:p>
            <a:pPr algn="ctr"/>
            <a:r>
              <a:rPr sz="1100" b="1">
                <a:solidFill>
                  <a:srgbClr val="000000"/>
                </a:solidFill>
                <a:latin typeface="Times New Roman"/>
              </a:rPr>
              <a:t>Figure 1. Class diagram — agent hierarchy, shared state and the evidence chain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Class Diagram</a:t>
            </a:r>
          </a:p>
        </p:txBody>
      </p:sp>
      <p:sp>
        <p:nvSpPr>
          <p:cNvPr id="4" name="TextBox 3"/>
          <p:cNvSpPr txBox="1"/>
          <p:nvPr/>
        </p:nvSpPr>
        <p:spPr>
          <a:xfrm>
            <a:off x="228600" y="841248"/>
            <a:ext cx="8686800" cy="4069080"/>
          </a:xfrm>
          <a:prstGeom prst="rect">
            <a:avLst/>
          </a:prstGeom>
          <a:noFill/>
        </p:spPr>
        <p:txBody>
          <a:bodyPr wrap="square" lIns="0" rIns="0" tIns="0" bIns="0">
            <a:spAutoFit/>
          </a:bodyPr>
          <a:lstStyle/>
          <a:p>
            <a:pPr algn="just">
              <a:lnSpc>
                <a:spcPct val="100000"/>
              </a:lnSpc>
              <a:spcAft>
                <a:spcPts val="600"/>
              </a:spcAft>
            </a:pPr>
            <a:r>
              <a:rPr sz="1200" b="1">
                <a:solidFill>
                  <a:srgbClr val="000000"/>
                </a:solidFill>
                <a:latin typeface="Times New Roman"/>
              </a:rPr>
              <a:t>Notation. </a:t>
            </a:r>
            <a:r>
              <a:rPr sz="1200" b="0">
                <a:solidFill>
                  <a:srgbClr val="000000"/>
                </a:solidFill>
                <a:latin typeface="Times New Roman"/>
              </a:rPr>
              <a:t>UML 2.5 class diagram. Each class carries three compartments — name, attributes, operations — with visibility markers +, − and #. A hollow triangle is generalisation, a filled diamond composition, a hollow diamond aggregation, and a dashed open arrow a dependency, stereotyped «use» where the client merely calls the supplier. Multiplicities are shown on every association end.</a:t>
            </a:r>
          </a:p>
          <a:p>
            <a:pPr algn="just">
              <a:lnSpc>
                <a:spcPct val="100000"/>
              </a:lnSpc>
              <a:spcAft>
                <a:spcPts val="600"/>
              </a:spcAft>
            </a:pPr>
            <a:r>
              <a:rPr sz="1200" b="1">
                <a:solidFill>
                  <a:srgbClr val="000000"/>
                </a:solidFill>
                <a:latin typeface="Times New Roman"/>
              </a:rPr>
              <a:t>Inheritance hierarchy. </a:t>
            </a:r>
            <a:r>
              <a:rPr sz="1200" b="0">
                <a:solidFill>
                  <a:srgbClr val="000000"/>
                </a:solidFill>
                <a:latin typeface="Times New Roman"/>
              </a:rPr>
              <a:t>Agent is abstract: it declares the template operation __call__() and the abstract run() that each of the seven pipeline agents implements. Centralising the base class is what allows the trace record, the partial-state contract and the fail-soft policy to be enforced once instead of seven times.</a:t>
            </a:r>
          </a:p>
          <a:p>
            <a:pPr algn="just">
              <a:lnSpc>
                <a:spcPct val="100000"/>
              </a:lnSpc>
              <a:spcAft>
                <a:spcPts val="600"/>
              </a:spcAft>
            </a:pPr>
            <a:r>
              <a:rPr sz="1200" b="1">
                <a:solidFill>
                  <a:srgbClr val="000000"/>
                </a:solidFill>
                <a:latin typeface="Times New Roman"/>
              </a:rPr>
              <a:t>Coordination. </a:t>
            </a:r>
            <a:r>
              <a:rPr sz="1200" b="0">
                <a:solidFill>
                  <a:srgbClr val="000000"/>
                </a:solidFill>
                <a:latin typeface="Times New Roman"/>
              </a:rPr>
              <a:t>The Planner is the hub of the pipeline, not merely its first step. It derives the search queries from the research question, hands them to the Retriever, and every downstream agent reports its result back to the Planner, which holds the run state and decides what executes next.</a:t>
            </a:r>
          </a:p>
          <a:p>
            <a:pPr algn="just">
              <a:lnSpc>
                <a:spcPct val="100000"/>
              </a:lnSpc>
              <a:spcAft>
                <a:spcPts val="600"/>
              </a:spcAft>
            </a:pPr>
            <a:r>
              <a:rPr sz="1200" b="1">
                <a:solidFill>
                  <a:srgbClr val="000000"/>
                </a:solidFill>
                <a:latin typeface="Times New Roman"/>
              </a:rPr>
              <a:t>Shared state. </a:t>
            </a:r>
            <a:r>
              <a:rPr sz="1200" b="0">
                <a:solidFill>
                  <a:srgbClr val="000000"/>
                </a:solidFill>
                <a:latin typeface="Times New Roman"/>
              </a:rPr>
              <a:t>ReviewState is the record the Planner holds and each agent contributes to. It composes Paper, Chunk, PaperInsight, Claim, SubQuestion and SearchTask by value; agents depend on it («read/write») but never own it, which is why an agent returns a partial update rather than the whole state.</a:t>
            </a:r>
          </a:p>
          <a:p>
            <a:pPr algn="just">
              <a:lnSpc>
                <a:spcPct val="100000"/>
              </a:lnSpc>
              <a:spcAft>
                <a:spcPts val="600"/>
              </a:spcAft>
            </a:pPr>
            <a:r>
              <a:rPr sz="1200" b="1">
                <a:solidFill>
                  <a:srgbClr val="000000"/>
                </a:solidFill>
                <a:latin typeface="Times New Roman"/>
              </a:rPr>
              <a:t>Evidence chain. </a:t>
            </a:r>
            <a:r>
              <a:rPr sz="1200" b="0">
                <a:solidFill>
                  <a:srgbClr val="000000"/>
                </a:solidFill>
                <a:latin typeface="Times New Roman"/>
              </a:rPr>
              <a:t>EvidenceSpan is aggregated by both PaperInsight and Claim. That is the structural guarantee behind the evidence panel: a claim reaches its source text by object reference and character offset, never by searching for the string again.</a:t>
            </a:r>
          </a:p>
          <a:p>
            <a:pPr algn="just">
              <a:lnSpc>
                <a:spcPct val="100000"/>
              </a:lnSpc>
              <a:spcAft>
                <a:spcPts val="600"/>
              </a:spcAft>
            </a:pPr>
            <a:r>
              <a:rPr sz="1200" b="1">
                <a:solidFill>
                  <a:srgbClr val="000000"/>
                </a:solidFill>
                <a:latin typeface="Times New Roman"/>
              </a:rPr>
              <a:t>Services. </a:t>
            </a:r>
            <a:r>
              <a:rPr sz="1200" b="0">
                <a:solidFill>
                  <a:srgbClr val="000000"/>
                </a:solidFill>
                <a:latin typeface="Times New Roman"/>
              </a:rPr>
              <a:t>HybridRetriever composes Embedder, VectorStore and BM25Index; Ranker and Verifier hold their trained models by association; LLMClient is depended on by exactly two agents — the Planner, which turns the question into queries, and the Critic, which scores the finished review.</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Sequence Diagram</a:t>
            </a:r>
          </a:p>
        </p:txBody>
      </p:sp>
      <p:sp>
        <p:nvSpPr>
          <p:cNvPr id="4" name="Rectangle 3"/>
          <p:cNvSpPr/>
          <p:nvPr/>
        </p:nvSpPr>
        <p:spPr>
          <a:xfrm>
            <a:off x="1710127" y="868680"/>
            <a:ext cx="5723744" cy="3611880"/>
          </a:xfrm>
          <a:prstGeom prst="rect">
            <a:avLst/>
          </a:prstGeom>
          <a:solidFill>
            <a:srgbClr val="F4F4F4"/>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888888"/>
                </a:solidFill>
                <a:latin typeface="Times New Roman"/>
              </a:rPr>
              <a:t>paste the diagram here</a:t>
            </a:r>
          </a:p>
        </p:txBody>
      </p:sp>
      <p:sp>
        <p:nvSpPr>
          <p:cNvPr id="5" name="TextBox 4"/>
          <p:cNvSpPr txBox="1"/>
          <p:nvPr/>
        </p:nvSpPr>
        <p:spPr>
          <a:xfrm>
            <a:off x="502920" y="4553712"/>
            <a:ext cx="8138160" cy="274320"/>
          </a:xfrm>
          <a:prstGeom prst="rect">
            <a:avLst/>
          </a:prstGeom>
          <a:noFill/>
        </p:spPr>
        <p:txBody>
          <a:bodyPr wrap="square" lIns="0" rIns="0" tIns="0" bIns="0">
            <a:spAutoFit/>
          </a:bodyPr>
          <a:lstStyle/>
          <a:p>
            <a:pPr algn="ctr"/>
            <a:r>
              <a:rPr sz="1100" b="1">
                <a:solidFill>
                  <a:srgbClr val="000000"/>
                </a:solidFill>
                <a:latin typeface="Times New Roman"/>
              </a:rPr>
              <a:t>Figure 2. Sequence diagram — one complete run, from submission to human override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Sequence Diagram</a:t>
            </a:r>
          </a:p>
        </p:txBody>
      </p:sp>
      <p:sp>
        <p:nvSpPr>
          <p:cNvPr id="4" name="TextBox 3"/>
          <p:cNvSpPr txBox="1"/>
          <p:nvPr/>
        </p:nvSpPr>
        <p:spPr>
          <a:xfrm>
            <a:off x="228600" y="841248"/>
            <a:ext cx="8686800" cy="4069080"/>
          </a:xfrm>
          <a:prstGeom prst="rect">
            <a:avLst/>
          </a:prstGeom>
          <a:noFill/>
        </p:spPr>
        <p:txBody>
          <a:bodyPr wrap="square" lIns="0" rIns="0" tIns="0" bIns="0">
            <a:spAutoFit/>
          </a:bodyPr>
          <a:lstStyle/>
          <a:p>
            <a:pPr algn="just">
              <a:lnSpc>
                <a:spcPct val="100000"/>
              </a:lnSpc>
              <a:spcAft>
                <a:spcPts val="600"/>
              </a:spcAft>
            </a:pPr>
            <a:r>
              <a:rPr sz="1200" b="1">
                <a:solidFill>
                  <a:srgbClr val="000000"/>
                </a:solidFill>
                <a:latin typeface="Times New Roman"/>
              </a:rPr>
              <a:t>Notation. </a:t>
            </a:r>
            <a:r>
              <a:rPr sz="1200" b="0">
                <a:solidFill>
                  <a:srgbClr val="000000"/>
                </a:solidFill>
                <a:latin typeface="Times New Roman"/>
              </a:rPr>
              <a:t>UML 2.5 sequence diagram. A solid filled arrowhead is a synchronous call and a dashed open arrow is its reply; the narrow rectangles on each lifeline are execution specifications; the labelled rectangles are combined fragments, with the interaction operator in the pentagon tab and the guard beside it.</a:t>
            </a:r>
          </a:p>
          <a:p>
            <a:pPr algn="just">
              <a:lnSpc>
                <a:spcPct val="100000"/>
              </a:lnSpc>
              <a:spcAft>
                <a:spcPts val="600"/>
              </a:spcAft>
            </a:pPr>
            <a:r>
              <a:rPr sz="1200" b="1">
                <a:solidFill>
                  <a:srgbClr val="000000"/>
                </a:solidFill>
                <a:latin typeface="Times New Roman"/>
              </a:rPr>
              <a:t>Scenario. </a:t>
            </a:r>
            <a:r>
              <a:rPr sz="1200" b="0">
                <a:solidFill>
                  <a:srgbClr val="000000"/>
                </a:solidFill>
                <a:latin typeface="Times New Roman"/>
              </a:rPr>
              <a:t>One complete literature-review run for a single research question — the same run the demonstration replays — carried from submission through synthesis and verification to a human override of a dropped claim.</a:t>
            </a:r>
          </a:p>
          <a:p>
            <a:pPr algn="just">
              <a:lnSpc>
                <a:spcPct val="100000"/>
              </a:lnSpc>
              <a:spcAft>
                <a:spcPts val="600"/>
              </a:spcAft>
            </a:pPr>
            <a:r>
              <a:rPr sz="1200" b="1">
                <a:solidFill>
                  <a:srgbClr val="000000"/>
                </a:solidFill>
                <a:latin typeface="Times New Roman"/>
              </a:rPr>
              <a:t>Planning and retrieval. </a:t>
            </a:r>
            <a:r>
              <a:rPr sz="1200" b="0">
                <a:solidFill>
                  <a:srgbClr val="000000"/>
                </a:solidFill>
                <a:latin typeface="Times New Roman"/>
              </a:rPr>
              <a:t>The Planner derives two queries from the research question and passes them to the Retriever, which searches OpenAlex, arXiv and Semantic Scholar and returns one merged, deduplicated set. Every reply arrow returns to the Planner — that is what makes it the coordinator of the interaction rather than only its opening message.</a:t>
            </a:r>
          </a:p>
          <a:p>
            <a:pPr algn="just">
              <a:lnSpc>
                <a:spcPct val="100000"/>
              </a:lnSpc>
              <a:spcAft>
                <a:spcPts val="600"/>
              </a:spcAft>
            </a:pPr>
            <a:r>
              <a:rPr sz="1200" b="1">
                <a:solidFill>
                  <a:srgbClr val="000000"/>
                </a:solidFill>
                <a:latin typeface="Times New Roman"/>
              </a:rPr>
              <a:t>Ranking and extraction. </a:t>
            </a:r>
            <a:r>
              <a:rPr sz="1200" b="0">
                <a:solidFill>
                  <a:srgbClr val="000000"/>
                </a:solidFill>
                <a:latin typeface="Times New Roman"/>
              </a:rPr>
              <a:t>The Ranker orders the whole pool on the abstract and the keywords the source APIs return, then forwards a one-in-ten selection. The Extractor reads each forwarded paper in full from the local cache and returns a summary of it, so what travels onward is summaries rather than papers.</a:t>
            </a:r>
          </a:p>
          <a:p>
            <a:pPr algn="just">
              <a:lnSpc>
                <a:spcPct val="100000"/>
              </a:lnSpc>
              <a:spcAft>
                <a:spcPts val="600"/>
              </a:spcAft>
            </a:pPr>
            <a:r>
              <a:rPr sz="1200" b="1">
                <a:solidFill>
                  <a:srgbClr val="000000"/>
                </a:solidFill>
                <a:latin typeface="Times New Roman"/>
              </a:rPr>
              <a:t>Synthesis, verification and scoring. </a:t>
            </a:r>
            <a:r>
              <a:rPr sz="1200" b="0">
                <a:solidFill>
                  <a:srgbClr val="000000"/>
                </a:solidFill>
                <a:latin typeface="Times New Roman"/>
              </a:rPr>
              <a:t>The Writer composes the review under four fixed headings — architecture, metrics, datasets, and advantages and disadvantages. The Verifier then re-checks every generated statement against the cached source text and attaches the citation it was grounded in. The Critic runs last, reading the original prompt and the finished review and scoring both the content and the reasoning behind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Use Case Diagram</a:t>
            </a:r>
          </a:p>
        </p:txBody>
      </p:sp>
      <p:sp>
        <p:nvSpPr>
          <p:cNvPr id="4" name="Rectangle 3"/>
          <p:cNvSpPr/>
          <p:nvPr/>
        </p:nvSpPr>
        <p:spPr>
          <a:xfrm>
            <a:off x="1541693" y="868680"/>
            <a:ext cx="6060612" cy="3611880"/>
          </a:xfrm>
          <a:prstGeom prst="rect">
            <a:avLst/>
          </a:prstGeom>
          <a:solidFill>
            <a:srgbClr val="F4F4F4"/>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888888"/>
                </a:solidFill>
                <a:latin typeface="Times New Roman"/>
              </a:rPr>
              <a:t>paste the diagram here</a:t>
            </a:r>
          </a:p>
        </p:txBody>
      </p:sp>
      <p:sp>
        <p:nvSpPr>
          <p:cNvPr id="5" name="TextBox 4"/>
          <p:cNvSpPr txBox="1"/>
          <p:nvPr/>
        </p:nvSpPr>
        <p:spPr>
          <a:xfrm>
            <a:off x="502920" y="4553712"/>
            <a:ext cx="8138160" cy="274320"/>
          </a:xfrm>
          <a:prstGeom prst="rect">
            <a:avLst/>
          </a:prstGeom>
          <a:noFill/>
        </p:spPr>
        <p:txBody>
          <a:bodyPr wrap="square" lIns="0" rIns="0" tIns="0" bIns="0">
            <a:spAutoFit/>
          </a:bodyPr>
          <a:lstStyle/>
          <a:p>
            <a:pPr algn="ctr"/>
            <a:r>
              <a:rPr sz="1100" b="1">
                <a:solidFill>
                  <a:srgbClr val="000000"/>
                </a:solidFill>
                <a:latin typeface="Times New Roman"/>
              </a:rPr>
              <a:t>Figure 3. Use case diagram — actors, system boundary, and «include» / «extend» relationships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Use Case Diagram</a:t>
            </a:r>
          </a:p>
        </p:txBody>
      </p:sp>
      <p:sp>
        <p:nvSpPr>
          <p:cNvPr id="4" name="TextBox 3"/>
          <p:cNvSpPr txBox="1"/>
          <p:nvPr/>
        </p:nvSpPr>
        <p:spPr>
          <a:xfrm>
            <a:off x="228600" y="841248"/>
            <a:ext cx="8686800" cy="4069080"/>
          </a:xfrm>
          <a:prstGeom prst="rect">
            <a:avLst/>
          </a:prstGeom>
          <a:noFill/>
        </p:spPr>
        <p:txBody>
          <a:bodyPr wrap="square" lIns="0" rIns="0" tIns="0" bIns="0">
            <a:spAutoFit/>
          </a:bodyPr>
          <a:lstStyle/>
          <a:p>
            <a:pPr algn="just">
              <a:lnSpc>
                <a:spcPct val="100000"/>
              </a:lnSpc>
              <a:spcAft>
                <a:spcPts val="700"/>
              </a:spcAft>
            </a:pPr>
            <a:r>
              <a:rPr sz="1200" b="1">
                <a:solidFill>
                  <a:srgbClr val="000000"/>
                </a:solidFill>
                <a:latin typeface="Times New Roman"/>
              </a:rPr>
              <a:t>Notation. </a:t>
            </a:r>
            <a:r>
              <a:rPr sz="1200" b="0">
                <a:solidFill>
                  <a:srgbClr val="000000"/>
                </a:solidFill>
                <a:latin typeface="Times New Roman"/>
              </a:rPr>
              <a:t>UML 2.5 use case diagram. The rectangle is the system boundary, ellipses are use cases and stick figures are actors. Plain lines are associations; dashed stereotyped arrows are «include», drawn from the base use case towards the one it always invokes, and «extend», drawn from the extending use case towards the one it conditionally augments.</a:t>
            </a:r>
          </a:p>
          <a:p>
            <a:pPr algn="just">
              <a:lnSpc>
                <a:spcPct val="100000"/>
              </a:lnSpc>
              <a:spcAft>
                <a:spcPts val="700"/>
              </a:spcAft>
            </a:pPr>
            <a:r>
              <a:rPr sz="1200" b="1">
                <a:solidFill>
                  <a:srgbClr val="000000"/>
                </a:solidFill>
                <a:latin typeface="Times New Roman"/>
              </a:rPr>
              <a:t>Actors. </a:t>
            </a:r>
            <a:r>
              <a:rPr sz="1200" b="0">
                <a:solidFill>
                  <a:srgbClr val="000000"/>
                </a:solidFill>
                <a:latin typeface="Times New Roman"/>
              </a:rPr>
              <a:t>Researcher and Reviewing Analyst are the two human roles. OpenAlex, arXiv and Semantic Scholar are the three literature sources, and the open-weight language endpoint serves the two prompted agents. All four are secondary actors and sit outside the boundary, because the system depends on them but does not own or control them.</a:t>
            </a:r>
          </a:p>
          <a:p>
            <a:pPr algn="just">
              <a:lnSpc>
                <a:spcPct val="100000"/>
              </a:lnSpc>
              <a:spcAft>
                <a:spcPts val="700"/>
              </a:spcAft>
            </a:pPr>
            <a:r>
              <a:rPr sz="1200" b="1">
                <a:solidFill>
                  <a:srgbClr val="000000"/>
                </a:solidFill>
                <a:latin typeface="Times New Roman"/>
              </a:rPr>
              <a:t>Decomposition. </a:t>
            </a:r>
            <a:r>
              <a:rPr sz="1200" b="0">
                <a:solidFill>
                  <a:srgbClr val="000000"/>
                </a:solidFill>
                <a:latin typeface="Times New Roman"/>
              </a:rPr>
              <a:t>Generate Literature Review «include»s the pipeline use cases, so each executes on every run without exception: plan the queries, retrieve, rank and select, extract, write, verify, and finally score. Override Dropped Claim is the one conditional path, and it is drawn as an «extend» for exactly that reason.</a:t>
            </a:r>
          </a:p>
          <a:p>
            <a:pPr algn="just">
              <a:lnSpc>
                <a:spcPct val="100000"/>
              </a:lnSpc>
              <a:spcAft>
                <a:spcPts val="700"/>
              </a:spcAft>
            </a:pPr>
            <a:r>
              <a:rPr sz="1200" b="1">
                <a:solidFill>
                  <a:srgbClr val="000000"/>
                </a:solidFill>
                <a:latin typeface="Times New Roman"/>
              </a:rPr>
              <a:t>The graded use case. </a:t>
            </a:r>
            <a:r>
              <a:rPr sz="1200" b="0">
                <a:solidFill>
                  <a:srgbClr val="000000"/>
                </a:solidFill>
                <a:latin typeface="Times New Roman"/>
              </a:rPr>
              <a:t>Verify Claims Against Evidence (★) is the use case for which the surveyed literature offers no precedent. Score Generated Review is the Critic’s use case and the last to execute — it judges the finished review on content quality and on whether the reasoning holds. Override Dropped Claim «include»s Record Verdict in Audit Trace, which is how the human-in-the-loop clause of Objective 2 is discharged in the model rather than merely in the prose.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Activity Diagram</a:t>
            </a:r>
          </a:p>
        </p:txBody>
      </p:sp>
      <p:sp>
        <p:nvSpPr>
          <p:cNvPr id="4" name="Rectangle 3"/>
          <p:cNvSpPr/>
          <p:nvPr/>
        </p:nvSpPr>
        <p:spPr>
          <a:xfrm>
            <a:off x="3300618" y="868680"/>
            <a:ext cx="2542763" cy="3611880"/>
          </a:xfrm>
          <a:prstGeom prst="rect">
            <a:avLst/>
          </a:prstGeom>
          <a:solidFill>
            <a:srgbClr val="F4F4F4"/>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888888"/>
                </a:solidFill>
                <a:latin typeface="Times New Roman"/>
              </a:rPr>
              <a:t>paste the diagram here</a:t>
            </a:r>
          </a:p>
        </p:txBody>
      </p:sp>
      <p:sp>
        <p:nvSpPr>
          <p:cNvPr id="5" name="TextBox 4"/>
          <p:cNvSpPr txBox="1"/>
          <p:nvPr/>
        </p:nvSpPr>
        <p:spPr>
          <a:xfrm>
            <a:off x="502920" y="4553712"/>
            <a:ext cx="8138160" cy="274320"/>
          </a:xfrm>
          <a:prstGeom prst="rect">
            <a:avLst/>
          </a:prstGeom>
          <a:noFill/>
        </p:spPr>
        <p:txBody>
          <a:bodyPr wrap="square" lIns="0" rIns="0" tIns="0" bIns="0">
            <a:spAutoFit/>
          </a:bodyPr>
          <a:lstStyle/>
          <a:p>
            <a:pPr algn="ctr"/>
            <a:r>
              <a:rPr sz="1100" b="1">
                <a:solidFill>
                  <a:srgbClr val="000000"/>
                </a:solidFill>
                <a:latin typeface="Times New Roman"/>
              </a:rPr>
              <a:t>Figure 4. Activity diagram — three activity partitions, one per project objective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Activity Diagram</a:t>
            </a:r>
          </a:p>
        </p:txBody>
      </p:sp>
      <p:sp>
        <p:nvSpPr>
          <p:cNvPr id="4" name="TextBox 3"/>
          <p:cNvSpPr txBox="1"/>
          <p:nvPr/>
        </p:nvSpPr>
        <p:spPr>
          <a:xfrm>
            <a:off x="228600" y="841248"/>
            <a:ext cx="8686800" cy="4069080"/>
          </a:xfrm>
          <a:prstGeom prst="rect">
            <a:avLst/>
          </a:prstGeom>
          <a:noFill/>
        </p:spPr>
        <p:txBody>
          <a:bodyPr wrap="square" lIns="0" rIns="0" tIns="0" bIns="0">
            <a:spAutoFit/>
          </a:bodyPr>
          <a:lstStyle/>
          <a:p>
            <a:pPr algn="just">
              <a:lnSpc>
                <a:spcPct val="100000"/>
              </a:lnSpc>
              <a:spcAft>
                <a:spcPts val="600"/>
              </a:spcAft>
            </a:pPr>
            <a:r>
              <a:rPr sz="1200" b="1">
                <a:solidFill>
                  <a:srgbClr val="000000"/>
                </a:solidFill>
                <a:latin typeface="Times New Roman"/>
              </a:rPr>
              <a:t>Notation. </a:t>
            </a:r>
            <a:r>
              <a:rPr sz="1200" b="0">
                <a:solidFill>
                  <a:srgbClr val="000000"/>
                </a:solidFill>
                <a:latin typeface="Times New Roman"/>
              </a:rPr>
              <a:t>UML 2.5 activity diagram drawn in three vertical activity partitions, one per objective. Rounded rectangles are actions and plain rectangles are object nodes; diamonds are decision and merge nodes carrying bracketed guards; the solid bars are a fork and its matching join; the filled circle is the initial node and the encircled disc the activity final node.</a:t>
            </a:r>
          </a:p>
          <a:p>
            <a:pPr algn="just">
              <a:lnSpc>
                <a:spcPct val="100000"/>
              </a:lnSpc>
              <a:spcAft>
                <a:spcPts val="600"/>
              </a:spcAft>
            </a:pPr>
            <a:r>
              <a:rPr sz="1200" b="1">
                <a:solidFill>
                  <a:srgbClr val="000000"/>
                </a:solidFill>
                <a:latin typeface="Times New Roman"/>
              </a:rPr>
              <a:t>Input. </a:t>
            </a:r>
            <a:r>
              <a:rPr sz="1200" b="0">
                <a:solidFill>
                  <a:srgbClr val="000000"/>
                </a:solidFill>
                <a:latin typeface="Times New Roman"/>
              </a:rPr>
              <a:t>The Researcher submits a question and constraints. A decision node returns an invalid query to the user, while a valid one produces the object node :ResearchQuery [validated], which crosses the partition edge to the Planner — where it becomes the two queries the rest of the activity runs on.</a:t>
            </a:r>
          </a:p>
          <a:p>
            <a:pPr algn="just">
              <a:lnSpc>
                <a:spcPct val="100000"/>
              </a:lnSpc>
              <a:spcAft>
                <a:spcPts val="600"/>
              </a:spcAft>
            </a:pPr>
            <a:r>
              <a:rPr sz="1200" b="1">
                <a:solidFill>
                  <a:srgbClr val="000000"/>
                </a:solidFill>
                <a:latin typeface="Times New Roman"/>
              </a:rPr>
              <a:t>Concurrency. </a:t>
            </a:r>
            <a:r>
              <a:rPr sz="1200" b="0">
                <a:solidFill>
                  <a:srgbClr val="000000"/>
                </a:solidFill>
                <a:latin typeface="Times New Roman"/>
              </a:rPr>
              <a:t>A fork issues the Planner’s queries against OpenAlex, arXiv and Semantic Scholar in parallel, and the join waits for all three before deduplication by DOI and then by normalised title. That join is where three independent source streams become one corpus.</a:t>
            </a:r>
          </a:p>
          <a:p>
            <a:pPr algn="just">
              <a:lnSpc>
                <a:spcPct val="100000"/>
              </a:lnSpc>
              <a:spcAft>
                <a:spcPts val="600"/>
              </a:spcAft>
            </a:pPr>
            <a:r>
              <a:rPr sz="1200" b="1">
                <a:solidFill>
                  <a:srgbClr val="000000"/>
                </a:solidFill>
                <a:latin typeface="Times New Roman"/>
              </a:rPr>
              <a:t>Selection and summarisation. </a:t>
            </a:r>
            <a:r>
              <a:rPr sz="1200" b="0">
                <a:solidFill>
                  <a:srgbClr val="000000"/>
                </a:solidFill>
                <a:latin typeface="Times New Roman"/>
              </a:rPr>
              <a:t>The Ranker orders the merged corpus on the abstract and the API keywords, and a [1 in 10 retained] decision cuts the pool before anything is read in full. Only the survivors reach the Extractor, which loads each paper’s complete text from the cache and emits a summary object node.</a:t>
            </a:r>
          </a:p>
          <a:p>
            <a:pPr algn="just">
              <a:lnSpc>
                <a:spcPct val="100000"/>
              </a:lnSpc>
              <a:spcAft>
                <a:spcPts val="600"/>
              </a:spcAft>
            </a:pPr>
            <a:r>
              <a:rPr sz="1200" b="1">
                <a:solidFill>
                  <a:srgbClr val="000000"/>
                </a:solidFill>
                <a:latin typeface="Times New Roman"/>
              </a:rPr>
              <a:t>Verification, scoring and hand-back. </a:t>
            </a:r>
            <a:r>
              <a:rPr sz="1200" b="0">
                <a:solidFill>
                  <a:srgbClr val="000000"/>
                </a:solidFill>
                <a:latin typeface="Times New Roman"/>
              </a:rPr>
              <a:t>The Writer composes four sections from the summaries. Every generated statement then passes a [support_score ≥ 0.7] decision node against the cached source; the branches merge, surviving statements carry their citation, and the Critic scores the result. Dropped claims cross back into the Researcher partition for confirm-or-override before the artefacts are written.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Dataset Details</a:t>
            </a:r>
          </a:p>
        </p:txBody>
      </p:sp>
      <p:graphicFrame>
        <p:nvGraphicFramePr>
          <p:cNvPr id="4" name="Table 3"/>
          <p:cNvGraphicFramePr>
            <a:graphicFrameLocks noGrp="1"/>
          </p:cNvGraphicFramePr>
          <p:nvPr/>
        </p:nvGraphicFramePr>
        <p:xfrm>
          <a:off x="502919" y="868680"/>
          <a:ext cx="8138159" cy="2514600"/>
        </p:xfrm>
        <a:graphic>
          <a:graphicData uri="http://schemas.openxmlformats.org/drawingml/2006/table">
            <a:tbl>
              <a:tblPr firstRow="1" bandRow="1">
                <a:tableStyleId>{5C22544A-7EE6-4342-B048-85BDC9FD1C3A}</a:tableStyleId>
              </a:tblPr>
              <a:tblGrid>
                <a:gridCol w="1874519"/>
                <a:gridCol w="2057400"/>
                <a:gridCol w="3017520"/>
                <a:gridCol w="1188720"/>
              </a:tblGrid>
              <a:tr h="628650">
                <a:tc>
                  <a:txBody>
                    <a:bodyPr wrap="square"/>
                    <a:lstStyle/>
                    <a:p>
                      <a:pPr algn="ctr"/>
                      <a:r>
                        <a:rPr sz="1100" b="1">
                          <a:solidFill>
                            <a:srgbClr val="000000"/>
                          </a:solidFill>
                          <a:latin typeface="Times New Roman"/>
                        </a:rPr>
                        <a:t>Dataset</a:t>
                      </a:r>
                    </a:p>
                  </a:txBody>
                  <a:tcPr anchor="ctr" marL="45720" marR="45720" marT="18288" marB="18288"/>
                </a:tc>
                <a:tc>
                  <a:txBody>
                    <a:bodyPr wrap="square"/>
                    <a:lstStyle/>
                    <a:p>
                      <a:pPr algn="ctr"/>
                      <a:r>
                        <a:rPr sz="1100" b="1">
                          <a:solidFill>
                            <a:srgbClr val="000000"/>
                          </a:solidFill>
                          <a:latin typeface="Times New Roman"/>
                        </a:rPr>
                        <a:t>Trains which component</a:t>
                      </a:r>
                    </a:p>
                  </a:txBody>
                  <a:tcPr anchor="ctr" marL="45720" marR="45720" marT="18288" marB="18288"/>
                </a:tc>
                <a:tc>
                  <a:txBody>
                    <a:bodyPr wrap="square"/>
                    <a:lstStyle/>
                    <a:p>
                      <a:pPr algn="ctr"/>
                      <a:r>
                        <a:rPr sz="1100" b="1">
                          <a:solidFill>
                            <a:srgbClr val="000000"/>
                          </a:solidFill>
                          <a:latin typeface="Times New Roman"/>
                        </a:rPr>
                        <a:t>Size actually used</a:t>
                      </a:r>
                    </a:p>
                  </a:txBody>
                  <a:tcPr anchor="ctr" marL="45720" marR="45720" marT="18288" marB="18288"/>
                </a:tc>
                <a:tc>
                  <a:txBody>
                    <a:bodyPr wrap="square"/>
                    <a:lstStyle/>
                    <a:p>
                      <a:pPr algn="ctr"/>
                      <a:r>
                        <a:rPr sz="1100" b="1">
                          <a:solidFill>
                            <a:srgbClr val="000000"/>
                          </a:solidFill>
                          <a:latin typeface="Times New Roman"/>
                        </a:rPr>
                        <a:t>Licence</a:t>
                      </a:r>
                    </a:p>
                  </a:txBody>
                  <a:tcPr anchor="ctr" marL="45720" marR="45720" marT="18288" marB="18288"/>
                </a:tc>
              </a:tr>
              <a:tr h="628650">
                <a:tc>
                  <a:txBody>
                    <a:bodyPr wrap="square"/>
                    <a:lstStyle/>
                    <a:p>
                      <a:pPr algn="l"/>
                      <a:r>
                        <a:rPr sz="1050" b="0">
                          <a:solidFill>
                            <a:srgbClr val="000000"/>
                          </a:solidFill>
                          <a:latin typeface="Times New Roman"/>
                        </a:rPr>
                        <a:t>SciFact
(allenai/scifact_entailment)</a:t>
                      </a:r>
                    </a:p>
                  </a:txBody>
                  <a:tcPr anchor="ctr" marL="45720" marR="45720" marT="18288" marB="18288"/>
                </a:tc>
                <a:tc>
                  <a:txBody>
                    <a:bodyPr wrap="square"/>
                    <a:lstStyle/>
                    <a:p>
                      <a:pPr algn="ctr"/>
                      <a:r>
                        <a:rPr sz="1050" b="0">
                          <a:solidFill>
                            <a:srgbClr val="000000"/>
                          </a:solidFill>
                          <a:latin typeface="Times New Roman"/>
                        </a:rPr>
                        <a:t>Claim Verifier
(deberta-v3-small, 44M)</a:t>
                      </a:r>
                    </a:p>
                  </a:txBody>
                  <a:tcPr anchor="ctr" marL="45720" marR="45720" marT="18288" marB="18288"/>
                </a:tc>
                <a:tc>
                  <a:txBody>
                    <a:bodyPr wrap="square"/>
                    <a:lstStyle/>
                    <a:p>
                      <a:pPr algn="ctr"/>
                      <a:r>
                        <a:rPr sz="1050" b="0">
                          <a:solidFill>
                            <a:srgbClr val="000000"/>
                          </a:solidFill>
                          <a:latin typeface="Times New Roman"/>
                        </a:rPr>
                        <a:t>919 train / 340 validation rows, expanded to 1,463 / 272 / 628 (claim, evidence) pairs</a:t>
                      </a:r>
                    </a:p>
                  </a:txBody>
                  <a:tcPr anchor="ctr" marL="45720" marR="45720" marT="18288" marB="18288"/>
                </a:tc>
                <a:tc>
                  <a:txBody>
                    <a:bodyPr wrap="square"/>
                    <a:lstStyle/>
                    <a:p>
                      <a:pPr algn="ctr"/>
                      <a:r>
                        <a:rPr sz="1050" b="0">
                          <a:solidFill>
                            <a:srgbClr val="000000"/>
                          </a:solidFill>
                          <a:latin typeface="Times New Roman"/>
                        </a:rPr>
                        <a:t>CC BY-NC 2.0</a:t>
                      </a:r>
                    </a:p>
                  </a:txBody>
                  <a:tcPr anchor="ctr" marL="45720" marR="45720" marT="18288" marB="18288"/>
                </a:tc>
              </a:tr>
              <a:tr h="628650">
                <a:tc>
                  <a:txBody>
                    <a:bodyPr wrap="square"/>
                    <a:lstStyle/>
                    <a:p>
                      <a:pPr algn="l"/>
                      <a:r>
                        <a:rPr sz="1050" b="0">
                          <a:solidFill>
                            <a:srgbClr val="000000"/>
                          </a:solidFill>
                          <a:latin typeface="Times New Roman"/>
                        </a:rPr>
                        <a:t>SciReviewGen
(kejian/SciReviewGen)</a:t>
                      </a:r>
                    </a:p>
                  </a:txBody>
                  <a:tcPr anchor="ctr" marL="45720" marR="45720" marT="18288" marB="18288"/>
                </a:tc>
                <a:tc>
                  <a:txBody>
                    <a:bodyPr wrap="square"/>
                    <a:lstStyle/>
                    <a:p>
                      <a:pPr algn="ctr"/>
                      <a:r>
                        <a:rPr sz="1050" b="0">
                          <a:solidFill>
                            <a:srgbClr val="000000"/>
                          </a:solidFill>
                          <a:latin typeface="Times New Roman"/>
                        </a:rPr>
                        <a:t>Cross-encoder Ranker (22M) and Summary Generation model (139M)</a:t>
                      </a:r>
                    </a:p>
                  </a:txBody>
                  <a:tcPr anchor="ctr" marL="45720" marR="45720" marT="18288" marB="18288"/>
                </a:tc>
                <a:tc>
                  <a:txBody>
                    <a:bodyPr wrap="square"/>
                    <a:lstStyle/>
                    <a:p>
                      <a:pPr algn="ctr"/>
                      <a:r>
                        <a:rPr sz="1050" b="0">
                          <a:solidFill>
                            <a:srgbClr val="000000"/>
                          </a:solidFill>
                          <a:latin typeface="Times New Roman"/>
                        </a:rPr>
                        <a:t>84,705 / 4,410 / 4,457 rows; 3,000 chapters sampled to 68,380 train and 7,015 dev pairs over 2,342 survey groups</a:t>
                      </a:r>
                    </a:p>
                  </a:txBody>
                  <a:tcPr anchor="ctr" marL="45720" marR="45720" marT="18288" marB="18288"/>
                </a:tc>
                <a:tc>
                  <a:txBody>
                    <a:bodyPr wrap="square"/>
                    <a:lstStyle/>
                    <a:p>
                      <a:pPr algn="ctr"/>
                      <a:r>
                        <a:rPr sz="1050" b="0">
                          <a:solidFill>
                            <a:srgbClr val="000000"/>
                          </a:solidFill>
                          <a:latin typeface="Times New Roman"/>
                        </a:rPr>
                        <a:t>CC BY-NC 4.0</a:t>
                      </a:r>
                    </a:p>
                  </a:txBody>
                  <a:tcPr anchor="ctr" marL="45720" marR="45720" marT="18288" marB="18288"/>
                </a:tc>
              </a:tr>
              <a:tr h="628650">
                <a:tc>
                  <a:txBody>
                    <a:bodyPr wrap="square"/>
                    <a:lstStyle/>
                    <a:p>
                      <a:pPr algn="l"/>
                      <a:r>
                        <a:rPr sz="1050" b="0">
                          <a:solidFill>
                            <a:srgbClr val="000000"/>
                          </a:solidFill>
                          <a:latin typeface="Times New Roman"/>
                        </a:rPr>
                        <a:t>CNN / DailyMail</a:t>
                      </a:r>
                    </a:p>
                  </a:txBody>
                  <a:tcPr anchor="ctr" marL="45720" marR="45720" marT="18288" marB="18288"/>
                </a:tc>
                <a:tc>
                  <a:txBody>
                    <a:bodyPr wrap="square"/>
                    <a:lstStyle/>
                    <a:p>
                      <a:pPr algn="ctr"/>
                      <a:r>
                        <a:rPr sz="1050" b="0">
                          <a:solidFill>
                            <a:srgbClr val="000000"/>
                          </a:solidFill>
                          <a:latin typeface="Times New Roman"/>
                        </a:rPr>
                        <a:t>Summary Generation model
(first-stage summarisation training)</a:t>
                      </a:r>
                    </a:p>
                  </a:txBody>
                  <a:tcPr anchor="ctr" marL="45720" marR="45720" marT="18288" marB="18288"/>
                </a:tc>
                <a:tc>
                  <a:txBody>
                    <a:bodyPr wrap="square"/>
                    <a:lstStyle/>
                    <a:p>
                      <a:pPr algn="ctr"/>
                      <a:r>
                        <a:rPr sz="1050" b="0">
                          <a:solidFill>
                            <a:srgbClr val="000000"/>
                          </a:solidFill>
                          <a:latin typeface="Times New Roman"/>
                        </a:rPr>
                        <a:t>287,113 / 13,368 / 11,490 article–highlight pairs</a:t>
                      </a:r>
                    </a:p>
                  </a:txBody>
                  <a:tcPr anchor="ctr" marL="45720" marR="45720" marT="18288" marB="18288"/>
                </a:tc>
                <a:tc>
                  <a:txBody>
                    <a:bodyPr wrap="square"/>
                    <a:lstStyle/>
                    <a:p>
                      <a:pPr algn="ctr"/>
                      <a:r>
                        <a:rPr sz="1050" b="0">
                          <a:solidFill>
                            <a:srgbClr val="000000"/>
                          </a:solidFill>
                          <a:latin typeface="Times New Roman"/>
                        </a:rPr>
                        <a:t>Apache 2.0</a:t>
                      </a:r>
                    </a:p>
                  </a:txBody>
                  <a:tcPr anchor="ctr" marL="45720" marR="45720" marT="18288" marB="18288"/>
                </a:tc>
              </a:tr>
            </a:tbl>
          </a:graphicData>
        </a:graphic>
      </p:graphicFrame>
      <p:sp>
        <p:nvSpPr>
          <p:cNvPr id="5" name="TextBox 4"/>
          <p:cNvSpPr txBox="1"/>
          <p:nvPr/>
        </p:nvSpPr>
        <p:spPr>
          <a:xfrm>
            <a:off x="228600" y="3493008"/>
            <a:ext cx="8686800" cy="1444752"/>
          </a:xfrm>
          <a:prstGeom prst="rect">
            <a:avLst/>
          </a:prstGeom>
          <a:noFill/>
        </p:spPr>
        <p:txBody>
          <a:bodyPr wrap="square" lIns="0" rIns="0" tIns="0" bIns="0">
            <a:spAutoFit/>
          </a:bodyPr>
          <a:lstStyle/>
          <a:p>
            <a:pPr algn="just">
              <a:lnSpc>
                <a:spcPct val="100000"/>
              </a:lnSpc>
              <a:spcAft>
                <a:spcPts val="300"/>
              </a:spcAft>
            </a:pPr>
            <a:r>
              <a:rPr sz="1050" b="1">
                <a:solidFill>
                  <a:srgbClr val="000000"/>
                </a:solidFill>
                <a:latin typeface="Times New Roman"/>
              </a:rPr>
              <a:t>Three datasets, three trained models. </a:t>
            </a:r>
            <a:r>
              <a:rPr sz="1050" b="0">
                <a:solidFill>
                  <a:srgbClr val="000000"/>
                </a:solidFill>
                <a:latin typeface="Times New Roman"/>
              </a:rPr>
              <a:t>Each trained component has its own supervision signal, and no dataset is reused across purposes without being stated: SciReviewGen trains both the Ranker and the Summary Generation model, and separately supplies the retrieval gold sets those models are evaluated against.</a:t>
            </a:r>
          </a:p>
          <a:p>
            <a:pPr algn="just">
              <a:lnSpc>
                <a:spcPct val="100000"/>
              </a:lnSpc>
              <a:spcAft>
                <a:spcPts val="300"/>
              </a:spcAft>
            </a:pPr>
            <a:r>
              <a:rPr sz="1050" b="1">
                <a:solidFill>
                  <a:srgbClr val="000000"/>
                </a:solidFill>
                <a:latin typeface="Times New Roman"/>
              </a:rPr>
              <a:t>All data is openly licensed and non-commercial. </a:t>
            </a:r>
            <a:r>
              <a:rPr sz="1050" b="0">
                <a:solidFill>
                  <a:srgbClr val="000000"/>
                </a:solidFill>
                <a:latin typeface="Times New Roman"/>
              </a:rPr>
              <a:t>The project is unfunded and academic, redistributes no derivative dataset, and uses no paid data source or paid model tier at any point.</a:t>
            </a:r>
          </a:p>
          <a:p>
            <a:pPr algn="just">
              <a:lnSpc>
                <a:spcPct val="100000"/>
              </a:lnSpc>
              <a:spcAft>
                <a:spcPts val="300"/>
              </a:spcAft>
            </a:pPr>
            <a:r>
              <a:rPr sz="1050" b="1">
                <a:solidFill>
                  <a:srgbClr val="000000"/>
                </a:solidFill>
                <a:latin typeface="Times New Roman"/>
              </a:rPr>
              <a:t>The upstream licence governs, not the mirror. </a:t>
            </a:r>
            <a:r>
              <a:rPr sz="1050" b="0">
                <a:solidFill>
                  <a:srgbClr val="000000"/>
                </a:solidFill>
                <a:latin typeface="Times New Roman"/>
              </a:rPr>
              <a:t>One public mirror of SciReviewGen declares MIT, which a mirror of S2ORC-derived data cannot grant; CC BY-NC 4.0 is the licence that actually applies and the one reported here.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Dataset Details</a:t>
            </a:r>
          </a:p>
        </p:txBody>
      </p:sp>
      <p:graphicFrame>
        <p:nvGraphicFramePr>
          <p:cNvPr id="4" name="Table 3"/>
          <p:cNvGraphicFramePr>
            <a:graphicFrameLocks noGrp="1"/>
          </p:cNvGraphicFramePr>
          <p:nvPr/>
        </p:nvGraphicFramePr>
        <p:xfrm>
          <a:off x="502919" y="868680"/>
          <a:ext cx="8138160" cy="2697480"/>
        </p:xfrm>
        <a:graphic>
          <a:graphicData uri="http://schemas.openxmlformats.org/drawingml/2006/table">
            <a:tbl>
              <a:tblPr firstRow="1" bandRow="1">
                <a:tableStyleId>{5C22544A-7EE6-4342-B048-85BDC9FD1C3A}</a:tableStyleId>
              </a:tblPr>
              <a:tblGrid>
                <a:gridCol w="2148840"/>
                <a:gridCol w="2834640"/>
                <a:gridCol w="2011680"/>
                <a:gridCol w="1143000"/>
              </a:tblGrid>
              <a:tr h="449580">
                <a:tc>
                  <a:txBody>
                    <a:bodyPr wrap="square"/>
                    <a:lstStyle/>
                    <a:p>
                      <a:pPr algn="ctr"/>
                      <a:r>
                        <a:rPr sz="1100" b="1">
                          <a:solidFill>
                            <a:srgbClr val="000000"/>
                          </a:solidFill>
                          <a:latin typeface="Times New Roman"/>
                        </a:rPr>
                        <a:t>Live source / gold set</a:t>
                      </a:r>
                    </a:p>
                  </a:txBody>
                  <a:tcPr anchor="ctr" marL="45720" marR="45720" marT="18288" marB="18288"/>
                </a:tc>
                <a:tc>
                  <a:txBody>
                    <a:bodyPr wrap="square"/>
                    <a:lstStyle/>
                    <a:p>
                      <a:pPr algn="ctr"/>
                      <a:r>
                        <a:rPr sz="1100" b="1">
                          <a:solidFill>
                            <a:srgbClr val="000000"/>
                          </a:solidFill>
                          <a:latin typeface="Times New Roman"/>
                        </a:rPr>
                        <a:t>Role in the system</a:t>
                      </a:r>
                    </a:p>
                  </a:txBody>
                  <a:tcPr anchor="ctr" marL="45720" marR="45720" marT="18288" marB="18288"/>
                </a:tc>
                <a:tc>
                  <a:txBody>
                    <a:bodyPr wrap="square"/>
                    <a:lstStyle/>
                    <a:p>
                      <a:pPr algn="ctr"/>
                      <a:r>
                        <a:rPr sz="1100" b="1">
                          <a:solidFill>
                            <a:srgbClr val="000000"/>
                          </a:solidFill>
                          <a:latin typeface="Times New Roman"/>
                        </a:rPr>
                        <a:t>Size</a:t>
                      </a:r>
                    </a:p>
                  </a:txBody>
                  <a:tcPr anchor="ctr" marL="45720" marR="45720" marT="18288" marB="18288"/>
                </a:tc>
                <a:tc>
                  <a:txBody>
                    <a:bodyPr wrap="square"/>
                    <a:lstStyle/>
                    <a:p>
                      <a:pPr algn="ctr"/>
                      <a:r>
                        <a:rPr sz="1100" b="1">
                          <a:solidFill>
                            <a:srgbClr val="000000"/>
                          </a:solidFill>
                          <a:latin typeface="Times New Roman"/>
                        </a:rPr>
                        <a:t>Terms</a:t>
                      </a:r>
                    </a:p>
                  </a:txBody>
                  <a:tcPr anchor="ctr" marL="45720" marR="45720" marT="18288" marB="18288"/>
                </a:tc>
              </a:tr>
              <a:tr h="449580">
                <a:tc>
                  <a:txBody>
                    <a:bodyPr wrap="square"/>
                    <a:lstStyle/>
                    <a:p>
                      <a:pPr algn="l"/>
                      <a:r>
                        <a:rPr sz="1050" b="0">
                          <a:solidFill>
                            <a:srgbClr val="000000"/>
                          </a:solidFill>
                          <a:latin typeface="Times New Roman"/>
                        </a:rPr>
                        <a:t>OpenAlex</a:t>
                      </a:r>
                    </a:p>
                  </a:txBody>
                  <a:tcPr anchor="ctr" marL="45720" marR="45720" marT="18288" marB="18288"/>
                </a:tc>
                <a:tc>
                  <a:txBody>
                    <a:bodyPr wrap="square"/>
                    <a:lstStyle/>
                    <a:p>
                      <a:pPr algn="ctr"/>
                      <a:r>
                        <a:rPr sz="1050" b="0">
                          <a:solidFill>
                            <a:srgbClr val="000000"/>
                          </a:solidFill>
                          <a:latin typeface="Times New Roman"/>
                        </a:rPr>
                        <a:t>Primary live retrieval source</a:t>
                      </a:r>
                    </a:p>
                  </a:txBody>
                  <a:tcPr anchor="ctr" marL="45720" marR="45720" marT="18288" marB="18288"/>
                </a:tc>
                <a:tc>
                  <a:txBody>
                    <a:bodyPr wrap="square"/>
                    <a:lstStyle/>
                    <a:p>
                      <a:pPr algn="ctr"/>
                      <a:r>
                        <a:rPr sz="1050" b="0">
                          <a:solidFill>
                            <a:srgbClr val="000000"/>
                          </a:solidFill>
                          <a:latin typeface="Times New Roman"/>
                        </a:rPr>
                        <a:t>1,000 searches/day (keyed)</a:t>
                      </a:r>
                    </a:p>
                  </a:txBody>
                  <a:tcPr anchor="ctr" marL="45720" marR="45720" marT="18288" marB="18288"/>
                </a:tc>
                <a:tc>
                  <a:txBody>
                    <a:bodyPr wrap="square"/>
                    <a:lstStyle/>
                    <a:p>
                      <a:pPr algn="ctr"/>
                      <a:r>
                        <a:rPr sz="1050" b="0">
                          <a:solidFill>
                            <a:srgbClr val="000000"/>
                          </a:solidFill>
                          <a:latin typeface="Times New Roman"/>
                        </a:rPr>
                        <a:t>CC0</a:t>
                      </a:r>
                    </a:p>
                  </a:txBody>
                  <a:tcPr anchor="ctr" marL="45720" marR="45720" marT="18288" marB="18288"/>
                </a:tc>
              </a:tr>
              <a:tr h="449580">
                <a:tc>
                  <a:txBody>
                    <a:bodyPr wrap="square"/>
                    <a:lstStyle/>
                    <a:p>
                      <a:pPr algn="l"/>
                      <a:r>
                        <a:rPr sz="1050" b="0">
                          <a:solidFill>
                            <a:srgbClr val="000000"/>
                          </a:solidFill>
                          <a:latin typeface="Times New Roman"/>
                        </a:rPr>
                        <a:t>arXiv</a:t>
                      </a:r>
                    </a:p>
                  </a:txBody>
                  <a:tcPr anchor="ctr" marL="45720" marR="45720" marT="18288" marB="18288"/>
                </a:tc>
                <a:tc>
                  <a:txBody>
                    <a:bodyPr wrap="square"/>
                    <a:lstStyle/>
                    <a:p>
                      <a:pPr algn="ctr"/>
                      <a:r>
                        <a:rPr sz="1050" b="0">
                          <a:solidFill>
                            <a:srgbClr val="000000"/>
                          </a:solidFill>
                          <a:latin typeface="Times New Roman"/>
                        </a:rPr>
                        <a:t>Second live retrieval source</a:t>
                      </a:r>
                    </a:p>
                  </a:txBody>
                  <a:tcPr anchor="ctr" marL="45720" marR="45720" marT="18288" marB="18288"/>
                </a:tc>
                <a:tc>
                  <a:txBody>
                    <a:bodyPr wrap="square"/>
                    <a:lstStyle/>
                    <a:p>
                      <a:pPr algn="ctr"/>
                      <a:r>
                        <a:rPr sz="1050" b="0">
                          <a:solidFill>
                            <a:srgbClr val="000000"/>
                          </a:solidFill>
                          <a:latin typeface="Times New Roman"/>
                        </a:rPr>
                        <a:t>Atom API, HTTPS only</a:t>
                      </a:r>
                    </a:p>
                  </a:txBody>
                  <a:tcPr anchor="ctr" marL="45720" marR="45720" marT="18288" marB="18288"/>
                </a:tc>
                <a:tc>
                  <a:txBody>
                    <a:bodyPr wrap="square"/>
                    <a:lstStyle/>
                    <a:p>
                      <a:pPr algn="ctr"/>
                      <a:r>
                        <a:rPr sz="1050" b="0">
                          <a:solidFill>
                            <a:srgbClr val="000000"/>
                          </a:solidFill>
                          <a:latin typeface="Times New Roman"/>
                        </a:rPr>
                        <a:t>Metadata open</a:t>
                      </a:r>
                    </a:p>
                  </a:txBody>
                  <a:tcPr anchor="ctr" marL="45720" marR="45720" marT="18288" marB="18288"/>
                </a:tc>
              </a:tr>
              <a:tr h="449580">
                <a:tc>
                  <a:txBody>
                    <a:bodyPr wrap="square"/>
                    <a:lstStyle/>
                    <a:p>
                      <a:pPr algn="l"/>
                      <a:r>
                        <a:rPr sz="1050" b="0">
                          <a:solidFill>
                            <a:srgbClr val="000000"/>
                          </a:solidFill>
                          <a:latin typeface="Times New Roman"/>
                        </a:rPr>
                        <a:t>Semantic Scholar</a:t>
                      </a:r>
                    </a:p>
                  </a:txBody>
                  <a:tcPr anchor="ctr" marL="45720" marR="45720" marT="18288" marB="18288"/>
                </a:tc>
                <a:tc>
                  <a:txBody>
                    <a:bodyPr wrap="square"/>
                    <a:lstStyle/>
                    <a:p>
                      <a:pPr algn="ctr"/>
                      <a:r>
                        <a:rPr sz="1050" b="0">
                          <a:solidFill>
                            <a:srgbClr val="000000"/>
                          </a:solidFill>
                          <a:latin typeface="Times New Roman"/>
                        </a:rPr>
                        <a:t>Third live retrieval source</a:t>
                      </a:r>
                    </a:p>
                  </a:txBody>
                  <a:tcPr anchor="ctr" marL="45720" marR="45720" marT="18288" marB="18288"/>
                </a:tc>
                <a:tc>
                  <a:txBody>
                    <a:bodyPr wrap="square"/>
                    <a:lstStyle/>
                    <a:p>
                      <a:pPr algn="ctr"/>
                      <a:r>
                        <a:rPr sz="1050" b="0">
                          <a:solidFill>
                            <a:srgbClr val="000000"/>
                          </a:solidFill>
                          <a:latin typeface="Times New Roman"/>
                        </a:rPr>
                        <a:t>Academic Graph API</a:t>
                      </a:r>
                    </a:p>
                  </a:txBody>
                  <a:tcPr anchor="ctr" marL="45720" marR="45720" marT="18288" marB="18288"/>
                </a:tc>
                <a:tc>
                  <a:txBody>
                    <a:bodyPr wrap="square"/>
                    <a:lstStyle/>
                    <a:p>
                      <a:pPr algn="ctr"/>
                      <a:r>
                        <a:rPr sz="1050" b="0">
                          <a:solidFill>
                            <a:srgbClr val="000000"/>
                          </a:solidFill>
                          <a:latin typeface="Times New Roman"/>
                        </a:rPr>
                        <a:t>Free API terms</a:t>
                      </a:r>
                    </a:p>
                  </a:txBody>
                  <a:tcPr anchor="ctr" marL="45720" marR="45720" marT="18288" marB="18288"/>
                </a:tc>
              </a:tr>
              <a:tr h="449580">
                <a:tc>
                  <a:txBody>
                    <a:bodyPr wrap="square"/>
                    <a:lstStyle/>
                    <a:p>
                      <a:pPr algn="l"/>
                      <a:r>
                        <a:rPr sz="1050" b="0">
                          <a:solidFill>
                            <a:srgbClr val="000000"/>
                          </a:solidFill>
                          <a:latin typeface="Times New Roman"/>
                        </a:rPr>
                        <a:t>Own bibliography gold set</a:t>
                      </a:r>
                    </a:p>
                  </a:txBody>
                  <a:tcPr anchor="ctr" marL="45720" marR="45720" marT="18288" marB="18288"/>
                </a:tc>
                <a:tc>
                  <a:txBody>
                    <a:bodyPr wrap="square"/>
                    <a:lstStyle/>
                    <a:p>
                      <a:pPr algn="ctr"/>
                      <a:r>
                        <a:rPr sz="1050" b="0">
                          <a:solidFill>
                            <a:srgbClr val="000000"/>
                          </a:solidFill>
                          <a:latin typeface="Times New Roman"/>
                        </a:rPr>
                        <a:t>Out-of-domain answer key — the honest number</a:t>
                      </a:r>
                    </a:p>
                  </a:txBody>
                  <a:tcPr anchor="ctr" marL="45720" marR="45720" marT="18288" marB="18288"/>
                </a:tc>
                <a:tc>
                  <a:txBody>
                    <a:bodyPr wrap="square"/>
                    <a:lstStyle/>
                    <a:p>
                      <a:pPr algn="ctr"/>
                      <a:r>
                        <a:rPr sz="1050" b="0">
                          <a:solidFill>
                            <a:srgbClr val="000000"/>
                          </a:solidFill>
                          <a:latin typeface="Times New Roman"/>
                        </a:rPr>
                        <a:t>35 hand-curated papers</a:t>
                      </a:r>
                    </a:p>
                  </a:txBody>
                  <a:tcPr anchor="ctr" marL="45720" marR="45720" marT="18288" marB="18288"/>
                </a:tc>
                <a:tc>
                  <a:txBody>
                    <a:bodyPr wrap="square"/>
                    <a:lstStyle/>
                    <a:p>
                      <a:pPr algn="ctr"/>
                      <a:r>
                        <a:rPr sz="1050" b="0">
                          <a:solidFill>
                            <a:srgbClr val="000000"/>
                          </a:solidFill>
                          <a:latin typeface="Times New Roman"/>
                        </a:rPr>
                        <a:t>Project-owned</a:t>
                      </a:r>
                    </a:p>
                  </a:txBody>
                  <a:tcPr anchor="ctr" marL="45720" marR="45720" marT="18288" marB="18288"/>
                </a:tc>
              </a:tr>
              <a:tr h="449580">
                <a:tc>
                  <a:txBody>
                    <a:bodyPr wrap="square"/>
                    <a:lstStyle/>
                    <a:p>
                      <a:pPr algn="l"/>
                      <a:r>
                        <a:rPr sz="1050" b="0">
                          <a:solidFill>
                            <a:srgbClr val="000000"/>
                          </a:solidFill>
                          <a:latin typeface="Times New Roman"/>
                        </a:rPr>
                        <a:t>SciReviewGen test gold sets</a:t>
                      </a:r>
                    </a:p>
                  </a:txBody>
                  <a:tcPr anchor="ctr" marL="45720" marR="45720" marT="18288" marB="18288"/>
                </a:tc>
                <a:tc>
                  <a:txBody>
                    <a:bodyPr wrap="square"/>
                    <a:lstStyle/>
                    <a:p>
                      <a:pPr algn="ctr"/>
                      <a:r>
                        <a:rPr sz="1050" b="0">
                          <a:solidFill>
                            <a:srgbClr val="000000"/>
                          </a:solidFill>
                          <a:latin typeface="Times New Roman"/>
                        </a:rPr>
                        <a:t>In-domain answer key, title-disjoint split</a:t>
                      </a:r>
                    </a:p>
                  </a:txBody>
                  <a:tcPr anchor="ctr" marL="45720" marR="45720" marT="18288" marB="18288"/>
                </a:tc>
                <a:tc>
                  <a:txBody>
                    <a:bodyPr wrap="square"/>
                    <a:lstStyle/>
                    <a:p>
                      <a:pPr algn="ctr"/>
                      <a:r>
                        <a:rPr sz="1050" b="0">
                          <a:solidFill>
                            <a:srgbClr val="000000"/>
                          </a:solidFill>
                          <a:latin typeface="Times New Roman"/>
                        </a:rPr>
                        <a:t>150 evaluation queries</a:t>
                      </a:r>
                    </a:p>
                  </a:txBody>
                  <a:tcPr anchor="ctr" marL="45720" marR="45720" marT="18288" marB="18288"/>
                </a:tc>
                <a:tc>
                  <a:txBody>
                    <a:bodyPr wrap="square"/>
                    <a:lstStyle/>
                    <a:p>
                      <a:pPr algn="ctr"/>
                      <a:r>
                        <a:rPr sz="1050" b="0">
                          <a:solidFill>
                            <a:srgbClr val="000000"/>
                          </a:solidFill>
                          <a:latin typeface="Times New Roman"/>
                        </a:rPr>
                        <a:t>CC BY-NC 4.0</a:t>
                      </a:r>
                    </a:p>
                  </a:txBody>
                  <a:tcPr anchor="ctr" marL="45720" marR="45720" marT="18288" marB="18288"/>
                </a:tc>
              </a:tr>
            </a:tbl>
          </a:graphicData>
        </a:graphic>
      </p:graphicFrame>
      <p:sp>
        <p:nvSpPr>
          <p:cNvPr id="5" name="TextBox 4"/>
          <p:cNvSpPr txBox="1"/>
          <p:nvPr/>
        </p:nvSpPr>
        <p:spPr>
          <a:xfrm>
            <a:off x="228600" y="3675888"/>
            <a:ext cx="8686800" cy="1261872"/>
          </a:xfrm>
          <a:prstGeom prst="rect">
            <a:avLst/>
          </a:prstGeom>
          <a:noFill/>
        </p:spPr>
        <p:txBody>
          <a:bodyPr wrap="square" lIns="0" rIns="0" tIns="0" bIns="0">
            <a:spAutoFit/>
          </a:bodyPr>
          <a:lstStyle/>
          <a:p>
            <a:pPr algn="just">
              <a:lnSpc>
                <a:spcPct val="100000"/>
              </a:lnSpc>
              <a:spcAft>
                <a:spcPts val="300"/>
              </a:spcAft>
            </a:pPr>
            <a:r>
              <a:rPr sz="1050" b="1">
                <a:solidFill>
                  <a:srgbClr val="000000"/>
                </a:solidFill>
                <a:latin typeface="Times New Roman"/>
              </a:rPr>
              <a:t>Leakage control is the measure that decides whether the results mean anything. </a:t>
            </a:r>
            <a:r>
              <a:rPr sz="1050" b="0">
                <a:solidFill>
                  <a:srgbClr val="000000"/>
                </a:solidFill>
                <a:latin typeface="Times New Roman"/>
              </a:rPr>
              <a:t>Training pairs are built only from the SciReviewGen train split and evaluation runs only on test, and the split is by survey title rather than by row — one survey contributes many chapter rows, so a row-level split would place chapters of the same survey on both sides and inflate every fine-tuned score.</a:t>
            </a:r>
          </a:p>
          <a:p>
            <a:pPr algn="just">
              <a:lnSpc>
                <a:spcPct val="100000"/>
              </a:lnSpc>
              <a:spcAft>
                <a:spcPts val="300"/>
              </a:spcAft>
            </a:pPr>
            <a:r>
              <a:rPr sz="1050" b="1">
                <a:solidFill>
                  <a:srgbClr val="000000"/>
                </a:solidFill>
                <a:latin typeface="Times New Roman"/>
              </a:rPr>
              <a:t>Negatives are mined within the split being built. </a:t>
            </a:r>
            <a:r>
              <a:rPr sz="1050" b="0">
                <a:solidFill>
                  <a:srgbClr val="000000"/>
                </a:solidFill>
                <a:latin typeface="Times New Roman"/>
              </a:rPr>
              <a:t>Ranker training uses BM25 hard negatives mixed with random negatives at 3:2; random negatives alone make the task trivial, and hard negatives alone cost the model its relevance prior.</a:t>
            </a:r>
          </a:p>
          <a:p>
            <a:pPr algn="just">
              <a:lnSpc>
                <a:spcPct val="100000"/>
              </a:lnSpc>
              <a:spcAft>
                <a:spcPts val="300"/>
              </a:spcAft>
            </a:pPr>
            <a:r>
              <a:rPr sz="1050" b="1">
                <a:solidFill>
                  <a:srgbClr val="000000"/>
                </a:solidFill>
                <a:latin typeface="Times New Roman"/>
              </a:rPr>
              <a:t>Attribution is deliberately conservative. </a:t>
            </a:r>
            <a:r>
              <a:rPr sz="1050" b="0">
                <a:solidFill>
                  <a:srgbClr val="000000"/>
                </a:solidFill>
                <a:latin typeface="Times New Roman"/>
              </a:rPr>
              <a:t>Only sentences citing exactly one paper become (claim, evidence) pairs; multi-citation sentences are discarded at a measured cost of 25.3% of citing sentences, because a claim citing three papers is not cleanly attributable to any one of them.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Output (screenshots) of Test Cases or Case Study</a:t>
            </a:r>
          </a:p>
        </p:txBody>
      </p:sp>
      <p:sp>
        <p:nvSpPr>
          <p:cNvPr id="4" name="Rectangle 3"/>
          <p:cNvSpPr/>
          <p:nvPr/>
        </p:nvSpPr>
        <p:spPr>
          <a:xfrm>
            <a:off x="502920" y="868680"/>
            <a:ext cx="8138160" cy="2331720"/>
          </a:xfrm>
          <a:prstGeom prst="rect">
            <a:avLst/>
          </a:prstGeom>
          <a:solidFill>
            <a:srgbClr val="F4F4F4"/>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1">
                <a:solidFill>
                  <a:srgbClr val="888888"/>
                </a:solidFill>
                <a:latin typeface="Times New Roman"/>
              </a:rPr>
              <a:t>screenshot to be placed here</a:t>
            </a:r>
          </a:p>
        </p:txBody>
      </p:sp>
      <p:sp>
        <p:nvSpPr>
          <p:cNvPr id="5" name="TextBox 4"/>
          <p:cNvSpPr txBox="1"/>
          <p:nvPr/>
        </p:nvSpPr>
        <p:spPr>
          <a:xfrm>
            <a:off x="502920" y="3255264"/>
            <a:ext cx="8138160" cy="274320"/>
          </a:xfrm>
          <a:prstGeom prst="rect">
            <a:avLst/>
          </a:prstGeom>
          <a:noFill/>
        </p:spPr>
        <p:txBody>
          <a:bodyPr wrap="square" lIns="0" rIns="0" tIns="0" bIns="0">
            <a:spAutoFit/>
          </a:bodyPr>
          <a:lstStyle/>
          <a:p>
            <a:pPr algn="ctr"/>
            <a:r>
              <a:rPr sz="1100" b="1">
                <a:solidFill>
                  <a:srgbClr val="000000"/>
                </a:solidFill>
                <a:latin typeface="Times New Roman"/>
              </a:rPr>
              <a:t>Figure 5. Run control and live agent progress streamed over Server-Sent Events</a:t>
            </a:r>
          </a:p>
        </p:txBody>
      </p:sp>
      <p:sp>
        <p:nvSpPr>
          <p:cNvPr id="6" name="TextBox 5"/>
          <p:cNvSpPr txBox="1"/>
          <p:nvPr/>
        </p:nvSpPr>
        <p:spPr>
          <a:xfrm>
            <a:off x="502920" y="3566160"/>
            <a:ext cx="8138160" cy="952499"/>
          </a:xfrm>
          <a:prstGeom prst="rect">
            <a:avLst/>
          </a:prstGeom>
          <a:noFill/>
        </p:spPr>
        <p:txBody>
          <a:bodyPr wrap="square" lIns="0" rIns="0" tIns="0" bIns="0">
            <a:spAutoFit/>
          </a:bodyPr>
          <a:lstStyle/>
          <a:p>
            <a:pPr algn="just">
              <a:lnSpc>
                <a:spcPct val="100000"/>
              </a:lnSpc>
              <a:spcAft>
                <a:spcPts val="300"/>
              </a:spcAft>
            </a:pPr>
            <a:r>
              <a:rPr sz="1050" b="1">
                <a:solidFill>
                  <a:srgbClr val="000000"/>
                </a:solidFill>
                <a:latin typeface="Times New Roman"/>
              </a:rPr>
              <a:t>Test case. </a:t>
            </a:r>
            <a:r>
              <a:rPr sz="1050" b="0">
                <a:solidFill>
                  <a:srgbClr val="000000"/>
                </a:solidFill>
                <a:latin typeface="Times New Roman"/>
              </a:rPr>
              <a:t>Submit a research question through the single-page application and observe the six-agent pipeline execute without a page refresh.</a:t>
            </a:r>
          </a:p>
          <a:p>
            <a:pPr algn="just">
              <a:lnSpc>
                <a:spcPct val="100000"/>
              </a:lnSpc>
              <a:spcAft>
                <a:spcPts val="300"/>
              </a:spcAft>
            </a:pPr>
            <a:r>
              <a:rPr sz="1050" b="1">
                <a:solidFill>
                  <a:srgbClr val="000000"/>
                </a:solidFill>
                <a:latin typeface="Times New Roman"/>
              </a:rPr>
              <a:t>Input. </a:t>
            </a:r>
            <a:r>
              <a:rPr sz="1050" b="0">
                <a:solidFill>
                  <a:srgbClr val="000000"/>
                </a:solidFill>
                <a:latin typeface="Times New Roman"/>
              </a:rPr>
              <a:t>“How do multi-agent retrieval-augmented systems reduce hallucination in automated literature review?”, with the paper budget set to 10.</a:t>
            </a:r>
          </a:p>
          <a:p>
            <a:pPr algn="just">
              <a:lnSpc>
                <a:spcPct val="100000"/>
              </a:lnSpc>
              <a:spcAft>
                <a:spcPts val="300"/>
              </a:spcAft>
            </a:pPr>
            <a:r>
              <a:rPr sz="1050" b="1">
                <a:solidFill>
                  <a:srgbClr val="000000"/>
                </a:solidFill>
                <a:latin typeface="Times New Roman"/>
              </a:rPr>
              <a:t>Expected. </a:t>
            </a:r>
            <a:r>
              <a:rPr sz="1050" b="0">
                <a:solidFill>
                  <a:srgbClr val="000000"/>
                </a:solidFill>
                <a:latin typeface="Times New Roman"/>
              </a:rPr>
              <a:t>The submission is accepted with a run identifier, and each agent reports its start and completion in order as the run proceeds.</a:t>
            </a:r>
          </a:p>
          <a:p>
            <a:pPr algn="just">
              <a:lnSpc>
                <a:spcPct val="100000"/>
              </a:lnSpc>
              <a:spcAft>
                <a:spcPts val="300"/>
              </a:spcAft>
            </a:pPr>
            <a:r>
              <a:rPr sz="1050" b="1">
                <a:solidFill>
                  <a:srgbClr val="000000"/>
                </a:solidFill>
                <a:latin typeface="Times New Roman"/>
              </a:rPr>
              <a:t>Observed. </a:t>
            </a:r>
            <a:r>
              <a:rPr sz="1050" b="0">
                <a:solidFill>
                  <a:srgbClr val="000000"/>
                </a:solidFill>
                <a:latin typeface="Times New Roman"/>
              </a:rPr>
              <a:t>All seven agents transition in sequence — Planner, Retriever, Ranker, Extractor, Writer, Verifier, Critic — with progress read directly from the run’s trace file, so the browser and the report are derived from one record and cannot disagree.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Output (screenshots) of Test Cases or Case Study</a:t>
            </a:r>
          </a:p>
        </p:txBody>
      </p:sp>
      <p:sp>
        <p:nvSpPr>
          <p:cNvPr id="4" name="Rectangle 3"/>
          <p:cNvSpPr/>
          <p:nvPr/>
        </p:nvSpPr>
        <p:spPr>
          <a:xfrm>
            <a:off x="502920" y="868680"/>
            <a:ext cx="8138160" cy="2170175"/>
          </a:xfrm>
          <a:prstGeom prst="rect">
            <a:avLst/>
          </a:prstGeom>
          <a:solidFill>
            <a:srgbClr val="F4F4F4"/>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1">
                <a:solidFill>
                  <a:srgbClr val="888888"/>
                </a:solidFill>
                <a:latin typeface="Times New Roman"/>
              </a:rPr>
              <a:t>screenshot to be placed here</a:t>
            </a:r>
          </a:p>
        </p:txBody>
      </p:sp>
      <p:sp>
        <p:nvSpPr>
          <p:cNvPr id="5" name="TextBox 4"/>
          <p:cNvSpPr txBox="1"/>
          <p:nvPr/>
        </p:nvSpPr>
        <p:spPr>
          <a:xfrm>
            <a:off x="502920" y="3093720"/>
            <a:ext cx="8138160" cy="274320"/>
          </a:xfrm>
          <a:prstGeom prst="rect">
            <a:avLst/>
          </a:prstGeom>
          <a:noFill/>
        </p:spPr>
        <p:txBody>
          <a:bodyPr wrap="square" lIns="0" rIns="0" tIns="0" bIns="0">
            <a:spAutoFit/>
          </a:bodyPr>
          <a:lstStyle/>
          <a:p>
            <a:pPr algn="ctr"/>
            <a:r>
              <a:rPr sz="1100" b="1">
                <a:solidFill>
                  <a:srgbClr val="000000"/>
                </a:solidFill>
                <a:latin typeface="Times New Roman"/>
              </a:rPr>
              <a:t>Figure 6. Critic scoring — the finished review judged on content and on reasoning</a:t>
            </a:r>
          </a:p>
        </p:txBody>
      </p:sp>
      <p:sp>
        <p:nvSpPr>
          <p:cNvPr id="6" name="TextBox 5"/>
          <p:cNvSpPr txBox="1"/>
          <p:nvPr/>
        </p:nvSpPr>
        <p:spPr>
          <a:xfrm>
            <a:off x="502920" y="3404616"/>
            <a:ext cx="8138160" cy="1432560"/>
          </a:xfrm>
          <a:prstGeom prst="rect">
            <a:avLst/>
          </a:prstGeom>
          <a:noFill/>
        </p:spPr>
        <p:txBody>
          <a:bodyPr wrap="square" lIns="0" rIns="0" tIns="0" bIns="0">
            <a:spAutoFit/>
          </a:bodyPr>
          <a:lstStyle/>
          <a:p>
            <a:pPr algn="just">
              <a:lnSpc>
                <a:spcPct val="100000"/>
              </a:lnSpc>
              <a:spcAft>
                <a:spcPts val="300"/>
              </a:spcAft>
            </a:pPr>
            <a:r>
              <a:rPr sz="1050" b="1">
                <a:solidFill>
                  <a:srgbClr val="000000"/>
                </a:solidFill>
                <a:latin typeface="Times New Roman"/>
              </a:rPr>
              <a:t>Test case. </a:t>
            </a:r>
            <a:r>
              <a:rPr sz="1050" b="0">
                <a:solidFill>
                  <a:srgbClr val="000000"/>
                </a:solidFill>
                <a:latin typeface="Times New Roman"/>
              </a:rPr>
              <a:t>The run is not complete when the review is written. The last agent must judge what the pipeline produced, so that every run ends with an explicit verdict on its own output rather than with an unexamined artefact.</a:t>
            </a:r>
          </a:p>
          <a:p>
            <a:pPr algn="just">
              <a:lnSpc>
                <a:spcPct val="100000"/>
              </a:lnSpc>
              <a:spcAft>
                <a:spcPts val="300"/>
              </a:spcAft>
            </a:pPr>
            <a:r>
              <a:rPr sz="1050" b="1">
                <a:solidFill>
                  <a:srgbClr val="000000"/>
                </a:solidFill>
                <a:latin typeface="Times New Roman"/>
              </a:rPr>
              <a:t>Expected. </a:t>
            </a:r>
            <a:r>
              <a:rPr sz="1050" b="0">
                <a:solidFill>
                  <a:srgbClr val="000000"/>
                </a:solidFill>
                <a:latin typeface="Times New Roman"/>
              </a:rPr>
              <a:t>The Critic receives the original prompt together with the generated review and returns a score for the quality of the content and a separate judgement of whether the reasoning that produced it holds, with its stated reasons recorded alongside the review.</a:t>
            </a:r>
          </a:p>
          <a:p>
            <a:pPr algn="just">
              <a:lnSpc>
                <a:spcPct val="100000"/>
              </a:lnSpc>
              <a:spcAft>
                <a:spcPts val="300"/>
              </a:spcAft>
            </a:pPr>
            <a:r>
              <a:rPr sz="1050" b="1">
                <a:solidFill>
                  <a:srgbClr val="000000"/>
                </a:solidFill>
                <a:latin typeface="Times New Roman"/>
              </a:rPr>
              <a:t>Observed. </a:t>
            </a:r>
            <a:r>
              <a:rPr sz="1050" b="0">
                <a:solidFill>
                  <a:srgbClr val="000000"/>
                </a:solidFill>
                <a:latin typeface="Times New Roman"/>
              </a:rPr>
              <a:t>The Critic returned a content score of ______ and a reasoning score of ______, with its reasons written to the run’s trace beside the review they refer to.</a:t>
            </a:r>
          </a:p>
          <a:p>
            <a:pPr algn="just">
              <a:lnSpc>
                <a:spcPct val="100000"/>
              </a:lnSpc>
              <a:spcAft>
                <a:spcPts val="300"/>
              </a:spcAft>
            </a:pPr>
            <a:r>
              <a:rPr sz="1050" b="1">
                <a:solidFill>
                  <a:srgbClr val="000000"/>
                </a:solidFill>
                <a:latin typeface="Times New Roman"/>
              </a:rPr>
              <a:t>Why it matters. </a:t>
            </a:r>
            <a:r>
              <a:rPr sz="1050" b="0">
                <a:solidFill>
                  <a:srgbClr val="000000"/>
                </a:solidFill>
                <a:latin typeface="Times New Roman"/>
              </a:rPr>
              <a:t>Scoring is the only stage that reads the prompt and the answer together. It is what turns a generated review into a reviewed one, and it is the last thing the examiner sees before the artefacts are handed over.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Output (screenshots) of Test Cases or Case Study</a:t>
            </a:r>
          </a:p>
        </p:txBody>
      </p:sp>
      <p:sp>
        <p:nvSpPr>
          <p:cNvPr id="4" name="Rectangle 3"/>
          <p:cNvSpPr/>
          <p:nvPr/>
        </p:nvSpPr>
        <p:spPr>
          <a:xfrm>
            <a:off x="502920" y="868680"/>
            <a:ext cx="8138160" cy="2330195"/>
          </a:xfrm>
          <a:prstGeom prst="rect">
            <a:avLst/>
          </a:prstGeom>
          <a:solidFill>
            <a:srgbClr val="F4F4F4"/>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1">
                <a:solidFill>
                  <a:srgbClr val="888888"/>
                </a:solidFill>
                <a:latin typeface="Times New Roman"/>
              </a:rPr>
              <a:t>screenshot to be placed here</a:t>
            </a:r>
          </a:p>
        </p:txBody>
      </p:sp>
      <p:sp>
        <p:nvSpPr>
          <p:cNvPr id="5" name="TextBox 4"/>
          <p:cNvSpPr txBox="1"/>
          <p:nvPr/>
        </p:nvSpPr>
        <p:spPr>
          <a:xfrm>
            <a:off x="502920" y="3253740"/>
            <a:ext cx="8138160" cy="274320"/>
          </a:xfrm>
          <a:prstGeom prst="rect">
            <a:avLst/>
          </a:prstGeom>
          <a:noFill/>
        </p:spPr>
        <p:txBody>
          <a:bodyPr wrap="square" lIns="0" rIns="0" tIns="0" bIns="0">
            <a:spAutoFit/>
          </a:bodyPr>
          <a:lstStyle/>
          <a:p>
            <a:pPr algn="ctr"/>
            <a:r>
              <a:rPr sz="1100" b="1">
                <a:solidFill>
                  <a:srgbClr val="000000"/>
                </a:solidFill>
                <a:latin typeface="Times New Roman"/>
              </a:rPr>
              <a:t>Figure 7. Evidence inspection — a verified sentence and the exact span it was scored against</a:t>
            </a:r>
          </a:p>
        </p:txBody>
      </p:sp>
      <p:sp>
        <p:nvSpPr>
          <p:cNvPr id="6" name="TextBox 5"/>
          <p:cNvSpPr txBox="1"/>
          <p:nvPr/>
        </p:nvSpPr>
        <p:spPr>
          <a:xfrm>
            <a:off x="502920" y="3564635"/>
            <a:ext cx="8138160" cy="1272540"/>
          </a:xfrm>
          <a:prstGeom prst="rect">
            <a:avLst/>
          </a:prstGeom>
          <a:noFill/>
        </p:spPr>
        <p:txBody>
          <a:bodyPr wrap="square" lIns="0" rIns="0" tIns="0" bIns="0">
            <a:spAutoFit/>
          </a:bodyPr>
          <a:lstStyle/>
          <a:p>
            <a:pPr algn="just">
              <a:lnSpc>
                <a:spcPct val="100000"/>
              </a:lnSpc>
              <a:spcAft>
                <a:spcPts val="300"/>
              </a:spcAft>
            </a:pPr>
            <a:r>
              <a:rPr sz="1050" b="1">
                <a:solidFill>
                  <a:srgbClr val="000000"/>
                </a:solidFill>
                <a:latin typeface="Times New Roman"/>
              </a:rPr>
              <a:t>Test case. </a:t>
            </a:r>
            <a:r>
              <a:rPr sz="1050" b="0">
                <a:solidFill>
                  <a:srgbClr val="000000"/>
                </a:solidFill>
                <a:latin typeface="Times New Roman"/>
              </a:rPr>
              <a:t>Every sentence in the delivered review must be traceable to the retrieved text span that justified it.</a:t>
            </a:r>
          </a:p>
          <a:p>
            <a:pPr algn="just">
              <a:lnSpc>
                <a:spcPct val="100000"/>
              </a:lnSpc>
              <a:spcAft>
                <a:spcPts val="300"/>
              </a:spcAft>
            </a:pPr>
            <a:r>
              <a:rPr sz="1050" b="1">
                <a:solidFill>
                  <a:srgbClr val="000000"/>
                </a:solidFill>
                <a:latin typeface="Times New Roman"/>
              </a:rPr>
              <a:t>Expected. </a:t>
            </a:r>
            <a:r>
              <a:rPr sz="1050" b="0">
                <a:solidFill>
                  <a:srgbClr val="000000"/>
                </a:solidFill>
                <a:latin typeface="Times New Roman"/>
              </a:rPr>
              <a:t>Clicking a marked sentence reveals the source paper, the chunk identifier, the character offsets and the quoted span the Verifier scored, together with the support score it produced.</a:t>
            </a:r>
          </a:p>
          <a:p>
            <a:pPr algn="just">
              <a:lnSpc>
                <a:spcPct val="100000"/>
              </a:lnSpc>
              <a:spcAft>
                <a:spcPts val="300"/>
              </a:spcAft>
            </a:pPr>
            <a:r>
              <a:rPr sz="1050" b="1">
                <a:solidFill>
                  <a:srgbClr val="000000"/>
                </a:solidFill>
                <a:latin typeface="Times New Roman"/>
              </a:rPr>
              <a:t>Observed. </a:t>
            </a:r>
            <a:r>
              <a:rPr sz="1050" b="0">
                <a:solidFill>
                  <a:srgbClr val="000000"/>
                </a:solidFill>
                <a:latin typeface="Times New Roman"/>
              </a:rPr>
              <a:t>All 19 kept claims are locatable in the rendered review and each carries its evidence span; claim c0001, for instance, scores 0.9994 against characters 0–600 of chunk W4390549304:0000.</a:t>
            </a:r>
          </a:p>
          <a:p>
            <a:pPr algn="just">
              <a:lnSpc>
                <a:spcPct val="100000"/>
              </a:lnSpc>
              <a:spcAft>
                <a:spcPts val="300"/>
              </a:spcAft>
            </a:pPr>
            <a:r>
              <a:rPr sz="1050" b="1">
                <a:solidFill>
                  <a:srgbClr val="000000"/>
                </a:solidFill>
                <a:latin typeface="Times New Roman"/>
              </a:rPr>
              <a:t>Why it matters. </a:t>
            </a:r>
            <a:r>
              <a:rPr sz="1050" b="0">
                <a:solidFill>
                  <a:srgbClr val="000000"/>
                </a:solidFill>
                <a:latin typeface="Times New Roman"/>
              </a:rPr>
              <a:t>The grounding figure becomes auditable rather than asserted — an examiner can re-derive it from the artefacts instead of taking it on trust.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Output (screenshots) of Test Cases or Case Study</a:t>
            </a:r>
          </a:p>
        </p:txBody>
      </p:sp>
      <p:sp>
        <p:nvSpPr>
          <p:cNvPr id="4" name="Rectangle 3"/>
          <p:cNvSpPr/>
          <p:nvPr/>
        </p:nvSpPr>
        <p:spPr>
          <a:xfrm>
            <a:off x="502920" y="868680"/>
            <a:ext cx="8138160" cy="2331720"/>
          </a:xfrm>
          <a:prstGeom prst="rect">
            <a:avLst/>
          </a:prstGeom>
          <a:solidFill>
            <a:srgbClr val="F4F4F4"/>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1">
                <a:solidFill>
                  <a:srgbClr val="888888"/>
                </a:solidFill>
                <a:latin typeface="Times New Roman"/>
              </a:rPr>
              <a:t>screenshot to be placed here</a:t>
            </a:r>
          </a:p>
        </p:txBody>
      </p:sp>
      <p:sp>
        <p:nvSpPr>
          <p:cNvPr id="5" name="TextBox 4"/>
          <p:cNvSpPr txBox="1"/>
          <p:nvPr/>
        </p:nvSpPr>
        <p:spPr>
          <a:xfrm>
            <a:off x="502920" y="3255264"/>
            <a:ext cx="8138160" cy="274320"/>
          </a:xfrm>
          <a:prstGeom prst="rect">
            <a:avLst/>
          </a:prstGeom>
          <a:noFill/>
        </p:spPr>
        <p:txBody>
          <a:bodyPr wrap="square" lIns="0" rIns="0" tIns="0" bIns="0">
            <a:spAutoFit/>
          </a:bodyPr>
          <a:lstStyle/>
          <a:p>
            <a:pPr algn="ctr"/>
            <a:r>
              <a:rPr sz="1100" b="1">
                <a:solidFill>
                  <a:srgbClr val="000000"/>
                </a:solidFill>
                <a:latin typeface="Times New Roman"/>
              </a:rPr>
              <a:t>Figure 8. Dropped claims, with support scores and the confirm / override control</a:t>
            </a:r>
          </a:p>
        </p:txBody>
      </p:sp>
      <p:sp>
        <p:nvSpPr>
          <p:cNvPr id="6" name="TextBox 5"/>
          <p:cNvSpPr txBox="1"/>
          <p:nvPr/>
        </p:nvSpPr>
        <p:spPr>
          <a:xfrm>
            <a:off x="502920" y="3566160"/>
            <a:ext cx="8138160" cy="1112520"/>
          </a:xfrm>
          <a:prstGeom prst="rect">
            <a:avLst/>
          </a:prstGeom>
          <a:noFill/>
        </p:spPr>
        <p:txBody>
          <a:bodyPr wrap="square" lIns="0" rIns="0" tIns="0" bIns="0">
            <a:spAutoFit/>
          </a:bodyPr>
          <a:lstStyle/>
          <a:p>
            <a:pPr algn="just">
              <a:lnSpc>
                <a:spcPct val="100000"/>
              </a:lnSpc>
              <a:spcAft>
                <a:spcPts val="300"/>
              </a:spcAft>
            </a:pPr>
            <a:r>
              <a:rPr sz="1050" b="1">
                <a:solidFill>
                  <a:srgbClr val="000000"/>
                </a:solidFill>
                <a:latin typeface="Times New Roman"/>
              </a:rPr>
              <a:t>Test case. </a:t>
            </a:r>
            <a:r>
              <a:rPr sz="1050" b="0">
                <a:solidFill>
                  <a:srgbClr val="000000"/>
                </a:solidFill>
                <a:latin typeface="Times New Roman"/>
              </a:rPr>
              <a:t>The system must refuse to publish what it cannot ground, and must let a human contest that refusal.</a:t>
            </a:r>
          </a:p>
          <a:p>
            <a:pPr algn="just">
              <a:lnSpc>
                <a:spcPct val="100000"/>
              </a:lnSpc>
              <a:spcAft>
                <a:spcPts val="300"/>
              </a:spcAft>
            </a:pPr>
            <a:r>
              <a:rPr sz="1050" b="1">
                <a:solidFill>
                  <a:srgbClr val="000000"/>
                </a:solidFill>
                <a:latin typeface="Times New Roman"/>
              </a:rPr>
              <a:t>Expected. </a:t>
            </a:r>
            <a:r>
              <a:rPr sz="1050" b="0">
                <a:solidFill>
                  <a:srgbClr val="000000"/>
                </a:solidFill>
                <a:latin typeface="Times New Roman"/>
              </a:rPr>
              <a:t>Claims scoring below the 0.7 support threshold are removed before the review is written and are logged with their scores, never silently discarded; an analyst’s verdict is appended to the run’s trace.</a:t>
            </a:r>
          </a:p>
          <a:p>
            <a:pPr algn="just">
              <a:lnSpc>
                <a:spcPct val="100000"/>
              </a:lnSpc>
              <a:spcAft>
                <a:spcPts val="300"/>
              </a:spcAft>
            </a:pPr>
            <a:r>
              <a:rPr sz="1050" b="1">
                <a:solidFill>
                  <a:srgbClr val="000000"/>
                </a:solidFill>
                <a:latin typeface="Times New Roman"/>
              </a:rPr>
              <a:t>Observed. </a:t>
            </a:r>
            <a:r>
              <a:rPr sz="1050" b="0">
                <a:solidFill>
                  <a:srgbClr val="000000"/>
                </a:solidFill>
                <a:latin typeface="Times New Roman"/>
              </a:rPr>
              <a:t>Three of 22 claims were dropped. Claims c0006 (0.2169) and c0020 (0.0098) both asserted detection accuracy above 99% that the cited paper never reports, and c0022 (0.0061) attributed a semantic-validation claim to a paper about repository provenance.</a:t>
            </a:r>
          </a:p>
          <a:p>
            <a:pPr algn="just">
              <a:lnSpc>
                <a:spcPct val="100000"/>
              </a:lnSpc>
              <a:spcAft>
                <a:spcPts val="300"/>
              </a:spcAft>
            </a:pPr>
            <a:r>
              <a:rPr sz="1050" b="1">
                <a:solidFill>
                  <a:srgbClr val="000000"/>
                </a:solidFill>
                <a:latin typeface="Times New Roman"/>
              </a:rPr>
              <a:t>Why it matters. </a:t>
            </a:r>
            <a:r>
              <a:rPr sz="1050" b="0">
                <a:solidFill>
                  <a:srgbClr val="000000"/>
                </a:solidFill>
                <a:latin typeface="Times New Roman"/>
              </a:rPr>
              <a:t>Those three sentences are precisely the failure mode this project exists to prevent: fluent, plausible, correctly cited and unsupported.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Output (screenshots) of Test Cases or Case Study</a:t>
            </a:r>
          </a:p>
        </p:txBody>
      </p:sp>
      <p:sp>
        <p:nvSpPr>
          <p:cNvPr id="4" name="Rectangle 3"/>
          <p:cNvSpPr/>
          <p:nvPr/>
        </p:nvSpPr>
        <p:spPr>
          <a:xfrm>
            <a:off x="502920" y="868680"/>
            <a:ext cx="8138160" cy="2330195"/>
          </a:xfrm>
          <a:prstGeom prst="rect">
            <a:avLst/>
          </a:prstGeom>
          <a:solidFill>
            <a:srgbClr val="F4F4F4"/>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1">
                <a:solidFill>
                  <a:srgbClr val="888888"/>
                </a:solidFill>
                <a:latin typeface="Times New Roman"/>
              </a:rPr>
              <a:t>screenshot to be placed here</a:t>
            </a:r>
          </a:p>
        </p:txBody>
      </p:sp>
      <p:sp>
        <p:nvSpPr>
          <p:cNvPr id="5" name="TextBox 4"/>
          <p:cNvSpPr txBox="1"/>
          <p:nvPr/>
        </p:nvSpPr>
        <p:spPr>
          <a:xfrm>
            <a:off x="502920" y="3253740"/>
            <a:ext cx="8138160" cy="274320"/>
          </a:xfrm>
          <a:prstGeom prst="rect">
            <a:avLst/>
          </a:prstGeom>
          <a:noFill/>
        </p:spPr>
        <p:txBody>
          <a:bodyPr wrap="square" lIns="0" rIns="0" tIns="0" bIns="0">
            <a:spAutoFit/>
          </a:bodyPr>
          <a:lstStyle/>
          <a:p>
            <a:pPr algn="ctr"/>
            <a:r>
              <a:rPr sz="1100" b="1">
                <a:solidFill>
                  <a:srgbClr val="000000"/>
                </a:solidFill>
                <a:latin typeface="Times New Roman"/>
              </a:rPr>
              <a:t>Figure 9. Rendered review with IEEE citations, and the run’s downloadable artefact set</a:t>
            </a:r>
          </a:p>
        </p:txBody>
      </p:sp>
      <p:sp>
        <p:nvSpPr>
          <p:cNvPr id="6" name="TextBox 5"/>
          <p:cNvSpPr txBox="1"/>
          <p:nvPr/>
        </p:nvSpPr>
        <p:spPr>
          <a:xfrm>
            <a:off x="502920" y="3564635"/>
            <a:ext cx="8138160" cy="1272540"/>
          </a:xfrm>
          <a:prstGeom prst="rect">
            <a:avLst/>
          </a:prstGeom>
          <a:noFill/>
        </p:spPr>
        <p:txBody>
          <a:bodyPr wrap="square" lIns="0" rIns="0" tIns="0" bIns="0">
            <a:spAutoFit/>
          </a:bodyPr>
          <a:lstStyle/>
          <a:p>
            <a:pPr algn="just">
              <a:lnSpc>
                <a:spcPct val="100000"/>
              </a:lnSpc>
              <a:spcAft>
                <a:spcPts val="300"/>
              </a:spcAft>
            </a:pPr>
            <a:r>
              <a:rPr sz="1050" b="1">
                <a:solidFill>
                  <a:srgbClr val="000000"/>
                </a:solidFill>
                <a:latin typeface="Times New Roman"/>
              </a:rPr>
              <a:t>Test case. </a:t>
            </a:r>
            <a:r>
              <a:rPr sz="1050" b="0">
                <a:solidFill>
                  <a:srgbClr val="000000"/>
                </a:solidFill>
                <a:latin typeface="Times New Roman"/>
              </a:rPr>
              <a:t>A completed run must yield a reproducible, inspectable artefact set rather than an answer that exists only on screen.</a:t>
            </a:r>
          </a:p>
          <a:p>
            <a:pPr algn="just">
              <a:lnSpc>
                <a:spcPct val="100000"/>
              </a:lnSpc>
              <a:spcAft>
                <a:spcPts val="300"/>
              </a:spcAft>
            </a:pPr>
            <a:r>
              <a:rPr sz="1050" b="1">
                <a:solidFill>
                  <a:srgbClr val="000000"/>
                </a:solidFill>
                <a:latin typeface="Times New Roman"/>
              </a:rPr>
              <a:t>Expected. </a:t>
            </a:r>
            <a:r>
              <a:rPr sz="1050" b="0">
                <a:solidFill>
                  <a:srgbClr val="000000"/>
                </a:solidFill>
                <a:latin typeface="Times New Roman"/>
              </a:rPr>
              <a:t>Seven artefacts are written per run — the cited review, every claim with its verdict and evidence, per-paper structured extraction, a BibTeX bibliography, the full retrieved corpus, the resolved configuration, and the event trace.</a:t>
            </a:r>
          </a:p>
          <a:p>
            <a:pPr algn="just">
              <a:lnSpc>
                <a:spcPct val="100000"/>
              </a:lnSpc>
              <a:spcAft>
                <a:spcPts val="300"/>
              </a:spcAft>
            </a:pPr>
            <a:r>
              <a:rPr sz="1050" b="1">
                <a:solidFill>
                  <a:srgbClr val="000000"/>
                </a:solidFill>
                <a:latin typeface="Times New Roman"/>
              </a:rPr>
              <a:t>Observed. </a:t>
            </a:r>
            <a:r>
              <a:rPr sz="1050" b="0">
                <a:solidFill>
                  <a:srgbClr val="000000"/>
                </a:solidFill>
                <a:latin typeface="Times New Roman"/>
              </a:rPr>
              <a:t>A survey in the four prescribed sections — architecture, metrics, datasets, and advantages and disadvantages — with a summary for every paper read and a bibliography emitted alongside it.</a:t>
            </a:r>
          </a:p>
          <a:p>
            <a:pPr algn="just">
              <a:lnSpc>
                <a:spcPct val="100000"/>
              </a:lnSpc>
              <a:spcAft>
                <a:spcPts val="300"/>
              </a:spcAft>
            </a:pPr>
            <a:r>
              <a:rPr sz="1050" b="1">
                <a:solidFill>
                  <a:srgbClr val="000000"/>
                </a:solidFill>
                <a:latin typeface="Times New Roman"/>
              </a:rPr>
              <a:t>Why it matters. </a:t>
            </a:r>
            <a:r>
              <a:rPr sz="1050" b="0">
                <a:solidFill>
                  <a:srgbClr val="000000"/>
                </a:solidFill>
                <a:latin typeface="Times New Roman"/>
              </a:rPr>
              <a:t>Every figure quoted in this presentation is derived from these files, so no slide can disagree with what the application actually produced.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Output (screenshots) of Test Cases or Case Study</a:t>
            </a:r>
          </a:p>
        </p:txBody>
      </p:sp>
      <p:sp>
        <p:nvSpPr>
          <p:cNvPr id="4" name="Rectangle 3"/>
          <p:cNvSpPr/>
          <p:nvPr/>
        </p:nvSpPr>
        <p:spPr>
          <a:xfrm>
            <a:off x="502920" y="868680"/>
            <a:ext cx="8138160" cy="2331720"/>
          </a:xfrm>
          <a:prstGeom prst="rect">
            <a:avLst/>
          </a:prstGeom>
          <a:solidFill>
            <a:srgbClr val="F4F4F4"/>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1">
                <a:solidFill>
                  <a:srgbClr val="888888"/>
                </a:solidFill>
                <a:latin typeface="Times New Roman"/>
              </a:rPr>
              <a:t>screenshot to be placed here</a:t>
            </a:r>
          </a:p>
        </p:txBody>
      </p:sp>
      <p:sp>
        <p:nvSpPr>
          <p:cNvPr id="5" name="TextBox 4"/>
          <p:cNvSpPr txBox="1"/>
          <p:nvPr/>
        </p:nvSpPr>
        <p:spPr>
          <a:xfrm>
            <a:off x="502920" y="3255264"/>
            <a:ext cx="8138160" cy="274320"/>
          </a:xfrm>
          <a:prstGeom prst="rect">
            <a:avLst/>
          </a:prstGeom>
          <a:noFill/>
        </p:spPr>
        <p:txBody>
          <a:bodyPr wrap="square" lIns="0" rIns="0" tIns="0" bIns="0">
            <a:spAutoFit/>
          </a:bodyPr>
          <a:lstStyle/>
          <a:p>
            <a:pPr algn="ctr"/>
            <a:r>
              <a:rPr sz="1100" b="1">
                <a:solidFill>
                  <a:srgbClr val="000000"/>
                </a:solidFill>
                <a:latin typeface="Times New Roman"/>
              </a:rPr>
              <a:t>Figure 10. Automated regression suite — one acceptance suite per project phase</a:t>
            </a:r>
          </a:p>
        </p:txBody>
      </p:sp>
      <p:sp>
        <p:nvSpPr>
          <p:cNvPr id="6" name="TextBox 5"/>
          <p:cNvSpPr txBox="1"/>
          <p:nvPr/>
        </p:nvSpPr>
        <p:spPr>
          <a:xfrm>
            <a:off x="502920" y="3566160"/>
            <a:ext cx="8138160" cy="952499"/>
          </a:xfrm>
          <a:prstGeom prst="rect">
            <a:avLst/>
          </a:prstGeom>
          <a:noFill/>
        </p:spPr>
        <p:txBody>
          <a:bodyPr wrap="square" lIns="0" rIns="0" tIns="0" bIns="0">
            <a:spAutoFit/>
          </a:bodyPr>
          <a:lstStyle/>
          <a:p>
            <a:pPr algn="just">
              <a:lnSpc>
                <a:spcPct val="100000"/>
              </a:lnSpc>
              <a:spcAft>
                <a:spcPts val="300"/>
              </a:spcAft>
            </a:pPr>
            <a:r>
              <a:rPr sz="1050" b="1">
                <a:solidFill>
                  <a:srgbClr val="000000"/>
                </a:solidFill>
                <a:latin typeface="Times New Roman"/>
              </a:rPr>
              <a:t>Test case. </a:t>
            </a:r>
            <a:r>
              <a:rPr sz="1050" b="0">
                <a:solidFill>
                  <a:srgbClr val="000000"/>
                </a:solidFill>
                <a:latin typeface="Times New Roman"/>
              </a:rPr>
              <a:t>The acceptance criterion is the test: each phase of the project ships an executable acceptance suite rather than a prose checklist.</a:t>
            </a:r>
          </a:p>
          <a:p>
            <a:pPr algn="just">
              <a:lnSpc>
                <a:spcPct val="100000"/>
              </a:lnSpc>
              <a:spcAft>
                <a:spcPts val="300"/>
              </a:spcAft>
            </a:pPr>
            <a:r>
              <a:rPr sz="1050" b="1">
                <a:solidFill>
                  <a:srgbClr val="000000"/>
                </a:solidFill>
                <a:latin typeface="Times New Roman"/>
              </a:rPr>
              <a:t>Expected. </a:t>
            </a:r>
            <a:r>
              <a:rPr sz="1050" b="0">
                <a:solidFill>
                  <a:srgbClr val="000000"/>
                </a:solidFill>
                <a:latin typeface="Times New Roman"/>
              </a:rPr>
              <a:t>The full suite passes on a clean checkout with no network access and no database configured.</a:t>
            </a:r>
          </a:p>
          <a:p>
            <a:pPr algn="just">
              <a:lnSpc>
                <a:spcPct val="100000"/>
              </a:lnSpc>
              <a:spcAft>
                <a:spcPts val="300"/>
              </a:spcAft>
            </a:pPr>
            <a:r>
              <a:rPr sz="1050" b="1">
                <a:solidFill>
                  <a:srgbClr val="000000"/>
                </a:solidFill>
                <a:latin typeface="Times New Roman"/>
              </a:rPr>
              <a:t>Observed. </a:t>
            </a:r>
            <a:r>
              <a:rPr sz="1050" b="0">
                <a:solidFill>
                  <a:srgbClr val="000000"/>
                </a:solidFill>
                <a:latin typeface="Times New Roman"/>
              </a:rPr>
              <a:t>334 tests pass and 1 is skipped, across 13 suites: one acceptance suite per project phase, plus unit and integration tests.</a:t>
            </a:r>
          </a:p>
          <a:p>
            <a:pPr algn="just">
              <a:lnSpc>
                <a:spcPct val="100000"/>
              </a:lnSpc>
              <a:spcAft>
                <a:spcPts val="300"/>
              </a:spcAft>
            </a:pPr>
            <a:r>
              <a:rPr sz="1050" b="1">
                <a:solidFill>
                  <a:srgbClr val="000000"/>
                </a:solidFill>
                <a:latin typeface="Times New Roman"/>
              </a:rPr>
              <a:t>Why it matters. </a:t>
            </a:r>
            <a:r>
              <a:rPr sz="1050" b="0">
                <a:solidFill>
                  <a:srgbClr val="000000"/>
                </a:solidFill>
                <a:latin typeface="Times New Roman"/>
              </a:rPr>
              <a:t>Three defects of consequence were found by writing a test rather than by running the code — a trace override that corrupted two records at once, a registry connection that could hang a run indefinitely, and a run index that hid 58 of 60 runs the moment it was enabled.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Output (screenshots) of Test Cases or Case Study</a:t>
            </a:r>
          </a:p>
        </p:txBody>
      </p:sp>
      <p:graphicFrame>
        <p:nvGraphicFramePr>
          <p:cNvPr id="4" name="Table 3"/>
          <p:cNvGraphicFramePr>
            <a:graphicFrameLocks noGrp="1"/>
          </p:cNvGraphicFramePr>
          <p:nvPr/>
        </p:nvGraphicFramePr>
        <p:xfrm>
          <a:off x="502919" y="868680"/>
          <a:ext cx="8138160" cy="2788920"/>
        </p:xfrm>
        <a:graphic>
          <a:graphicData uri="http://schemas.openxmlformats.org/drawingml/2006/table">
            <a:tbl>
              <a:tblPr firstRow="1" bandRow="1">
                <a:tableStyleId>{5C22544A-7EE6-4342-B048-85BDC9FD1C3A}</a:tableStyleId>
              </a:tblPr>
              <a:tblGrid>
                <a:gridCol w="1417320"/>
                <a:gridCol w="4709160"/>
                <a:gridCol w="2011680"/>
              </a:tblGrid>
              <a:tr h="348615">
                <a:tc>
                  <a:txBody>
                    <a:bodyPr wrap="square"/>
                    <a:lstStyle/>
                    <a:p>
                      <a:pPr algn="ctr"/>
                      <a:r>
                        <a:rPr sz="1100" b="1">
                          <a:solidFill>
                            <a:srgbClr val="000000"/>
                          </a:solidFill>
                          <a:latin typeface="Times New Roman"/>
                        </a:rPr>
                        <a:t>Stage</a:t>
                      </a:r>
                    </a:p>
                  </a:txBody>
                  <a:tcPr anchor="ctr" marL="45720" marR="45720" marT="18288" marB="18288"/>
                </a:tc>
                <a:tc>
                  <a:txBody>
                    <a:bodyPr wrap="square"/>
                    <a:lstStyle/>
                    <a:p>
                      <a:pPr algn="ctr"/>
                      <a:r>
                        <a:rPr sz="1100" b="1">
                          <a:solidFill>
                            <a:srgbClr val="000000"/>
                          </a:solidFill>
                          <a:latin typeface="Times New Roman"/>
                        </a:rPr>
                        <a:t>What the run did</a:t>
                      </a:r>
                    </a:p>
                  </a:txBody>
                  <a:tcPr anchor="ctr" marL="45720" marR="45720" marT="18288" marB="18288"/>
                </a:tc>
                <a:tc>
                  <a:txBody>
                    <a:bodyPr wrap="square"/>
                    <a:lstStyle/>
                    <a:p>
                      <a:pPr algn="ctr"/>
                      <a:r>
                        <a:rPr sz="1100" b="1">
                          <a:solidFill>
                            <a:srgbClr val="000000"/>
                          </a:solidFill>
                          <a:latin typeface="Times New Roman"/>
                        </a:rPr>
                        <a:t>Result</a:t>
                      </a:r>
                    </a:p>
                  </a:txBody>
                  <a:tcPr anchor="ctr" marL="45720" marR="45720" marT="18288" marB="18288"/>
                </a:tc>
              </a:tr>
              <a:tr h="348615">
                <a:tc>
                  <a:txBody>
                    <a:bodyPr wrap="square"/>
                    <a:lstStyle/>
                    <a:p>
                      <a:pPr algn="l"/>
                      <a:r>
                        <a:rPr sz="1000" b="0">
                          <a:solidFill>
                            <a:srgbClr val="000000"/>
                          </a:solidFill>
                          <a:latin typeface="Times New Roman"/>
                        </a:rPr>
                        <a:t>Planner</a:t>
                      </a:r>
                    </a:p>
                  </a:txBody>
                  <a:tcPr anchor="ctr" marL="45720" marR="45720" marT="18288" marB="18288"/>
                </a:tc>
                <a:tc>
                  <a:txBody>
                    <a:bodyPr wrap="square"/>
                    <a:lstStyle/>
                    <a:p>
                      <a:pPr algn="ctr"/>
                      <a:r>
                        <a:rPr sz="1000" b="0">
                          <a:solidFill>
                            <a:srgbClr val="000000"/>
                          </a:solidFill>
                          <a:latin typeface="Times New Roman"/>
                        </a:rPr>
                        <a:t>Derived two queries from the research question and dispatched them to the Retriever</a:t>
                      </a:r>
                    </a:p>
                  </a:txBody>
                  <a:tcPr anchor="ctr" marL="45720" marR="45720" marT="18288" marB="18288"/>
                </a:tc>
                <a:tc>
                  <a:txBody>
                    <a:bodyPr wrap="square"/>
                    <a:lstStyle/>
                    <a:p>
                      <a:pPr algn="ctr"/>
                      <a:r>
                        <a:rPr sz="1000" b="0">
                          <a:solidFill>
                            <a:srgbClr val="000000"/>
                          </a:solidFill>
                          <a:latin typeface="Times New Roman"/>
                        </a:rPr>
                        <a:t>2 queries</a:t>
                      </a:r>
                    </a:p>
                  </a:txBody>
                  <a:tcPr anchor="ctr" marL="45720" marR="45720" marT="18288" marB="18288"/>
                </a:tc>
              </a:tr>
              <a:tr h="348615">
                <a:tc>
                  <a:txBody>
                    <a:bodyPr wrap="square"/>
                    <a:lstStyle/>
                    <a:p>
                      <a:pPr algn="l"/>
                      <a:r>
                        <a:rPr sz="1000" b="0">
                          <a:solidFill>
                            <a:srgbClr val="000000"/>
                          </a:solidFill>
                          <a:latin typeface="Times New Roman"/>
                        </a:rPr>
                        <a:t>Retriever</a:t>
                      </a:r>
                    </a:p>
                  </a:txBody>
                  <a:tcPr anchor="ctr" marL="45720" marR="45720" marT="18288" marB="18288"/>
                </a:tc>
                <a:tc>
                  <a:txBody>
                    <a:bodyPr wrap="square"/>
                    <a:lstStyle/>
                    <a:p>
                      <a:pPr algn="ctr"/>
                      <a:r>
                        <a:rPr sz="1000" b="0">
                          <a:solidFill>
                            <a:srgbClr val="000000"/>
                          </a:solidFill>
                          <a:latin typeface="Times New Roman"/>
                        </a:rPr>
                        <a:t>Federated search over OpenAlex, arXiv and Semantic Scholar; deduplicated by DOI, then by title</a:t>
                      </a:r>
                    </a:p>
                  </a:txBody>
                  <a:tcPr anchor="ctr" marL="45720" marR="45720" marT="18288" marB="18288"/>
                </a:tc>
                <a:tc>
                  <a:txBody>
                    <a:bodyPr wrap="square"/>
                    <a:lstStyle/>
                    <a:p>
                      <a:pPr algn="ctr"/>
                      <a:r>
                        <a:rPr sz="1000" b="0">
                          <a:solidFill>
                            <a:srgbClr val="000000"/>
                          </a:solidFill>
                          <a:latin typeface="Times New Roman"/>
                        </a:rPr>
                        <a:t>______ papers</a:t>
                      </a:r>
                    </a:p>
                  </a:txBody>
                  <a:tcPr anchor="ctr" marL="45720" marR="45720" marT="18288" marB="18288"/>
                </a:tc>
              </a:tr>
              <a:tr h="348615">
                <a:tc>
                  <a:txBody>
                    <a:bodyPr wrap="square"/>
                    <a:lstStyle/>
                    <a:p>
                      <a:pPr algn="l"/>
                      <a:r>
                        <a:rPr sz="1000" b="0">
                          <a:solidFill>
                            <a:srgbClr val="000000"/>
                          </a:solidFill>
                          <a:latin typeface="Times New Roman"/>
                        </a:rPr>
                        <a:t>Ranker</a:t>
                      </a:r>
                    </a:p>
                  </a:txBody>
                  <a:tcPr anchor="ctr" marL="45720" marR="45720" marT="18288" marB="18288"/>
                </a:tc>
                <a:tc>
                  <a:txBody>
                    <a:bodyPr wrap="square"/>
                    <a:lstStyle/>
                    <a:p>
                      <a:pPr algn="ctr"/>
                      <a:r>
                        <a:rPr sz="1000" b="0">
                          <a:solidFill>
                            <a:srgbClr val="000000"/>
                          </a:solidFill>
                          <a:latin typeface="Times New Roman"/>
                        </a:rPr>
                        <a:t>Ordered the pool on abstract and API keywords, then forwarded a one-in-ten selection</a:t>
                      </a:r>
                    </a:p>
                  </a:txBody>
                  <a:tcPr anchor="ctr" marL="45720" marR="45720" marT="18288" marB="18288"/>
                </a:tc>
                <a:tc>
                  <a:txBody>
                    <a:bodyPr wrap="square"/>
                    <a:lstStyle/>
                    <a:p>
                      <a:pPr algn="ctr"/>
                      <a:r>
                        <a:rPr sz="1000" b="0">
                          <a:solidFill>
                            <a:srgbClr val="000000"/>
                          </a:solidFill>
                          <a:latin typeface="Times New Roman"/>
                        </a:rPr>
                        <a:t>______ → ______ papers</a:t>
                      </a:r>
                    </a:p>
                  </a:txBody>
                  <a:tcPr anchor="ctr" marL="45720" marR="45720" marT="18288" marB="18288"/>
                </a:tc>
              </a:tr>
              <a:tr h="348615">
                <a:tc>
                  <a:txBody>
                    <a:bodyPr wrap="square"/>
                    <a:lstStyle/>
                    <a:p>
                      <a:pPr algn="l"/>
                      <a:r>
                        <a:rPr sz="1000" b="0">
                          <a:solidFill>
                            <a:srgbClr val="000000"/>
                          </a:solidFill>
                          <a:latin typeface="Times New Roman"/>
                        </a:rPr>
                        <a:t>Extractor</a:t>
                      </a:r>
                    </a:p>
                  </a:txBody>
                  <a:tcPr anchor="ctr" marL="45720" marR="45720" marT="18288" marB="18288"/>
                </a:tc>
                <a:tc>
                  <a:txBody>
                    <a:bodyPr wrap="square"/>
                    <a:lstStyle/>
                    <a:p>
                      <a:pPr algn="ctr"/>
                      <a:r>
                        <a:rPr sz="1000" b="0">
                          <a:solidFill>
                            <a:srgbClr val="000000"/>
                          </a:solidFill>
                          <a:latin typeface="Times New Roman"/>
                        </a:rPr>
                        <a:t>Read each forwarded paper in full from the local cache and summarised it</a:t>
                      </a:r>
                    </a:p>
                  </a:txBody>
                  <a:tcPr anchor="ctr" marL="45720" marR="45720" marT="18288" marB="18288"/>
                </a:tc>
                <a:tc>
                  <a:txBody>
                    <a:bodyPr wrap="square"/>
                    <a:lstStyle/>
                    <a:p>
                      <a:pPr algn="ctr"/>
                      <a:r>
                        <a:rPr sz="1000" b="0">
                          <a:solidFill>
                            <a:srgbClr val="000000"/>
                          </a:solidFill>
                          <a:latin typeface="Times New Roman"/>
                        </a:rPr>
                        <a:t>______ summaries</a:t>
                      </a:r>
                    </a:p>
                  </a:txBody>
                  <a:tcPr anchor="ctr" marL="45720" marR="45720" marT="18288" marB="18288"/>
                </a:tc>
              </a:tr>
              <a:tr h="348615">
                <a:tc>
                  <a:txBody>
                    <a:bodyPr wrap="square"/>
                    <a:lstStyle/>
                    <a:p>
                      <a:pPr algn="l"/>
                      <a:r>
                        <a:rPr sz="1000" b="0">
                          <a:solidFill>
                            <a:srgbClr val="000000"/>
                          </a:solidFill>
                          <a:latin typeface="Times New Roman"/>
                        </a:rPr>
                        <a:t>Writer</a:t>
                      </a:r>
                    </a:p>
                  </a:txBody>
                  <a:tcPr anchor="ctr" marL="45720" marR="45720" marT="18288" marB="18288"/>
                </a:tc>
                <a:tc>
                  <a:txBody>
                    <a:bodyPr wrap="square"/>
                    <a:lstStyle/>
                    <a:p>
                      <a:pPr algn="ctr"/>
                      <a:r>
                        <a:rPr sz="1000" b="0">
                          <a:solidFill>
                            <a:srgbClr val="000000"/>
                          </a:solidFill>
                          <a:latin typeface="Times New Roman"/>
                        </a:rPr>
                        <a:t>Composed the review under architecture, metrics, datasets, and advantages and disadvantages</a:t>
                      </a:r>
                    </a:p>
                  </a:txBody>
                  <a:tcPr anchor="ctr" marL="45720" marR="45720" marT="18288" marB="18288"/>
                </a:tc>
                <a:tc>
                  <a:txBody>
                    <a:bodyPr wrap="square"/>
                    <a:lstStyle/>
                    <a:p>
                      <a:pPr algn="ctr"/>
                      <a:r>
                        <a:rPr sz="1000" b="0">
                          <a:solidFill>
                            <a:srgbClr val="000000"/>
                          </a:solidFill>
                          <a:latin typeface="Times New Roman"/>
                        </a:rPr>
                        <a:t>4 sections</a:t>
                      </a:r>
                    </a:p>
                  </a:txBody>
                  <a:tcPr anchor="ctr" marL="45720" marR="45720" marT="18288" marB="18288"/>
                </a:tc>
              </a:tr>
              <a:tr h="348615">
                <a:tc>
                  <a:txBody>
                    <a:bodyPr wrap="square"/>
                    <a:lstStyle/>
                    <a:p>
                      <a:pPr algn="l"/>
                      <a:r>
                        <a:rPr sz="1000" b="0">
                          <a:solidFill>
                            <a:srgbClr val="000000"/>
                          </a:solidFill>
                          <a:latin typeface="Times New Roman"/>
                        </a:rPr>
                        <a:t>Verifier ★</a:t>
                      </a:r>
                    </a:p>
                  </a:txBody>
                  <a:tcPr anchor="ctr" marL="45720" marR="45720" marT="18288" marB="18288"/>
                </a:tc>
                <a:tc>
                  <a:txBody>
                    <a:bodyPr wrap="square"/>
                    <a:lstStyle/>
                    <a:p>
                      <a:pPr algn="ctr"/>
                      <a:r>
                        <a:rPr sz="1000" b="0">
                          <a:solidFill>
                            <a:srgbClr val="000000"/>
                          </a:solidFill>
                          <a:latin typeface="Times New Roman"/>
                        </a:rPr>
                        <a:t>Re-checked every statement against the cached source and attached its citation</a:t>
                      </a:r>
                    </a:p>
                  </a:txBody>
                  <a:tcPr anchor="ctr" marL="45720" marR="45720" marT="18288" marB="18288"/>
                </a:tc>
                <a:tc>
                  <a:txBody>
                    <a:bodyPr wrap="square"/>
                    <a:lstStyle/>
                    <a:p>
                      <a:pPr algn="ctr"/>
                      <a:r>
                        <a:rPr sz="1000" b="0">
                          <a:solidFill>
                            <a:srgbClr val="000000"/>
                          </a:solidFill>
                          <a:latin typeface="Times New Roman"/>
                        </a:rPr>
                        <a:t>______ kept / ______ dropped</a:t>
                      </a:r>
                    </a:p>
                  </a:txBody>
                  <a:tcPr anchor="ctr" marL="45720" marR="45720" marT="18288" marB="18288"/>
                </a:tc>
              </a:tr>
              <a:tr h="348615">
                <a:tc>
                  <a:txBody>
                    <a:bodyPr wrap="square"/>
                    <a:lstStyle/>
                    <a:p>
                      <a:pPr algn="l"/>
                      <a:r>
                        <a:rPr sz="1000" b="0">
                          <a:solidFill>
                            <a:srgbClr val="000000"/>
                          </a:solidFill>
                          <a:latin typeface="Times New Roman"/>
                        </a:rPr>
                        <a:t>Critic</a:t>
                      </a:r>
                    </a:p>
                  </a:txBody>
                  <a:tcPr anchor="ctr" marL="45720" marR="45720" marT="18288" marB="18288"/>
                </a:tc>
                <a:tc>
                  <a:txBody>
                    <a:bodyPr wrap="square"/>
                    <a:lstStyle/>
                    <a:p>
                      <a:pPr algn="ctr"/>
                      <a:r>
                        <a:rPr sz="1000" b="0">
                          <a:solidFill>
                            <a:srgbClr val="000000"/>
                          </a:solidFill>
                          <a:latin typeface="Times New Roman"/>
                        </a:rPr>
                        <a:t>Scored the prompt and the finished review on content and on reasoning</a:t>
                      </a:r>
                    </a:p>
                  </a:txBody>
                  <a:tcPr anchor="ctr" marL="45720" marR="45720" marT="18288" marB="18288"/>
                </a:tc>
                <a:tc>
                  <a:txBody>
                    <a:bodyPr wrap="square"/>
                    <a:lstStyle/>
                    <a:p>
                      <a:pPr algn="ctr"/>
                      <a:r>
                        <a:rPr sz="1000" b="0">
                          <a:solidFill>
                            <a:srgbClr val="000000"/>
                          </a:solidFill>
                          <a:latin typeface="Times New Roman"/>
                        </a:rPr>
                        <a:t>score ______</a:t>
                      </a:r>
                    </a:p>
                  </a:txBody>
                  <a:tcPr anchor="ctr" marL="45720" marR="45720" marT="18288" marB="18288"/>
                </a:tc>
              </a:tr>
            </a:tbl>
          </a:graphicData>
        </a:graphic>
      </p:graphicFrame>
      <p:sp>
        <p:nvSpPr>
          <p:cNvPr id="5" name="TextBox 4"/>
          <p:cNvSpPr txBox="1"/>
          <p:nvPr/>
        </p:nvSpPr>
        <p:spPr>
          <a:xfrm>
            <a:off x="228600" y="3767328"/>
            <a:ext cx="8686800" cy="1170432"/>
          </a:xfrm>
          <a:prstGeom prst="rect">
            <a:avLst/>
          </a:prstGeom>
          <a:noFill/>
        </p:spPr>
        <p:txBody>
          <a:bodyPr wrap="square" lIns="0" rIns="0" tIns="0" bIns="0">
            <a:spAutoFit/>
          </a:bodyPr>
          <a:lstStyle/>
          <a:p>
            <a:pPr algn="just">
              <a:lnSpc>
                <a:spcPct val="100000"/>
              </a:lnSpc>
              <a:spcAft>
                <a:spcPts val="300"/>
              </a:spcAft>
            </a:pPr>
            <a:r>
              <a:rPr sz="1050" b="1">
                <a:solidFill>
                  <a:srgbClr val="000000"/>
                </a:solidFill>
                <a:latin typeface="Times New Roman"/>
              </a:rPr>
              <a:t>Case study — one complete run, end to end. </a:t>
            </a:r>
            <a:r>
              <a:rPr sz="1050" b="0">
                <a:solidFill>
                  <a:srgbClr val="000000"/>
                </a:solidFill>
                <a:latin typeface="Times New Roman"/>
              </a:rPr>
              <a:t>The question was “How do multi-agent retrieval-augmented systems reduce hallucination in automated literature review?”. This run is the one the demonstration replays, and its artefact directory is itself the fixture — so what is shown in the room is the record every figure here was computed from.</a:t>
            </a:r>
          </a:p>
          <a:p>
            <a:pPr algn="just">
              <a:lnSpc>
                <a:spcPct val="100000"/>
              </a:lnSpc>
              <a:spcAft>
                <a:spcPts val="300"/>
              </a:spcAft>
            </a:pPr>
            <a:r>
              <a:rPr sz="1050" b="1">
                <a:solidFill>
                  <a:srgbClr val="000000"/>
                </a:solidFill>
                <a:latin typeface="Times New Roman"/>
              </a:rPr>
              <a:t>State the weakness before it is found. </a:t>
            </a:r>
            <a:r>
              <a:rPr sz="1050" b="0">
                <a:solidFill>
                  <a:srgbClr val="000000"/>
                </a:solidFill>
                <a:latin typeface="Times New Roman"/>
              </a:rPr>
              <a:t>The Ranker cuts nine of every ten retrieved papers on metadata alone, before any full text is read. Nothing downstream can recover a paper the Ranker dropped, so the selection ratio — not the Verifier — sets the ceiling on what the review can say.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Experimental Results in the Table Format</a:t>
            </a:r>
          </a:p>
        </p:txBody>
      </p:sp>
      <p:graphicFrame>
        <p:nvGraphicFramePr>
          <p:cNvPr id="4" name="Table 3"/>
          <p:cNvGraphicFramePr>
            <a:graphicFrameLocks noGrp="1"/>
          </p:cNvGraphicFramePr>
          <p:nvPr/>
        </p:nvGraphicFramePr>
        <p:xfrm>
          <a:off x="342900" y="868680"/>
          <a:ext cx="8458199" cy="2788920"/>
        </p:xfrm>
        <a:graphic>
          <a:graphicData uri="http://schemas.openxmlformats.org/drawingml/2006/table">
            <a:tbl>
              <a:tblPr firstRow="1" bandRow="1">
                <a:tableStyleId>{5C22544A-7EE6-4342-B048-85BDC9FD1C3A}</a:tableStyleId>
              </a:tblPr>
              <a:tblGrid>
                <a:gridCol w="1737360"/>
                <a:gridCol w="868680"/>
                <a:gridCol w="2194560"/>
                <a:gridCol w="640080"/>
                <a:gridCol w="1874519"/>
                <a:gridCol w="1143000"/>
              </a:tblGrid>
              <a:tr h="398417">
                <a:tc>
                  <a:txBody>
                    <a:bodyPr wrap="square"/>
                    <a:lstStyle/>
                    <a:p>
                      <a:pPr algn="ctr"/>
                      <a:r>
                        <a:rPr sz="1100" b="1">
                          <a:solidFill>
                            <a:srgbClr val="000000"/>
                          </a:solidFill>
                          <a:latin typeface="Times New Roman"/>
                        </a:rPr>
                        <a:t>Component</a:t>
                      </a:r>
                    </a:p>
                  </a:txBody>
                  <a:tcPr anchor="ctr" marL="45720" marR="45720" marT="18288" marB="18288"/>
                </a:tc>
                <a:tc>
                  <a:txBody>
                    <a:bodyPr wrap="square"/>
                    <a:lstStyle/>
                    <a:p>
                      <a:pPr algn="ctr"/>
                      <a:r>
                        <a:rPr sz="1100" b="1">
                          <a:solidFill>
                            <a:srgbClr val="000000"/>
                          </a:solidFill>
                          <a:latin typeface="Times New Roman"/>
                        </a:rPr>
                        <a:t>Trained?</a:t>
                      </a:r>
                    </a:p>
                  </a:txBody>
                  <a:tcPr anchor="ctr" marL="45720" marR="45720" marT="18288" marB="18288"/>
                </a:tc>
                <a:tc>
                  <a:txBody>
                    <a:bodyPr wrap="square"/>
                    <a:lstStyle/>
                    <a:p>
                      <a:pPr algn="ctr"/>
                      <a:r>
                        <a:rPr sz="1100" b="1">
                          <a:solidFill>
                            <a:srgbClr val="000000"/>
                          </a:solidFill>
                          <a:latin typeface="Times New Roman"/>
                        </a:rPr>
                        <a:t>Base model</a:t>
                      </a:r>
                    </a:p>
                  </a:txBody>
                  <a:tcPr anchor="ctr" marL="45720" marR="45720" marT="18288" marB="18288"/>
                </a:tc>
                <a:tc>
                  <a:txBody>
                    <a:bodyPr wrap="square"/>
                    <a:lstStyle/>
                    <a:p>
                      <a:pPr algn="ctr"/>
                      <a:r>
                        <a:rPr sz="1100" b="1">
                          <a:solidFill>
                            <a:srgbClr val="000000"/>
                          </a:solidFill>
                          <a:latin typeface="Times New Roman"/>
                        </a:rPr>
                        <a:t>Params</a:t>
                      </a:r>
                    </a:p>
                  </a:txBody>
                  <a:tcPr anchor="ctr" marL="45720" marR="45720" marT="18288" marB="18288"/>
                </a:tc>
                <a:tc>
                  <a:txBody>
                    <a:bodyPr wrap="square"/>
                    <a:lstStyle/>
                    <a:p>
                      <a:pPr algn="ctr"/>
                      <a:r>
                        <a:rPr sz="1100" b="1">
                          <a:solidFill>
                            <a:srgbClr val="000000"/>
                          </a:solidFill>
                          <a:latin typeface="Times New Roman"/>
                        </a:rPr>
                        <a:t>Training data</a:t>
                      </a:r>
                    </a:p>
                  </a:txBody>
                  <a:tcPr anchor="ctr" marL="45720" marR="45720" marT="18288" marB="18288"/>
                </a:tc>
                <a:tc>
                  <a:txBody>
                    <a:bodyPr wrap="square"/>
                    <a:lstStyle/>
                    <a:p>
                      <a:pPr algn="ctr"/>
                      <a:r>
                        <a:rPr sz="1100" b="1">
                          <a:solidFill>
                            <a:srgbClr val="000000"/>
                          </a:solidFill>
                          <a:latin typeface="Times New Roman"/>
                        </a:rPr>
                        <a:t>Deployment</a:t>
                      </a:r>
                    </a:p>
                  </a:txBody>
                  <a:tcPr anchor="ctr" marL="45720" marR="45720" marT="18288" marB="18288"/>
                </a:tc>
              </a:tr>
              <a:tr h="398417">
                <a:tc>
                  <a:txBody>
                    <a:bodyPr wrap="square"/>
                    <a:lstStyle/>
                    <a:p>
                      <a:pPr algn="l"/>
                      <a:r>
                        <a:rPr sz="950" b="0">
                          <a:solidFill>
                            <a:srgbClr val="000000"/>
                          </a:solidFill>
                          <a:latin typeface="Times New Roman"/>
                        </a:rPr>
                        <a:t>Cross-encoder Ranker</a:t>
                      </a:r>
                    </a:p>
                  </a:txBody>
                  <a:tcPr anchor="ctr" marL="45720" marR="45720" marT="18288" marB="18288"/>
                </a:tc>
                <a:tc>
                  <a:txBody>
                    <a:bodyPr wrap="square"/>
                    <a:lstStyle/>
                    <a:p>
                      <a:pPr algn="ctr"/>
                      <a:r>
                        <a:rPr sz="950" b="0">
                          <a:solidFill>
                            <a:srgbClr val="000000"/>
                          </a:solidFill>
                          <a:latin typeface="Times New Roman"/>
                        </a:rPr>
                        <a:t>Fine-tuned</a:t>
                      </a:r>
                    </a:p>
                  </a:txBody>
                  <a:tcPr anchor="ctr" marL="45720" marR="45720" marT="18288" marB="18288"/>
                </a:tc>
                <a:tc>
                  <a:txBody>
                    <a:bodyPr wrap="square"/>
                    <a:lstStyle/>
                    <a:p>
                      <a:pPr algn="ctr"/>
                      <a:r>
                        <a:rPr sz="950" b="0">
                          <a:solidFill>
                            <a:srgbClr val="000000"/>
                          </a:solidFill>
                          <a:latin typeface="Times New Roman"/>
                        </a:rPr>
                        <a:t>ms-marco-MiniLM-L-6-v2</a:t>
                      </a:r>
                    </a:p>
                  </a:txBody>
                  <a:tcPr anchor="ctr" marL="45720" marR="45720" marT="18288" marB="18288"/>
                </a:tc>
                <a:tc>
                  <a:txBody>
                    <a:bodyPr wrap="square"/>
                    <a:lstStyle/>
                    <a:p>
                      <a:pPr algn="ctr"/>
                      <a:r>
                        <a:rPr sz="950" b="0">
                          <a:solidFill>
                            <a:srgbClr val="000000"/>
                          </a:solidFill>
                          <a:latin typeface="Times New Roman"/>
                        </a:rPr>
                        <a:t>22M</a:t>
                      </a:r>
                    </a:p>
                  </a:txBody>
                  <a:tcPr anchor="ctr" marL="45720" marR="45720" marT="18288" marB="18288"/>
                </a:tc>
                <a:tc>
                  <a:txBody>
                    <a:bodyPr wrap="square"/>
                    <a:lstStyle/>
                    <a:p>
                      <a:pPr algn="ctr"/>
                      <a:r>
                        <a:rPr sz="950" b="0">
                          <a:solidFill>
                            <a:srgbClr val="000000"/>
                          </a:solidFill>
                          <a:latin typeface="Times New Roman"/>
                        </a:rPr>
                        <a:t>SciReviewGen</a:t>
                      </a:r>
                    </a:p>
                  </a:txBody>
                  <a:tcPr anchor="ctr" marL="45720" marR="45720" marT="18288" marB="18288"/>
                </a:tc>
                <a:tc>
                  <a:txBody>
                    <a:bodyPr wrap="square"/>
                    <a:lstStyle/>
                    <a:p>
                      <a:pPr algn="ctr"/>
                      <a:r>
                        <a:rPr sz="950" b="0">
                          <a:solidFill>
                            <a:srgbClr val="000000"/>
                          </a:solidFill>
                          <a:latin typeface="Times New Roman"/>
                        </a:rPr>
                        <a:t>CPU, ONNX int8</a:t>
                      </a:r>
                    </a:p>
                  </a:txBody>
                  <a:tcPr anchor="ctr" marL="45720" marR="45720" marT="18288" marB="18288"/>
                </a:tc>
              </a:tr>
              <a:tr h="398417">
                <a:tc>
                  <a:txBody>
                    <a:bodyPr wrap="square"/>
                    <a:lstStyle/>
                    <a:p>
                      <a:pPr algn="l"/>
                      <a:r>
                        <a:rPr sz="950" b="0">
                          <a:solidFill>
                            <a:srgbClr val="000000"/>
                          </a:solidFill>
                          <a:latin typeface="Times New Roman"/>
                        </a:rPr>
                        <a:t>Extractor + Writer
(Summary Generation)</a:t>
                      </a:r>
                    </a:p>
                  </a:txBody>
                  <a:tcPr anchor="ctr" marL="45720" marR="45720" marT="18288" marB="18288"/>
                </a:tc>
                <a:tc>
                  <a:txBody>
                    <a:bodyPr wrap="square"/>
                    <a:lstStyle/>
                    <a:p>
                      <a:pPr algn="ctr"/>
                      <a:r>
                        <a:rPr sz="950" b="0">
                          <a:solidFill>
                            <a:srgbClr val="000000"/>
                          </a:solidFill>
                          <a:latin typeface="Times New Roman"/>
                        </a:rPr>
                        <a:t>Fine-tuned</a:t>
                      </a:r>
                    </a:p>
                  </a:txBody>
                  <a:tcPr anchor="ctr" marL="45720" marR="45720" marT="18288" marB="18288"/>
                </a:tc>
                <a:tc>
                  <a:txBody>
                    <a:bodyPr wrap="square"/>
                    <a:lstStyle/>
                    <a:p>
                      <a:pPr algn="ctr"/>
                      <a:r>
                        <a:rPr sz="950" b="0">
                          <a:solidFill>
                            <a:srgbClr val="000000"/>
                          </a:solidFill>
                          <a:latin typeface="Times New Roman"/>
                        </a:rPr>
                        <a:t>facebook/bart-base</a:t>
                      </a:r>
                    </a:p>
                  </a:txBody>
                  <a:tcPr anchor="ctr" marL="45720" marR="45720" marT="18288" marB="18288"/>
                </a:tc>
                <a:tc>
                  <a:txBody>
                    <a:bodyPr wrap="square"/>
                    <a:lstStyle/>
                    <a:p>
                      <a:pPr algn="ctr"/>
                      <a:r>
                        <a:rPr sz="950" b="0">
                          <a:solidFill>
                            <a:srgbClr val="000000"/>
                          </a:solidFill>
                          <a:latin typeface="Times New Roman"/>
                        </a:rPr>
                        <a:t>139M</a:t>
                      </a:r>
                    </a:p>
                  </a:txBody>
                  <a:tcPr anchor="ctr" marL="45720" marR="45720" marT="18288" marB="18288"/>
                </a:tc>
                <a:tc>
                  <a:txBody>
                    <a:bodyPr wrap="square"/>
                    <a:lstStyle/>
                    <a:p>
                      <a:pPr algn="ctr"/>
                      <a:r>
                        <a:rPr sz="950" b="0">
                          <a:solidFill>
                            <a:srgbClr val="000000"/>
                          </a:solidFill>
                          <a:latin typeface="Times New Roman"/>
                        </a:rPr>
                        <a:t>CNN/DailyMail, then SciReviewGen</a:t>
                      </a:r>
                    </a:p>
                  </a:txBody>
                  <a:tcPr anchor="ctr" marL="45720" marR="45720" marT="18288" marB="18288"/>
                </a:tc>
                <a:tc>
                  <a:txBody>
                    <a:bodyPr wrap="square"/>
                    <a:lstStyle/>
                    <a:p>
                      <a:pPr algn="ctr"/>
                      <a:r>
                        <a:rPr sz="950" b="0">
                          <a:solidFill>
                            <a:srgbClr val="000000"/>
                          </a:solidFill>
                          <a:latin typeface="Times New Roman"/>
                        </a:rPr>
                        <a:t>CPU, ONNX int8</a:t>
                      </a:r>
                    </a:p>
                  </a:txBody>
                  <a:tcPr anchor="ctr" marL="45720" marR="45720" marT="18288" marB="18288"/>
                </a:tc>
              </a:tr>
              <a:tr h="398417">
                <a:tc>
                  <a:txBody>
                    <a:bodyPr wrap="square"/>
                    <a:lstStyle/>
                    <a:p>
                      <a:pPr algn="l"/>
                      <a:r>
                        <a:rPr sz="950" b="0">
                          <a:solidFill>
                            <a:srgbClr val="000000"/>
                          </a:solidFill>
                          <a:latin typeface="Times New Roman"/>
                        </a:rPr>
                        <a:t>Claim Verifier ★</a:t>
                      </a:r>
                    </a:p>
                  </a:txBody>
                  <a:tcPr anchor="ctr" marL="45720" marR="45720" marT="18288" marB="18288"/>
                </a:tc>
                <a:tc>
                  <a:txBody>
                    <a:bodyPr wrap="square"/>
                    <a:lstStyle/>
                    <a:p>
                      <a:pPr algn="ctr"/>
                      <a:r>
                        <a:rPr sz="950" b="0">
                          <a:solidFill>
                            <a:srgbClr val="000000"/>
                          </a:solidFill>
                          <a:latin typeface="Times New Roman"/>
                        </a:rPr>
                        <a:t>Fine-tuned</a:t>
                      </a:r>
                    </a:p>
                  </a:txBody>
                  <a:tcPr anchor="ctr" marL="45720" marR="45720" marT="18288" marB="18288"/>
                </a:tc>
                <a:tc>
                  <a:txBody>
                    <a:bodyPr wrap="square"/>
                    <a:lstStyle/>
                    <a:p>
                      <a:pPr algn="ctr"/>
                      <a:r>
                        <a:rPr sz="950" b="0">
                          <a:solidFill>
                            <a:srgbClr val="000000"/>
                          </a:solidFill>
                          <a:latin typeface="Times New Roman"/>
                        </a:rPr>
                        <a:t>deberta-v3-small (NLI warm start)</a:t>
                      </a:r>
                    </a:p>
                  </a:txBody>
                  <a:tcPr anchor="ctr" marL="45720" marR="45720" marT="18288" marB="18288"/>
                </a:tc>
                <a:tc>
                  <a:txBody>
                    <a:bodyPr wrap="square"/>
                    <a:lstStyle/>
                    <a:p>
                      <a:pPr algn="ctr"/>
                      <a:r>
                        <a:rPr sz="950" b="0">
                          <a:solidFill>
                            <a:srgbClr val="000000"/>
                          </a:solidFill>
                          <a:latin typeface="Times New Roman"/>
                        </a:rPr>
                        <a:t>44M</a:t>
                      </a:r>
                    </a:p>
                  </a:txBody>
                  <a:tcPr anchor="ctr" marL="45720" marR="45720" marT="18288" marB="18288"/>
                </a:tc>
                <a:tc>
                  <a:txBody>
                    <a:bodyPr wrap="square"/>
                    <a:lstStyle/>
                    <a:p>
                      <a:pPr algn="ctr"/>
                      <a:r>
                        <a:rPr sz="950" b="0">
                          <a:solidFill>
                            <a:srgbClr val="000000"/>
                          </a:solidFill>
                          <a:latin typeface="Times New Roman"/>
                        </a:rPr>
                        <a:t>SciFact</a:t>
                      </a:r>
                    </a:p>
                  </a:txBody>
                  <a:tcPr anchor="ctr" marL="45720" marR="45720" marT="18288" marB="18288"/>
                </a:tc>
                <a:tc>
                  <a:txBody>
                    <a:bodyPr wrap="square"/>
                    <a:lstStyle/>
                    <a:p>
                      <a:pPr algn="ctr"/>
                      <a:r>
                        <a:rPr sz="950" b="0">
                          <a:solidFill>
                            <a:srgbClr val="000000"/>
                          </a:solidFill>
                          <a:latin typeface="Times New Roman"/>
                        </a:rPr>
                        <a:t>CPU, ONNX int8</a:t>
                      </a:r>
                    </a:p>
                  </a:txBody>
                  <a:tcPr anchor="ctr" marL="45720" marR="45720" marT="18288" marB="18288"/>
                </a:tc>
              </a:tr>
              <a:tr h="398417">
                <a:tc>
                  <a:txBody>
                    <a:bodyPr wrap="square"/>
                    <a:lstStyle/>
                    <a:p>
                      <a:pPr algn="l"/>
                      <a:r>
                        <a:rPr sz="950" b="0">
                          <a:solidFill>
                            <a:srgbClr val="000000"/>
                          </a:solidFill>
                          <a:latin typeface="Times New Roman"/>
                        </a:rPr>
                        <a:t>Planner</a:t>
                      </a:r>
                    </a:p>
                  </a:txBody>
                  <a:tcPr anchor="ctr" marL="45720" marR="45720" marT="18288" marB="18288"/>
                </a:tc>
                <a:tc>
                  <a:txBody>
                    <a:bodyPr wrap="square"/>
                    <a:lstStyle/>
                    <a:p>
                      <a:pPr algn="ctr"/>
                      <a:r>
                        <a:rPr sz="950" b="0">
                          <a:solidFill>
                            <a:srgbClr val="000000"/>
                          </a:solidFill>
                          <a:latin typeface="Times New Roman"/>
                        </a:rPr>
                        <a:t>Prompted</a:t>
                      </a:r>
                    </a:p>
                  </a:txBody>
                  <a:tcPr anchor="ctr" marL="45720" marR="45720" marT="18288" marB="18288"/>
                </a:tc>
                <a:tc>
                  <a:txBody>
                    <a:bodyPr wrap="square"/>
                    <a:lstStyle/>
                    <a:p>
                      <a:pPr algn="ctr"/>
                      <a:r>
                        <a:rPr sz="950" b="0">
                          <a:solidFill>
                            <a:srgbClr val="000000"/>
                          </a:solidFill>
                          <a:latin typeface="Times New Roman"/>
                        </a:rPr>
                        <a:t>openai/gpt-oss-20b (open-weight)</a:t>
                      </a:r>
                    </a:p>
                  </a:txBody>
                  <a:tcPr anchor="ctr" marL="45720" marR="45720" marT="18288" marB="18288"/>
                </a:tc>
                <a:tc>
                  <a:txBody>
                    <a:bodyPr wrap="square"/>
                    <a:lstStyle/>
                    <a:p>
                      <a:pPr algn="ctr"/>
                      <a:r>
                        <a:rPr sz="950" b="0">
                          <a:solidFill>
                            <a:srgbClr val="000000"/>
                          </a:solidFill>
                          <a:latin typeface="Times New Roman"/>
                        </a:rPr>
                        <a:t>20B</a:t>
                      </a:r>
                    </a:p>
                  </a:txBody>
                  <a:tcPr anchor="ctr" marL="45720" marR="45720" marT="18288" marB="18288"/>
                </a:tc>
                <a:tc>
                  <a:txBody>
                    <a:bodyPr wrap="square"/>
                    <a:lstStyle/>
                    <a:p>
                      <a:pPr algn="ctr"/>
                      <a:r>
                        <a:rPr sz="950" b="0">
                          <a:solidFill>
                            <a:srgbClr val="000000"/>
                          </a:solidFill>
                          <a:latin typeface="Times New Roman"/>
                        </a:rPr>
                        <a:t>—</a:t>
                      </a:r>
                    </a:p>
                  </a:txBody>
                  <a:tcPr anchor="ctr" marL="45720" marR="45720" marT="18288" marB="18288"/>
                </a:tc>
                <a:tc>
                  <a:txBody>
                    <a:bodyPr wrap="square"/>
                    <a:lstStyle/>
                    <a:p>
                      <a:pPr algn="ctr"/>
                      <a:r>
                        <a:rPr sz="950" b="0">
                          <a:solidFill>
                            <a:srgbClr val="000000"/>
                          </a:solidFill>
                          <a:latin typeface="Times New Roman"/>
                        </a:rPr>
                        <a:t>Hosted, zero-cost</a:t>
                      </a:r>
                    </a:p>
                  </a:txBody>
                  <a:tcPr anchor="ctr" marL="45720" marR="45720" marT="18288" marB="18288"/>
                </a:tc>
              </a:tr>
              <a:tr h="398417">
                <a:tc>
                  <a:txBody>
                    <a:bodyPr wrap="square"/>
                    <a:lstStyle/>
                    <a:p>
                      <a:pPr algn="l"/>
                      <a:r>
                        <a:rPr sz="950" b="0">
                          <a:solidFill>
                            <a:srgbClr val="000000"/>
                          </a:solidFill>
                          <a:latin typeface="Times New Roman"/>
                        </a:rPr>
                        <a:t>Critic (scoring)</a:t>
                      </a:r>
                    </a:p>
                  </a:txBody>
                  <a:tcPr anchor="ctr" marL="45720" marR="45720" marT="18288" marB="18288"/>
                </a:tc>
                <a:tc>
                  <a:txBody>
                    <a:bodyPr wrap="square"/>
                    <a:lstStyle/>
                    <a:p>
                      <a:pPr algn="ctr"/>
                      <a:r>
                        <a:rPr sz="950" b="0">
                          <a:solidFill>
                            <a:srgbClr val="000000"/>
                          </a:solidFill>
                          <a:latin typeface="Times New Roman"/>
                        </a:rPr>
                        <a:t>Prompted</a:t>
                      </a:r>
                    </a:p>
                  </a:txBody>
                  <a:tcPr anchor="ctr" marL="45720" marR="45720" marT="18288" marB="18288"/>
                </a:tc>
                <a:tc>
                  <a:txBody>
                    <a:bodyPr wrap="square"/>
                    <a:lstStyle/>
                    <a:p>
                      <a:pPr algn="ctr"/>
                      <a:r>
                        <a:rPr sz="950" b="0">
                          <a:solidFill>
                            <a:srgbClr val="000000"/>
                          </a:solidFill>
                          <a:latin typeface="Times New Roman"/>
                        </a:rPr>
                        <a:t>openai/gpt-oss-20b (open-weight)</a:t>
                      </a:r>
                    </a:p>
                  </a:txBody>
                  <a:tcPr anchor="ctr" marL="45720" marR="45720" marT="18288" marB="18288"/>
                </a:tc>
                <a:tc>
                  <a:txBody>
                    <a:bodyPr wrap="square"/>
                    <a:lstStyle/>
                    <a:p>
                      <a:pPr algn="ctr"/>
                      <a:r>
                        <a:rPr sz="950" b="0">
                          <a:solidFill>
                            <a:srgbClr val="000000"/>
                          </a:solidFill>
                          <a:latin typeface="Times New Roman"/>
                        </a:rPr>
                        <a:t>20B</a:t>
                      </a:r>
                    </a:p>
                  </a:txBody>
                  <a:tcPr anchor="ctr" marL="45720" marR="45720" marT="18288" marB="18288"/>
                </a:tc>
                <a:tc>
                  <a:txBody>
                    <a:bodyPr wrap="square"/>
                    <a:lstStyle/>
                    <a:p>
                      <a:pPr algn="ctr"/>
                      <a:r>
                        <a:rPr sz="950" b="0">
                          <a:solidFill>
                            <a:srgbClr val="000000"/>
                          </a:solidFill>
                          <a:latin typeface="Times New Roman"/>
                        </a:rPr>
                        <a:t>—</a:t>
                      </a:r>
                    </a:p>
                  </a:txBody>
                  <a:tcPr anchor="ctr" marL="45720" marR="45720" marT="18288" marB="18288"/>
                </a:tc>
                <a:tc>
                  <a:txBody>
                    <a:bodyPr wrap="square"/>
                    <a:lstStyle/>
                    <a:p>
                      <a:pPr algn="ctr"/>
                      <a:r>
                        <a:rPr sz="950" b="0">
                          <a:solidFill>
                            <a:srgbClr val="000000"/>
                          </a:solidFill>
                          <a:latin typeface="Times New Roman"/>
                        </a:rPr>
                        <a:t>Hosted, zero-cost</a:t>
                      </a:r>
                    </a:p>
                  </a:txBody>
                  <a:tcPr anchor="ctr" marL="45720" marR="45720" marT="18288" marB="18288"/>
                </a:tc>
              </a:tr>
              <a:tr h="398418">
                <a:tc>
                  <a:txBody>
                    <a:bodyPr wrap="square"/>
                    <a:lstStyle/>
                    <a:p>
                      <a:pPr algn="l"/>
                      <a:r>
                        <a:rPr sz="950" b="0">
                          <a:solidFill>
                            <a:srgbClr val="000000"/>
                          </a:solidFill>
                          <a:latin typeface="Times New Roman"/>
                        </a:rPr>
                        <a:t>Embeddings</a:t>
                      </a:r>
                    </a:p>
                  </a:txBody>
                  <a:tcPr anchor="ctr" marL="45720" marR="45720" marT="18288" marB="18288"/>
                </a:tc>
                <a:tc>
                  <a:txBody>
                    <a:bodyPr wrap="square"/>
                    <a:lstStyle/>
                    <a:p>
                      <a:pPr algn="ctr"/>
                      <a:r>
                        <a:rPr sz="950" b="0">
                          <a:solidFill>
                            <a:srgbClr val="000000"/>
                          </a:solidFill>
                          <a:latin typeface="Times New Roman"/>
                        </a:rPr>
                        <a:t>Frozen</a:t>
                      </a:r>
                    </a:p>
                  </a:txBody>
                  <a:tcPr anchor="ctr" marL="45720" marR="45720" marT="18288" marB="18288"/>
                </a:tc>
                <a:tc>
                  <a:txBody>
                    <a:bodyPr wrap="square"/>
                    <a:lstStyle/>
                    <a:p>
                      <a:pPr algn="ctr"/>
                      <a:r>
                        <a:rPr sz="950" b="0">
                          <a:solidFill>
                            <a:srgbClr val="000000"/>
                          </a:solidFill>
                          <a:latin typeface="Times New Roman"/>
                        </a:rPr>
                        <a:t>BAAI/bge-small-en-v1.5</a:t>
                      </a:r>
                    </a:p>
                  </a:txBody>
                  <a:tcPr anchor="ctr" marL="45720" marR="45720" marT="18288" marB="18288"/>
                </a:tc>
                <a:tc>
                  <a:txBody>
                    <a:bodyPr wrap="square"/>
                    <a:lstStyle/>
                    <a:p>
                      <a:pPr algn="ctr"/>
                      <a:r>
                        <a:rPr sz="950" b="0">
                          <a:solidFill>
                            <a:srgbClr val="000000"/>
                          </a:solidFill>
                          <a:latin typeface="Times New Roman"/>
                        </a:rPr>
                        <a:t>33M</a:t>
                      </a:r>
                    </a:p>
                  </a:txBody>
                  <a:tcPr anchor="ctr" marL="45720" marR="45720" marT="18288" marB="18288"/>
                </a:tc>
                <a:tc>
                  <a:txBody>
                    <a:bodyPr wrap="square"/>
                    <a:lstStyle/>
                    <a:p>
                      <a:pPr algn="ctr"/>
                      <a:r>
                        <a:rPr sz="950" b="0">
                          <a:solidFill>
                            <a:srgbClr val="000000"/>
                          </a:solidFill>
                          <a:latin typeface="Times New Roman"/>
                        </a:rPr>
                        <a:t>—</a:t>
                      </a:r>
                    </a:p>
                  </a:txBody>
                  <a:tcPr anchor="ctr" marL="45720" marR="45720" marT="18288" marB="18288"/>
                </a:tc>
                <a:tc>
                  <a:txBody>
                    <a:bodyPr wrap="square"/>
                    <a:lstStyle/>
                    <a:p>
                      <a:pPr algn="ctr"/>
                      <a:r>
                        <a:rPr sz="950" b="0">
                          <a:solidFill>
                            <a:srgbClr val="000000"/>
                          </a:solidFill>
                          <a:latin typeface="Times New Roman"/>
                        </a:rPr>
                        <a:t>CPU</a:t>
                      </a:r>
                    </a:p>
                  </a:txBody>
                  <a:tcPr anchor="ctr" marL="45720" marR="45720" marT="18288" marB="18288"/>
                </a:tc>
              </a:tr>
            </a:tbl>
          </a:graphicData>
        </a:graphic>
      </p:graphicFrame>
      <p:sp>
        <p:nvSpPr>
          <p:cNvPr id="5" name="TextBox 4"/>
          <p:cNvSpPr txBox="1"/>
          <p:nvPr/>
        </p:nvSpPr>
        <p:spPr>
          <a:xfrm>
            <a:off x="228600" y="3767328"/>
            <a:ext cx="8686800" cy="1170432"/>
          </a:xfrm>
          <a:prstGeom prst="rect">
            <a:avLst/>
          </a:prstGeom>
          <a:noFill/>
        </p:spPr>
        <p:txBody>
          <a:bodyPr wrap="square" lIns="0" rIns="0" tIns="0" bIns="0">
            <a:spAutoFit/>
          </a:bodyPr>
          <a:lstStyle/>
          <a:p>
            <a:pPr algn="just">
              <a:lnSpc>
                <a:spcPct val="100000"/>
              </a:lnSpc>
              <a:spcAft>
                <a:spcPts val="300"/>
              </a:spcAft>
            </a:pPr>
            <a:r>
              <a:rPr sz="1050" b="1">
                <a:solidFill>
                  <a:srgbClr val="000000"/>
                </a:solidFill>
                <a:latin typeface="Times New Roman"/>
              </a:rPr>
              <a:t>Three models are trained, roughly 205M parameters combined, </a:t>
            </a:r>
            <a:r>
              <a:rPr sz="1050" b="0">
                <a:solidFill>
                  <a:srgbClr val="000000"/>
                </a:solidFill>
                <a:latin typeface="Times New Roman"/>
              </a:rPr>
              <a:t>all trained on free GPU time and all deployed int8-quantised on a CPU-only machine. Every remaining component is either prompted off the shelf or frozen; nothing in the pipeline is a paid or closed-weight model.</a:t>
            </a:r>
          </a:p>
          <a:p>
            <a:pPr algn="just">
              <a:lnSpc>
                <a:spcPct val="100000"/>
              </a:lnSpc>
              <a:spcAft>
                <a:spcPts val="300"/>
              </a:spcAft>
            </a:pPr>
            <a:r>
              <a:rPr sz="1050" b="1">
                <a:solidFill>
                  <a:srgbClr val="000000"/>
                </a:solidFill>
                <a:latin typeface="Times New Roman"/>
              </a:rPr>
              <a:t>The two prompted seats are the Planner and the Critic. </a:t>
            </a:r>
            <a:r>
              <a:rPr sz="1050" b="0">
                <a:solidFill>
                  <a:srgbClr val="000000"/>
                </a:solidFill>
                <a:latin typeface="Times New Roman"/>
              </a:rPr>
              <a:t>The Planner turns a research question into queries and the Critic judges a finished review; both are reasoning tasks rather than transcription, and both are served by the same open-weight model without fine-tuning.</a:t>
            </a:r>
          </a:p>
          <a:p>
            <a:pPr algn="just">
              <a:lnSpc>
                <a:spcPct val="100000"/>
              </a:lnSpc>
              <a:spcAft>
                <a:spcPts val="300"/>
              </a:spcAft>
            </a:pPr>
            <a:r>
              <a:rPr sz="1050" b="1">
                <a:solidFill>
                  <a:srgbClr val="000000"/>
                </a:solidFill>
                <a:latin typeface="Times New Roman"/>
              </a:rPr>
              <a:t>The three trained models sit at the three bottlenecks. </a:t>
            </a:r>
            <a:r>
              <a:rPr sz="1050" b="0">
                <a:solidFill>
                  <a:srgbClr val="000000"/>
                </a:solidFill>
                <a:latin typeface="Times New Roman"/>
              </a:rPr>
              <a:t>Ranking decides which nine papers in ten are discarded, summarisation decides what the Writer ever sees, and claim grounding decides what survives into the delivered review. Those are the places where a trained model changes the output, which is why they are the places that were trained.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Experimental Results in the Table Format</a:t>
            </a:r>
          </a:p>
        </p:txBody>
      </p:sp>
      <p:sp>
        <p:nvSpPr>
          <p:cNvPr id="4" name="TextBox 3"/>
          <p:cNvSpPr txBox="1"/>
          <p:nvPr/>
        </p:nvSpPr>
        <p:spPr>
          <a:xfrm>
            <a:off x="228600" y="822960"/>
            <a:ext cx="8686800" cy="411480"/>
          </a:xfrm>
          <a:prstGeom prst="rect">
            <a:avLst/>
          </a:prstGeom>
          <a:noFill/>
        </p:spPr>
        <p:txBody>
          <a:bodyPr wrap="square" lIns="0" rIns="0" tIns="0" bIns="0">
            <a:spAutoFit/>
          </a:bodyPr>
          <a:lstStyle/>
          <a:p>
            <a:pPr algn="just">
              <a:lnSpc>
                <a:spcPct val="100000"/>
              </a:lnSpc>
              <a:spcAft>
                <a:spcPts val="200"/>
              </a:spcAft>
            </a:pPr>
            <a:r>
              <a:rPr sz="1100" b="0">
                <a:solidFill>
                  <a:srgbClr val="000000"/>
                </a:solidFill>
                <a:latin typeface="Times New Roman"/>
              </a:rPr>
              <a:t>Claim Verifier ★ — the component this project introduces. Three-way entailment on the held-out SciFact split, 628 (claim, evidence) pairs.</a:t>
            </a:r>
          </a:p>
        </p:txBody>
      </p:sp>
      <p:graphicFrame>
        <p:nvGraphicFramePr>
          <p:cNvPr id="5" name="Table 4"/>
          <p:cNvGraphicFramePr>
            <a:graphicFrameLocks noGrp="1"/>
          </p:cNvGraphicFramePr>
          <p:nvPr/>
        </p:nvGraphicFramePr>
        <p:xfrm>
          <a:off x="640080" y="1188720"/>
          <a:ext cx="7863840" cy="1920240"/>
        </p:xfrm>
        <a:graphic>
          <a:graphicData uri="http://schemas.openxmlformats.org/drawingml/2006/table">
            <a:tbl>
              <a:tblPr firstRow="1" bandRow="1">
                <a:tableStyleId>{5C22544A-7EE6-4342-B048-85BDC9FD1C3A}</a:tableStyleId>
              </a:tblPr>
              <a:tblGrid>
                <a:gridCol w="2103120"/>
                <a:gridCol w="960120"/>
                <a:gridCol w="960120"/>
                <a:gridCol w="960120"/>
                <a:gridCol w="960120"/>
                <a:gridCol w="960120"/>
                <a:gridCol w="960120"/>
              </a:tblGrid>
              <a:tr h="320040">
                <a:tc>
                  <a:txBody>
                    <a:bodyPr wrap="square"/>
                    <a:lstStyle/>
                    <a:p>
                      <a:pPr algn="ctr"/>
                      <a:r>
                        <a:rPr sz="1100" b="1">
                          <a:solidFill>
                            <a:srgbClr val="000000"/>
                          </a:solidFill>
                          <a:latin typeface="Times New Roman"/>
                        </a:rPr>
                        <a:t>Class</a:t>
                      </a:r>
                    </a:p>
                  </a:txBody>
                  <a:tcPr anchor="ctr" marL="45720" marR="45720" marT="18288" marB="18288"/>
                </a:tc>
                <a:tc>
                  <a:txBody>
                    <a:bodyPr wrap="square"/>
                    <a:lstStyle/>
                    <a:p>
                      <a:pPr algn="ctr"/>
                      <a:r>
                        <a:rPr sz="1100" b="1">
                          <a:solidFill>
                            <a:srgbClr val="000000"/>
                          </a:solidFill>
                          <a:latin typeface="Times New Roman"/>
                        </a:rPr>
                        <a:t>Stock P</a:t>
                      </a:r>
                    </a:p>
                  </a:txBody>
                  <a:tcPr anchor="ctr" marL="45720" marR="45720" marT="18288" marB="18288"/>
                </a:tc>
                <a:tc>
                  <a:txBody>
                    <a:bodyPr wrap="square"/>
                    <a:lstStyle/>
                    <a:p>
                      <a:pPr algn="ctr"/>
                      <a:r>
                        <a:rPr sz="1100" b="1">
                          <a:solidFill>
                            <a:srgbClr val="000000"/>
                          </a:solidFill>
                          <a:latin typeface="Times New Roman"/>
                        </a:rPr>
                        <a:t>Stock R</a:t>
                      </a:r>
                    </a:p>
                  </a:txBody>
                  <a:tcPr anchor="ctr" marL="45720" marR="45720" marT="18288" marB="18288"/>
                </a:tc>
                <a:tc>
                  <a:txBody>
                    <a:bodyPr wrap="square"/>
                    <a:lstStyle/>
                    <a:p>
                      <a:pPr algn="ctr"/>
                      <a:r>
                        <a:rPr sz="1100" b="1">
                          <a:solidFill>
                            <a:srgbClr val="000000"/>
                          </a:solidFill>
                          <a:latin typeface="Times New Roman"/>
                        </a:rPr>
                        <a:t>Stock F1</a:t>
                      </a:r>
                    </a:p>
                  </a:txBody>
                  <a:tcPr anchor="ctr" marL="45720" marR="45720" marT="18288" marB="18288"/>
                </a:tc>
                <a:tc>
                  <a:txBody>
                    <a:bodyPr wrap="square"/>
                    <a:lstStyle/>
                    <a:p>
                      <a:pPr algn="ctr"/>
                      <a:r>
                        <a:rPr sz="1100" b="1">
                          <a:solidFill>
                            <a:srgbClr val="000000"/>
                          </a:solidFill>
                          <a:latin typeface="Times New Roman"/>
                        </a:rPr>
                        <a:t>Tuned P</a:t>
                      </a:r>
                    </a:p>
                  </a:txBody>
                  <a:tcPr anchor="ctr" marL="45720" marR="45720" marT="18288" marB="18288"/>
                </a:tc>
                <a:tc>
                  <a:txBody>
                    <a:bodyPr wrap="square"/>
                    <a:lstStyle/>
                    <a:p>
                      <a:pPr algn="ctr"/>
                      <a:r>
                        <a:rPr sz="1100" b="1">
                          <a:solidFill>
                            <a:srgbClr val="000000"/>
                          </a:solidFill>
                          <a:latin typeface="Times New Roman"/>
                        </a:rPr>
                        <a:t>Tuned R</a:t>
                      </a:r>
                    </a:p>
                  </a:txBody>
                  <a:tcPr anchor="ctr" marL="45720" marR="45720" marT="18288" marB="18288"/>
                </a:tc>
                <a:tc>
                  <a:txBody>
                    <a:bodyPr wrap="square"/>
                    <a:lstStyle/>
                    <a:p>
                      <a:pPr algn="ctr"/>
                      <a:r>
                        <a:rPr sz="1100" b="1">
                          <a:solidFill>
                            <a:srgbClr val="000000"/>
                          </a:solidFill>
                          <a:latin typeface="Times New Roman"/>
                        </a:rPr>
                        <a:t>Tuned F1</a:t>
                      </a:r>
                    </a:p>
                  </a:txBody>
                  <a:tcPr anchor="ctr" marL="45720" marR="45720" marT="18288" marB="18288"/>
                </a:tc>
              </a:tr>
              <a:tr h="320040">
                <a:tc>
                  <a:txBody>
                    <a:bodyPr wrap="square"/>
                    <a:lstStyle/>
                    <a:p>
                      <a:pPr algn="l"/>
                      <a:r>
                        <a:rPr sz="1000" b="0">
                          <a:solidFill>
                            <a:srgbClr val="000000"/>
                          </a:solidFill>
                          <a:latin typeface="Times New Roman"/>
                        </a:rPr>
                        <a:t>SUPPORT</a:t>
                      </a:r>
                    </a:p>
                  </a:txBody>
                  <a:tcPr anchor="ctr" marL="45720" marR="45720" marT="18288" marB="18288"/>
                </a:tc>
                <a:tc>
                  <a:txBody>
                    <a:bodyPr wrap="square"/>
                    <a:lstStyle/>
                    <a:p>
                      <a:pPr algn="ctr"/>
                      <a:r>
                        <a:rPr sz="1000" b="0">
                          <a:solidFill>
                            <a:srgbClr val="000000"/>
                          </a:solidFill>
                          <a:latin typeface="Times New Roman"/>
                        </a:rPr>
                        <a:t>0.8871</a:t>
                      </a:r>
                    </a:p>
                  </a:txBody>
                  <a:tcPr anchor="ctr" marL="45720" marR="45720" marT="18288" marB="18288"/>
                </a:tc>
                <a:tc>
                  <a:txBody>
                    <a:bodyPr wrap="square"/>
                    <a:lstStyle/>
                    <a:p>
                      <a:pPr algn="ctr"/>
                      <a:r>
                        <a:rPr sz="1000" b="0">
                          <a:solidFill>
                            <a:srgbClr val="000000"/>
                          </a:solidFill>
                          <a:latin typeface="Times New Roman"/>
                        </a:rPr>
                        <a:t>0.2340</a:t>
                      </a:r>
                    </a:p>
                  </a:txBody>
                  <a:tcPr anchor="ctr" marL="45720" marR="45720" marT="18288" marB="18288"/>
                </a:tc>
                <a:tc>
                  <a:txBody>
                    <a:bodyPr wrap="square"/>
                    <a:lstStyle/>
                    <a:p>
                      <a:pPr algn="ctr"/>
                      <a:r>
                        <a:rPr sz="1000" b="0">
                          <a:solidFill>
                            <a:srgbClr val="000000"/>
                          </a:solidFill>
                          <a:latin typeface="Times New Roman"/>
                        </a:rPr>
                        <a:t>0.3704</a:t>
                      </a:r>
                    </a:p>
                  </a:txBody>
                  <a:tcPr anchor="ctr" marL="45720" marR="45720" marT="18288" marB="18288"/>
                </a:tc>
                <a:tc>
                  <a:txBody>
                    <a:bodyPr wrap="square"/>
                    <a:lstStyle/>
                    <a:p>
                      <a:pPr algn="ctr"/>
                      <a:r>
                        <a:rPr sz="1000" b="0">
                          <a:solidFill>
                            <a:srgbClr val="000000"/>
                          </a:solidFill>
                          <a:latin typeface="Times New Roman"/>
                        </a:rPr>
                        <a:t>0.8000</a:t>
                      </a:r>
                    </a:p>
                  </a:txBody>
                  <a:tcPr anchor="ctr" marL="45720" marR="45720" marT="18288" marB="18288"/>
                </a:tc>
                <a:tc>
                  <a:txBody>
                    <a:bodyPr wrap="square"/>
                    <a:lstStyle/>
                    <a:p>
                      <a:pPr algn="ctr"/>
                      <a:r>
                        <a:rPr sz="1000" b="0">
                          <a:solidFill>
                            <a:srgbClr val="000000"/>
                          </a:solidFill>
                          <a:latin typeface="Times New Roman"/>
                        </a:rPr>
                        <a:t>0.7660</a:t>
                      </a:r>
                    </a:p>
                  </a:txBody>
                  <a:tcPr anchor="ctr" marL="45720" marR="45720" marT="18288" marB="18288"/>
                </a:tc>
                <a:tc>
                  <a:txBody>
                    <a:bodyPr wrap="square"/>
                    <a:lstStyle/>
                    <a:p>
                      <a:pPr algn="ctr"/>
                      <a:r>
                        <a:rPr sz="1000" b="0">
                          <a:solidFill>
                            <a:srgbClr val="000000"/>
                          </a:solidFill>
                          <a:latin typeface="Times New Roman"/>
                        </a:rPr>
                        <a:t>0.7826</a:t>
                      </a:r>
                    </a:p>
                  </a:txBody>
                  <a:tcPr anchor="ctr" marL="45720" marR="45720" marT="18288" marB="18288"/>
                </a:tc>
              </a:tr>
              <a:tr h="320040">
                <a:tc>
                  <a:txBody>
                    <a:bodyPr wrap="square"/>
                    <a:lstStyle/>
                    <a:p>
                      <a:pPr algn="l"/>
                      <a:r>
                        <a:rPr sz="1000" b="0">
                          <a:solidFill>
                            <a:srgbClr val="000000"/>
                          </a:solidFill>
                          <a:latin typeface="Times New Roman"/>
                        </a:rPr>
                        <a:t>CONTRADICT</a:t>
                      </a:r>
                    </a:p>
                  </a:txBody>
                  <a:tcPr anchor="ctr" marL="45720" marR="45720" marT="18288" marB="18288"/>
                </a:tc>
                <a:tc>
                  <a:txBody>
                    <a:bodyPr wrap="square"/>
                    <a:lstStyle/>
                    <a:p>
                      <a:pPr algn="ctr"/>
                      <a:r>
                        <a:rPr sz="1000" b="0">
                          <a:solidFill>
                            <a:srgbClr val="000000"/>
                          </a:solidFill>
                          <a:latin typeface="Times New Roman"/>
                        </a:rPr>
                        <a:t>0.5420</a:t>
                      </a:r>
                    </a:p>
                  </a:txBody>
                  <a:tcPr anchor="ctr" marL="45720" marR="45720" marT="18288" marB="18288"/>
                </a:tc>
                <a:tc>
                  <a:txBody>
                    <a:bodyPr wrap="square"/>
                    <a:lstStyle/>
                    <a:p>
                      <a:pPr algn="ctr"/>
                      <a:r>
                        <a:rPr sz="1000" b="0">
                          <a:solidFill>
                            <a:srgbClr val="000000"/>
                          </a:solidFill>
                          <a:latin typeface="Times New Roman"/>
                        </a:rPr>
                        <a:t>0.5420</a:t>
                      </a:r>
                    </a:p>
                  </a:txBody>
                  <a:tcPr anchor="ctr" marL="45720" marR="45720" marT="18288" marB="18288"/>
                </a:tc>
                <a:tc>
                  <a:txBody>
                    <a:bodyPr wrap="square"/>
                    <a:lstStyle/>
                    <a:p>
                      <a:pPr algn="ctr"/>
                      <a:r>
                        <a:rPr sz="1000" b="0">
                          <a:solidFill>
                            <a:srgbClr val="000000"/>
                          </a:solidFill>
                          <a:latin typeface="Times New Roman"/>
                        </a:rPr>
                        <a:t>0.5420</a:t>
                      </a:r>
                    </a:p>
                  </a:txBody>
                  <a:tcPr anchor="ctr" marL="45720" marR="45720" marT="18288" marB="18288"/>
                </a:tc>
                <a:tc>
                  <a:txBody>
                    <a:bodyPr wrap="square"/>
                    <a:lstStyle/>
                    <a:p>
                      <a:pPr algn="ctr"/>
                      <a:r>
                        <a:rPr sz="1000" b="0">
                          <a:solidFill>
                            <a:srgbClr val="000000"/>
                          </a:solidFill>
                          <a:latin typeface="Times New Roman"/>
                        </a:rPr>
                        <a:t>0.6642</a:t>
                      </a:r>
                    </a:p>
                  </a:txBody>
                  <a:tcPr anchor="ctr" marL="45720" marR="45720" marT="18288" marB="18288"/>
                </a:tc>
                <a:tc>
                  <a:txBody>
                    <a:bodyPr wrap="square"/>
                    <a:lstStyle/>
                    <a:p>
                      <a:pPr algn="ctr"/>
                      <a:r>
                        <a:rPr sz="1000" b="0">
                          <a:solidFill>
                            <a:srgbClr val="000000"/>
                          </a:solidFill>
                          <a:latin typeface="Times New Roman"/>
                        </a:rPr>
                        <a:t>0.6794</a:t>
                      </a:r>
                    </a:p>
                  </a:txBody>
                  <a:tcPr anchor="ctr" marL="45720" marR="45720" marT="18288" marB="18288"/>
                </a:tc>
                <a:tc>
                  <a:txBody>
                    <a:bodyPr wrap="square"/>
                    <a:lstStyle/>
                    <a:p>
                      <a:pPr algn="ctr"/>
                      <a:r>
                        <a:rPr sz="1000" b="0">
                          <a:solidFill>
                            <a:srgbClr val="000000"/>
                          </a:solidFill>
                          <a:latin typeface="Times New Roman"/>
                        </a:rPr>
                        <a:t>0.6717</a:t>
                      </a:r>
                    </a:p>
                  </a:txBody>
                  <a:tcPr anchor="ctr" marL="45720" marR="45720" marT="18288" marB="18288"/>
                </a:tc>
              </a:tr>
              <a:tr h="320040">
                <a:tc>
                  <a:txBody>
                    <a:bodyPr wrap="square"/>
                    <a:lstStyle/>
                    <a:p>
                      <a:pPr algn="l"/>
                      <a:r>
                        <a:rPr sz="1000" b="0">
                          <a:solidFill>
                            <a:srgbClr val="000000"/>
                          </a:solidFill>
                          <a:latin typeface="Times New Roman"/>
                        </a:rPr>
                        <a:t>NOT ENOUGH INFO</a:t>
                      </a:r>
                    </a:p>
                  </a:txBody>
                  <a:tcPr anchor="ctr" marL="45720" marR="45720" marT="18288" marB="18288"/>
                </a:tc>
                <a:tc>
                  <a:txBody>
                    <a:bodyPr wrap="square"/>
                    <a:lstStyle/>
                    <a:p>
                      <a:pPr algn="ctr"/>
                      <a:r>
                        <a:rPr sz="1000" b="0">
                          <a:solidFill>
                            <a:srgbClr val="000000"/>
                          </a:solidFill>
                          <a:latin typeface="Times New Roman"/>
                        </a:rPr>
                        <a:t>0.5080</a:t>
                      </a:r>
                    </a:p>
                  </a:txBody>
                  <a:tcPr anchor="ctr" marL="45720" marR="45720" marT="18288" marB="18288"/>
                </a:tc>
                <a:tc>
                  <a:txBody>
                    <a:bodyPr wrap="square"/>
                    <a:lstStyle/>
                    <a:p>
                      <a:pPr algn="ctr"/>
                      <a:r>
                        <a:rPr sz="1000" b="0">
                          <a:solidFill>
                            <a:srgbClr val="000000"/>
                          </a:solidFill>
                          <a:latin typeface="Times New Roman"/>
                        </a:rPr>
                        <a:t>0.8435</a:t>
                      </a:r>
                    </a:p>
                  </a:txBody>
                  <a:tcPr anchor="ctr" marL="45720" marR="45720" marT="18288" marB="18288"/>
                </a:tc>
                <a:tc>
                  <a:txBody>
                    <a:bodyPr wrap="square"/>
                    <a:lstStyle/>
                    <a:p>
                      <a:pPr algn="ctr"/>
                      <a:r>
                        <a:rPr sz="1000" b="0">
                          <a:solidFill>
                            <a:srgbClr val="000000"/>
                          </a:solidFill>
                          <a:latin typeface="Times New Roman"/>
                        </a:rPr>
                        <a:t>0.6341</a:t>
                      </a:r>
                    </a:p>
                  </a:txBody>
                  <a:tcPr anchor="ctr" marL="45720" marR="45720" marT="18288" marB="18288"/>
                </a:tc>
                <a:tc>
                  <a:txBody>
                    <a:bodyPr wrap="square"/>
                    <a:lstStyle/>
                    <a:p>
                      <a:pPr algn="ctr"/>
                      <a:r>
                        <a:rPr sz="1000" b="0">
                          <a:solidFill>
                            <a:srgbClr val="000000"/>
                          </a:solidFill>
                          <a:latin typeface="Times New Roman"/>
                        </a:rPr>
                        <a:t>0.8401</a:t>
                      </a:r>
                    </a:p>
                  </a:txBody>
                  <a:tcPr anchor="ctr" marL="45720" marR="45720" marT="18288" marB="18288"/>
                </a:tc>
                <a:tc>
                  <a:txBody>
                    <a:bodyPr wrap="square"/>
                    <a:lstStyle/>
                    <a:p>
                      <a:pPr algn="ctr"/>
                      <a:r>
                        <a:rPr sz="1000" b="0">
                          <a:solidFill>
                            <a:srgbClr val="000000"/>
                          </a:solidFill>
                          <a:latin typeface="Times New Roman"/>
                        </a:rPr>
                        <a:t>0.8626</a:t>
                      </a:r>
                    </a:p>
                  </a:txBody>
                  <a:tcPr anchor="ctr" marL="45720" marR="45720" marT="18288" marB="18288"/>
                </a:tc>
                <a:tc>
                  <a:txBody>
                    <a:bodyPr wrap="square"/>
                    <a:lstStyle/>
                    <a:p>
                      <a:pPr algn="ctr"/>
                      <a:r>
                        <a:rPr sz="1000" b="0">
                          <a:solidFill>
                            <a:srgbClr val="000000"/>
                          </a:solidFill>
                          <a:latin typeface="Times New Roman"/>
                        </a:rPr>
                        <a:t>0.8512</a:t>
                      </a:r>
                    </a:p>
                  </a:txBody>
                  <a:tcPr anchor="ctr" marL="45720" marR="45720" marT="18288" marB="18288"/>
                </a:tc>
              </a:tr>
              <a:tr h="320040">
                <a:tc>
                  <a:txBody>
                    <a:bodyPr wrap="square"/>
                    <a:lstStyle/>
                    <a:p>
                      <a:pPr algn="l"/>
                      <a:r>
                        <a:rPr sz="1000" b="1">
                          <a:solidFill>
                            <a:srgbClr val="000000"/>
                          </a:solidFill>
                          <a:latin typeface="Times New Roman"/>
                        </a:rPr>
                        <a:t>Macro-F1</a:t>
                      </a:r>
                    </a:p>
                  </a:txBody>
                  <a:tcPr anchor="ctr" marL="45720" marR="45720" marT="18288" marB="18288"/>
                </a:tc>
                <a:tc>
                  <a:txBody>
                    <a:bodyPr wrap="square"/>
                    <a:lstStyle/>
                    <a:p>
                      <a:pPr algn="ctr"/>
                      <a:r>
                        <a:rPr sz="1000" b="0">
                          <a:solidFill>
                            <a:srgbClr val="000000"/>
                          </a:solidFill>
                          <a:latin typeface="Times New Roman"/>
                        </a:rPr>
                        <a:t/>
                      </a:r>
                    </a:p>
                  </a:txBody>
                  <a:tcPr anchor="ctr" marL="45720" marR="45720" marT="18288" marB="18288"/>
                </a:tc>
                <a:tc>
                  <a:txBody>
                    <a:bodyPr wrap="square"/>
                    <a:lstStyle/>
                    <a:p>
                      <a:pPr algn="ctr"/>
                      <a:r>
                        <a:rPr sz="1000" b="0">
                          <a:solidFill>
                            <a:srgbClr val="000000"/>
                          </a:solidFill>
                          <a:latin typeface="Times New Roman"/>
                        </a:rPr>
                        <a:t/>
                      </a:r>
                    </a:p>
                  </a:txBody>
                  <a:tcPr anchor="ctr" marL="45720" marR="45720" marT="18288" marB="18288"/>
                </a:tc>
                <a:tc>
                  <a:txBody>
                    <a:bodyPr wrap="square"/>
                    <a:lstStyle/>
                    <a:p>
                      <a:pPr algn="ctr"/>
                      <a:r>
                        <a:rPr sz="1000" b="1">
                          <a:solidFill>
                            <a:srgbClr val="000000"/>
                          </a:solidFill>
                          <a:latin typeface="Times New Roman"/>
                        </a:rPr>
                        <a:t>0.5155</a:t>
                      </a:r>
                    </a:p>
                  </a:txBody>
                  <a:tcPr anchor="ctr" marL="45720" marR="45720" marT="18288" marB="18288"/>
                </a:tc>
                <a:tc>
                  <a:txBody>
                    <a:bodyPr wrap="square"/>
                    <a:lstStyle/>
                    <a:p>
                      <a:pPr algn="ctr"/>
                      <a:r>
                        <a:rPr sz="1000" b="0">
                          <a:solidFill>
                            <a:srgbClr val="000000"/>
                          </a:solidFill>
                          <a:latin typeface="Times New Roman"/>
                        </a:rPr>
                        <a:t/>
                      </a:r>
                    </a:p>
                  </a:txBody>
                  <a:tcPr anchor="ctr" marL="45720" marR="45720" marT="18288" marB="18288"/>
                </a:tc>
                <a:tc>
                  <a:txBody>
                    <a:bodyPr wrap="square"/>
                    <a:lstStyle/>
                    <a:p>
                      <a:pPr algn="ctr"/>
                      <a:r>
                        <a:rPr sz="1000" b="0">
                          <a:solidFill>
                            <a:srgbClr val="000000"/>
                          </a:solidFill>
                          <a:latin typeface="Times New Roman"/>
                        </a:rPr>
                        <a:t/>
                      </a:r>
                    </a:p>
                  </a:txBody>
                  <a:tcPr anchor="ctr" marL="45720" marR="45720" marT="18288" marB="18288"/>
                </a:tc>
                <a:tc>
                  <a:txBody>
                    <a:bodyPr wrap="square"/>
                    <a:lstStyle/>
                    <a:p>
                      <a:pPr algn="ctr"/>
                      <a:r>
                        <a:rPr sz="1000" b="1">
                          <a:solidFill>
                            <a:srgbClr val="000000"/>
                          </a:solidFill>
                          <a:latin typeface="Times New Roman"/>
                        </a:rPr>
                        <a:t>0.7685</a:t>
                      </a:r>
                    </a:p>
                  </a:txBody>
                  <a:tcPr anchor="ctr" marL="45720" marR="45720" marT="18288" marB="18288"/>
                </a:tc>
              </a:tr>
              <a:tr h="320040">
                <a:tc>
                  <a:txBody>
                    <a:bodyPr wrap="square"/>
                    <a:lstStyle/>
                    <a:p>
                      <a:pPr algn="l"/>
                      <a:r>
                        <a:rPr sz="1000" b="1">
                          <a:solidFill>
                            <a:srgbClr val="000000"/>
                          </a:solidFill>
                          <a:latin typeface="Times New Roman"/>
                        </a:rPr>
                        <a:t>Accuracy</a:t>
                      </a:r>
                    </a:p>
                  </a:txBody>
                  <a:tcPr anchor="ctr" marL="45720" marR="45720" marT="18288" marB="18288"/>
                </a:tc>
                <a:tc>
                  <a:txBody>
                    <a:bodyPr wrap="square"/>
                    <a:lstStyle/>
                    <a:p>
                      <a:pPr algn="ctr"/>
                      <a:r>
                        <a:rPr sz="1000" b="0">
                          <a:solidFill>
                            <a:srgbClr val="000000"/>
                          </a:solidFill>
                          <a:latin typeface="Times New Roman"/>
                        </a:rPr>
                        <a:t/>
                      </a:r>
                    </a:p>
                  </a:txBody>
                  <a:tcPr anchor="ctr" marL="45720" marR="45720" marT="18288" marB="18288"/>
                </a:tc>
                <a:tc>
                  <a:txBody>
                    <a:bodyPr wrap="square"/>
                    <a:lstStyle/>
                    <a:p>
                      <a:pPr algn="ctr"/>
                      <a:r>
                        <a:rPr sz="1000" b="0">
                          <a:solidFill>
                            <a:srgbClr val="000000"/>
                          </a:solidFill>
                          <a:latin typeface="Times New Roman"/>
                        </a:rPr>
                        <a:t/>
                      </a:r>
                    </a:p>
                  </a:txBody>
                  <a:tcPr anchor="ctr" marL="45720" marR="45720" marT="18288" marB="18288"/>
                </a:tc>
                <a:tc>
                  <a:txBody>
                    <a:bodyPr wrap="square"/>
                    <a:lstStyle/>
                    <a:p>
                      <a:pPr algn="ctr"/>
                      <a:r>
                        <a:rPr sz="1000" b="1">
                          <a:solidFill>
                            <a:srgbClr val="000000"/>
                          </a:solidFill>
                          <a:latin typeface="Times New Roman"/>
                        </a:rPr>
                        <a:t>0.5525</a:t>
                      </a:r>
                    </a:p>
                  </a:txBody>
                  <a:tcPr anchor="ctr" marL="45720" marR="45720" marT="18288" marB="18288"/>
                </a:tc>
                <a:tc>
                  <a:txBody>
                    <a:bodyPr wrap="square"/>
                    <a:lstStyle/>
                    <a:p>
                      <a:pPr algn="ctr"/>
                      <a:r>
                        <a:rPr sz="1000" b="0">
                          <a:solidFill>
                            <a:srgbClr val="000000"/>
                          </a:solidFill>
                          <a:latin typeface="Times New Roman"/>
                        </a:rPr>
                        <a:t/>
                      </a:r>
                    </a:p>
                  </a:txBody>
                  <a:tcPr anchor="ctr" marL="45720" marR="45720" marT="18288" marB="18288"/>
                </a:tc>
                <a:tc>
                  <a:txBody>
                    <a:bodyPr wrap="square"/>
                    <a:lstStyle/>
                    <a:p>
                      <a:pPr algn="ctr"/>
                      <a:r>
                        <a:rPr sz="1000" b="0">
                          <a:solidFill>
                            <a:srgbClr val="000000"/>
                          </a:solidFill>
                          <a:latin typeface="Times New Roman"/>
                        </a:rPr>
                        <a:t/>
                      </a:r>
                    </a:p>
                  </a:txBody>
                  <a:tcPr anchor="ctr" marL="45720" marR="45720" marT="18288" marB="18288"/>
                </a:tc>
                <a:tc>
                  <a:txBody>
                    <a:bodyPr wrap="square"/>
                    <a:lstStyle/>
                    <a:p>
                      <a:pPr algn="ctr"/>
                      <a:r>
                        <a:rPr sz="1000" b="1">
                          <a:solidFill>
                            <a:srgbClr val="000000"/>
                          </a:solidFill>
                          <a:latin typeface="Times New Roman"/>
                        </a:rPr>
                        <a:t>0.7882</a:t>
                      </a:r>
                    </a:p>
                  </a:txBody>
                  <a:tcPr anchor="ctr" marL="45720" marR="45720" marT="18288" marB="18288"/>
                </a:tc>
              </a:tr>
            </a:tbl>
          </a:graphicData>
        </a:graphic>
      </p:graphicFrame>
      <p:sp>
        <p:nvSpPr>
          <p:cNvPr id="6" name="TextBox 5"/>
          <p:cNvSpPr txBox="1"/>
          <p:nvPr/>
        </p:nvSpPr>
        <p:spPr>
          <a:xfrm>
            <a:off x="228600" y="3218688"/>
            <a:ext cx="8686800" cy="1719072"/>
          </a:xfrm>
          <a:prstGeom prst="rect">
            <a:avLst/>
          </a:prstGeom>
          <a:noFill/>
        </p:spPr>
        <p:txBody>
          <a:bodyPr wrap="square" lIns="0" rIns="0" tIns="0" bIns="0">
            <a:spAutoFit/>
          </a:bodyPr>
          <a:lstStyle/>
          <a:p>
            <a:pPr algn="just">
              <a:lnSpc>
                <a:spcPct val="100000"/>
              </a:lnSpc>
              <a:spcAft>
                <a:spcPts val="300"/>
              </a:spcAft>
            </a:pPr>
            <a:r>
              <a:rPr sz="1050" b="1">
                <a:solidFill>
                  <a:srgbClr val="000000"/>
                </a:solidFill>
                <a:latin typeface="Times New Roman"/>
              </a:rPr>
              <a:t>Macro-F1 rises 0.5155 → 0.7685 and accuracy 0.5525 → 0.7882, </a:t>
            </a:r>
            <a:r>
              <a:rPr sz="1050" b="0">
                <a:solidFill>
                  <a:srgbClr val="000000"/>
                </a:solidFill>
                <a:latin typeface="Times New Roman"/>
              </a:rPr>
              <a:t>an absolute gain of 0.253 macro-F1 over the stock NLI checkpoint on identical data.</a:t>
            </a:r>
          </a:p>
          <a:p>
            <a:pPr algn="just">
              <a:lnSpc>
                <a:spcPct val="100000"/>
              </a:lnSpc>
              <a:spcAft>
                <a:spcPts val="300"/>
              </a:spcAft>
            </a:pPr>
            <a:r>
              <a:rPr sz="1050" b="1">
                <a:solidFill>
                  <a:srgbClr val="000000"/>
                </a:solidFill>
                <a:latin typeface="Times New Roman"/>
              </a:rPr>
              <a:t>The gain lands where the system needs it. </a:t>
            </a:r>
            <a:r>
              <a:rPr sz="1050" b="0">
                <a:solidFill>
                  <a:srgbClr val="000000"/>
                </a:solidFill>
                <a:latin typeface="Times New Roman"/>
              </a:rPr>
              <a:t>Stock SUPPORT recall is 0.2340 — it misses roughly three of every four genuinely supported claims, which in this pipeline means deleting true sentences. Fine-tuning raises it to 0.7660 while precision stays at 0.8000.</a:t>
            </a:r>
          </a:p>
          <a:p>
            <a:pPr algn="just">
              <a:lnSpc>
                <a:spcPct val="100000"/>
              </a:lnSpc>
              <a:spcAft>
                <a:spcPts val="300"/>
              </a:spcAft>
            </a:pPr>
            <a:r>
              <a:rPr sz="1050" b="1">
                <a:solidFill>
                  <a:srgbClr val="000000"/>
                </a:solidFill>
                <a:latin typeface="Times New Roman"/>
              </a:rPr>
              <a:t>Trained in 305.8 seconds on free GPU, </a:t>
            </a:r>
            <a:r>
              <a:rPr sz="1050" b="0">
                <a:solidFill>
                  <a:srgbClr val="000000"/>
                </a:solidFill>
                <a:latin typeface="Times New Roman"/>
              </a:rPr>
              <a:t>then exported to ONNX and int8-quantised, running at 25.4 claims per second on CPU. Escalation to a larger base model was pre-specified below macro-F1 0.75 and was not triggered.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Experimental Results in the Table Format</a:t>
            </a:r>
          </a:p>
        </p:txBody>
      </p:sp>
      <p:sp>
        <p:nvSpPr>
          <p:cNvPr id="4" name="TextBox 3"/>
          <p:cNvSpPr txBox="1"/>
          <p:nvPr/>
        </p:nvSpPr>
        <p:spPr>
          <a:xfrm>
            <a:off x="228600" y="822960"/>
            <a:ext cx="8686800" cy="411480"/>
          </a:xfrm>
          <a:prstGeom prst="rect">
            <a:avLst/>
          </a:prstGeom>
          <a:noFill/>
        </p:spPr>
        <p:txBody>
          <a:bodyPr wrap="square" lIns="0" rIns="0" tIns="0" bIns="0">
            <a:spAutoFit/>
          </a:bodyPr>
          <a:lstStyle/>
          <a:p>
            <a:pPr algn="just">
              <a:lnSpc>
                <a:spcPct val="100000"/>
              </a:lnSpc>
              <a:spcAft>
                <a:spcPts val="200"/>
              </a:spcAft>
            </a:pPr>
            <a:r>
              <a:rPr sz="1100" b="0">
                <a:solidFill>
                  <a:srgbClr val="000000"/>
                </a:solidFill>
                <a:latin typeface="Times New Roman"/>
              </a:rPr>
              <a:t>Cross-encoder Ranker — all figures measured after int8 quantisation, that is, on the build that actually ships.</a:t>
            </a:r>
          </a:p>
        </p:txBody>
      </p:sp>
      <p:graphicFrame>
        <p:nvGraphicFramePr>
          <p:cNvPr id="5" name="Table 4"/>
          <p:cNvGraphicFramePr>
            <a:graphicFrameLocks noGrp="1"/>
          </p:cNvGraphicFramePr>
          <p:nvPr/>
        </p:nvGraphicFramePr>
        <p:xfrm>
          <a:off x="594360" y="1188720"/>
          <a:ext cx="7955280" cy="2331720"/>
        </p:xfrm>
        <a:graphic>
          <a:graphicData uri="http://schemas.openxmlformats.org/drawingml/2006/table">
            <a:tbl>
              <a:tblPr firstRow="1" bandRow="1">
                <a:tableStyleId>{5C22544A-7EE6-4342-B048-85BDC9FD1C3A}</a:tableStyleId>
              </a:tblPr>
              <a:tblGrid>
                <a:gridCol w="2971800"/>
                <a:gridCol w="1417320"/>
                <a:gridCol w="1234440"/>
                <a:gridCol w="1325880"/>
                <a:gridCol w="1005840"/>
              </a:tblGrid>
              <a:tr h="291465">
                <a:tc>
                  <a:txBody>
                    <a:bodyPr wrap="square"/>
                    <a:lstStyle/>
                    <a:p>
                      <a:pPr algn="ctr"/>
                      <a:r>
                        <a:rPr sz="1100" b="1">
                          <a:solidFill>
                            <a:srgbClr val="000000"/>
                          </a:solidFill>
                          <a:latin typeface="Times New Roman"/>
                        </a:rPr>
                        <a:t>Evaluation set</a:t>
                      </a:r>
                    </a:p>
                  </a:txBody>
                  <a:tcPr anchor="ctr" marL="45720" marR="45720" marT="18288" marB="18288"/>
                </a:tc>
                <a:tc>
                  <a:txBody>
                    <a:bodyPr wrap="square"/>
                    <a:lstStyle/>
                    <a:p>
                      <a:pPr algn="ctr"/>
                      <a:r>
                        <a:rPr sz="1100" b="1">
                          <a:solidFill>
                            <a:srgbClr val="000000"/>
                          </a:solidFill>
                          <a:latin typeface="Times New Roman"/>
                        </a:rPr>
                        <a:t>Metric</a:t>
                      </a:r>
                    </a:p>
                  </a:txBody>
                  <a:tcPr anchor="ctr" marL="45720" marR="45720" marT="18288" marB="18288"/>
                </a:tc>
                <a:tc>
                  <a:txBody>
                    <a:bodyPr wrap="square"/>
                    <a:lstStyle/>
                    <a:p>
                      <a:pPr algn="ctr"/>
                      <a:r>
                        <a:rPr sz="1100" b="1">
                          <a:solidFill>
                            <a:srgbClr val="000000"/>
                          </a:solidFill>
                          <a:latin typeface="Times New Roman"/>
                        </a:rPr>
                        <a:t>Stock</a:t>
                      </a:r>
                    </a:p>
                  </a:txBody>
                  <a:tcPr anchor="ctr" marL="45720" marR="45720" marT="18288" marB="18288"/>
                </a:tc>
                <a:tc>
                  <a:txBody>
                    <a:bodyPr wrap="square"/>
                    <a:lstStyle/>
                    <a:p>
                      <a:pPr algn="ctr"/>
                      <a:r>
                        <a:rPr sz="1100" b="1">
                          <a:solidFill>
                            <a:srgbClr val="000000"/>
                          </a:solidFill>
                          <a:latin typeface="Times New Roman"/>
                        </a:rPr>
                        <a:t>Fine-tuned</a:t>
                      </a:r>
                    </a:p>
                  </a:txBody>
                  <a:tcPr anchor="ctr" marL="45720" marR="45720" marT="18288" marB="18288"/>
                </a:tc>
                <a:tc>
                  <a:txBody>
                    <a:bodyPr wrap="square"/>
                    <a:lstStyle/>
                    <a:p>
                      <a:pPr algn="ctr"/>
                      <a:r>
                        <a:rPr sz="1100" b="1">
                          <a:solidFill>
                            <a:srgbClr val="000000"/>
                          </a:solidFill>
                          <a:latin typeface="Times New Roman"/>
                        </a:rPr>
                        <a:t>Δ</a:t>
                      </a:r>
                    </a:p>
                  </a:txBody>
                  <a:tcPr anchor="ctr" marL="45720" marR="45720" marT="18288" marB="18288"/>
                </a:tc>
              </a:tr>
              <a:tr h="291465">
                <a:tc>
                  <a:txBody>
                    <a:bodyPr wrap="square"/>
                    <a:lstStyle/>
                    <a:p>
                      <a:pPr algn="l"/>
                      <a:r>
                        <a:rPr sz="950" b="0">
                          <a:solidFill>
                            <a:srgbClr val="000000"/>
                          </a:solidFill>
                          <a:latin typeface="Times New Roman"/>
                        </a:rPr>
                        <a:t>Own bibliography — out of domain
(9 queries, CS)</a:t>
                      </a:r>
                    </a:p>
                  </a:txBody>
                  <a:tcPr anchor="ctr" marL="45720" marR="45720" marT="18288" marB="18288"/>
                </a:tc>
                <a:tc>
                  <a:txBody>
                    <a:bodyPr wrap="square"/>
                    <a:lstStyle/>
                    <a:p>
                      <a:pPr algn="ctr"/>
                      <a:r>
                        <a:rPr sz="950" b="0">
                          <a:solidFill>
                            <a:srgbClr val="000000"/>
                          </a:solidFill>
                          <a:latin typeface="Times New Roman"/>
                        </a:rPr>
                        <a:t>nDCG@10</a:t>
                      </a:r>
                    </a:p>
                  </a:txBody>
                  <a:tcPr anchor="ctr" marL="45720" marR="45720" marT="18288" marB="18288"/>
                </a:tc>
                <a:tc>
                  <a:txBody>
                    <a:bodyPr wrap="square"/>
                    <a:lstStyle/>
                    <a:p>
                      <a:pPr algn="ctr"/>
                      <a:r>
                        <a:rPr sz="950" b="0">
                          <a:solidFill>
                            <a:srgbClr val="000000"/>
                          </a:solidFill>
                          <a:latin typeface="Times New Roman"/>
                        </a:rPr>
                        <a:t>0.2277</a:t>
                      </a:r>
                    </a:p>
                  </a:txBody>
                  <a:tcPr anchor="ctr" marL="45720" marR="45720" marT="18288" marB="18288"/>
                </a:tc>
                <a:tc>
                  <a:txBody>
                    <a:bodyPr wrap="square"/>
                    <a:lstStyle/>
                    <a:p>
                      <a:pPr algn="ctr"/>
                      <a:r>
                        <a:rPr sz="950" b="0">
                          <a:solidFill>
                            <a:srgbClr val="000000"/>
                          </a:solidFill>
                          <a:latin typeface="Times New Roman"/>
                        </a:rPr>
                        <a:t>0.2425</a:t>
                      </a:r>
                    </a:p>
                  </a:txBody>
                  <a:tcPr anchor="ctr" marL="45720" marR="45720" marT="18288" marB="18288"/>
                </a:tc>
                <a:tc>
                  <a:txBody>
                    <a:bodyPr wrap="square"/>
                    <a:lstStyle/>
                    <a:p>
                      <a:pPr algn="ctr"/>
                      <a:r>
                        <a:rPr sz="950" b="0">
                          <a:solidFill>
                            <a:srgbClr val="000000"/>
                          </a:solidFill>
                          <a:latin typeface="Times New Roman"/>
                        </a:rPr>
                        <a:t>+0.0149</a:t>
                      </a:r>
                    </a:p>
                  </a:txBody>
                  <a:tcPr anchor="ctr" marL="45720" marR="45720" marT="18288" marB="18288"/>
                </a:tc>
              </a:tr>
              <a:tr h="291465">
                <a:tc>
                  <a:txBody>
                    <a:bodyPr wrap="square"/>
                    <a:lstStyle/>
                    <a:p>
                      <a:pPr algn="l"/>
                      <a:r>
                        <a:rPr sz="950" b="0">
                          <a:solidFill>
                            <a:srgbClr val="000000"/>
                          </a:solidFill>
                          <a:latin typeface="Times New Roman"/>
                        </a:rPr>
                        <a:t/>
                      </a:r>
                    </a:p>
                  </a:txBody>
                  <a:tcPr anchor="ctr" marL="45720" marR="45720" marT="18288" marB="18288"/>
                </a:tc>
                <a:tc>
                  <a:txBody>
                    <a:bodyPr wrap="square"/>
                    <a:lstStyle/>
                    <a:p>
                      <a:pPr algn="ctr"/>
                      <a:r>
                        <a:rPr sz="950" b="0">
                          <a:solidFill>
                            <a:srgbClr val="000000"/>
                          </a:solidFill>
                          <a:latin typeface="Times New Roman"/>
                        </a:rPr>
                        <a:t>Recall@20</a:t>
                      </a:r>
                    </a:p>
                  </a:txBody>
                  <a:tcPr anchor="ctr" marL="45720" marR="45720" marT="18288" marB="18288"/>
                </a:tc>
                <a:tc>
                  <a:txBody>
                    <a:bodyPr wrap="square"/>
                    <a:lstStyle/>
                    <a:p>
                      <a:pPr algn="ctr"/>
                      <a:r>
                        <a:rPr sz="950" b="0">
                          <a:solidFill>
                            <a:srgbClr val="000000"/>
                          </a:solidFill>
                          <a:latin typeface="Times New Roman"/>
                        </a:rPr>
                        <a:t>0.4815</a:t>
                      </a:r>
                    </a:p>
                  </a:txBody>
                  <a:tcPr anchor="ctr" marL="45720" marR="45720" marT="18288" marB="18288"/>
                </a:tc>
                <a:tc>
                  <a:txBody>
                    <a:bodyPr wrap="square"/>
                    <a:lstStyle/>
                    <a:p>
                      <a:pPr algn="ctr"/>
                      <a:r>
                        <a:rPr sz="950" b="0">
                          <a:solidFill>
                            <a:srgbClr val="000000"/>
                          </a:solidFill>
                          <a:latin typeface="Times New Roman"/>
                        </a:rPr>
                        <a:t>0.5926</a:t>
                      </a:r>
                    </a:p>
                  </a:txBody>
                  <a:tcPr anchor="ctr" marL="45720" marR="45720" marT="18288" marB="18288"/>
                </a:tc>
                <a:tc>
                  <a:txBody>
                    <a:bodyPr wrap="square"/>
                    <a:lstStyle/>
                    <a:p>
                      <a:pPr algn="ctr"/>
                      <a:r>
                        <a:rPr sz="950" b="0">
                          <a:solidFill>
                            <a:srgbClr val="000000"/>
                          </a:solidFill>
                          <a:latin typeface="Times New Roman"/>
                        </a:rPr>
                        <a:t>+0.1111</a:t>
                      </a:r>
                    </a:p>
                  </a:txBody>
                  <a:tcPr anchor="ctr" marL="45720" marR="45720" marT="18288" marB="18288"/>
                </a:tc>
              </a:tr>
              <a:tr h="291465">
                <a:tc>
                  <a:txBody>
                    <a:bodyPr wrap="square"/>
                    <a:lstStyle/>
                    <a:p>
                      <a:pPr algn="l"/>
                      <a:r>
                        <a:rPr sz="950" b="0">
                          <a:solidFill>
                            <a:srgbClr val="000000"/>
                          </a:solidFill>
                          <a:latin typeface="Times New Roman"/>
                        </a:rPr>
                        <a:t/>
                      </a:r>
                    </a:p>
                  </a:txBody>
                  <a:tcPr anchor="ctr" marL="45720" marR="45720" marT="18288" marB="18288"/>
                </a:tc>
                <a:tc>
                  <a:txBody>
                    <a:bodyPr wrap="square"/>
                    <a:lstStyle/>
                    <a:p>
                      <a:pPr algn="ctr"/>
                      <a:r>
                        <a:rPr sz="950" b="0">
                          <a:solidFill>
                            <a:srgbClr val="000000"/>
                          </a:solidFill>
                          <a:latin typeface="Times New Roman"/>
                        </a:rPr>
                        <a:t>Precision@12</a:t>
                      </a:r>
                    </a:p>
                  </a:txBody>
                  <a:tcPr anchor="ctr" marL="45720" marR="45720" marT="18288" marB="18288"/>
                </a:tc>
                <a:tc>
                  <a:txBody>
                    <a:bodyPr wrap="square"/>
                    <a:lstStyle/>
                    <a:p>
                      <a:pPr algn="ctr"/>
                      <a:r>
                        <a:rPr sz="950" b="0">
                          <a:solidFill>
                            <a:srgbClr val="000000"/>
                          </a:solidFill>
                          <a:latin typeface="Times New Roman"/>
                        </a:rPr>
                        <a:t>0.0926</a:t>
                      </a:r>
                    </a:p>
                  </a:txBody>
                  <a:tcPr anchor="ctr" marL="45720" marR="45720" marT="18288" marB="18288"/>
                </a:tc>
                <a:tc>
                  <a:txBody>
                    <a:bodyPr wrap="square"/>
                    <a:lstStyle/>
                    <a:p>
                      <a:pPr algn="ctr"/>
                      <a:r>
                        <a:rPr sz="950" b="0">
                          <a:solidFill>
                            <a:srgbClr val="000000"/>
                          </a:solidFill>
                          <a:latin typeface="Times New Roman"/>
                        </a:rPr>
                        <a:t>0.1019</a:t>
                      </a:r>
                    </a:p>
                  </a:txBody>
                  <a:tcPr anchor="ctr" marL="45720" marR="45720" marT="18288" marB="18288"/>
                </a:tc>
                <a:tc>
                  <a:txBody>
                    <a:bodyPr wrap="square"/>
                    <a:lstStyle/>
                    <a:p>
                      <a:pPr algn="ctr"/>
                      <a:r>
                        <a:rPr sz="950" b="0">
                          <a:solidFill>
                            <a:srgbClr val="000000"/>
                          </a:solidFill>
                          <a:latin typeface="Times New Roman"/>
                        </a:rPr>
                        <a:t>+0.0093</a:t>
                      </a:r>
                    </a:p>
                  </a:txBody>
                  <a:tcPr anchor="ctr" marL="45720" marR="45720" marT="18288" marB="18288"/>
                </a:tc>
              </a:tr>
              <a:tr h="291465">
                <a:tc>
                  <a:txBody>
                    <a:bodyPr wrap="square"/>
                    <a:lstStyle/>
                    <a:p>
                      <a:pPr algn="l"/>
                      <a:r>
                        <a:rPr sz="950" b="0">
                          <a:solidFill>
                            <a:srgbClr val="000000"/>
                          </a:solidFill>
                          <a:latin typeface="Times New Roman"/>
                        </a:rPr>
                        <a:t>SciReviewGen test — in domain
(150 queries, title-disjoint)</a:t>
                      </a:r>
                    </a:p>
                  </a:txBody>
                  <a:tcPr anchor="ctr" marL="45720" marR="45720" marT="18288" marB="18288"/>
                </a:tc>
                <a:tc>
                  <a:txBody>
                    <a:bodyPr wrap="square"/>
                    <a:lstStyle/>
                    <a:p>
                      <a:pPr algn="ctr"/>
                      <a:r>
                        <a:rPr sz="950" b="0">
                          <a:solidFill>
                            <a:srgbClr val="000000"/>
                          </a:solidFill>
                          <a:latin typeface="Times New Roman"/>
                        </a:rPr>
                        <a:t>nDCG@10</a:t>
                      </a:r>
                    </a:p>
                  </a:txBody>
                  <a:tcPr anchor="ctr" marL="45720" marR="45720" marT="18288" marB="18288"/>
                </a:tc>
                <a:tc>
                  <a:txBody>
                    <a:bodyPr wrap="square"/>
                    <a:lstStyle/>
                    <a:p>
                      <a:pPr algn="ctr"/>
                      <a:r>
                        <a:rPr sz="950" b="0">
                          <a:solidFill>
                            <a:srgbClr val="000000"/>
                          </a:solidFill>
                          <a:latin typeface="Times New Roman"/>
                        </a:rPr>
                        <a:t>0.2646</a:t>
                      </a:r>
                    </a:p>
                  </a:txBody>
                  <a:tcPr anchor="ctr" marL="45720" marR="45720" marT="18288" marB="18288"/>
                </a:tc>
                <a:tc>
                  <a:txBody>
                    <a:bodyPr wrap="square"/>
                    <a:lstStyle/>
                    <a:p>
                      <a:pPr algn="ctr"/>
                      <a:r>
                        <a:rPr sz="950" b="0">
                          <a:solidFill>
                            <a:srgbClr val="000000"/>
                          </a:solidFill>
                          <a:latin typeface="Times New Roman"/>
                        </a:rPr>
                        <a:t>0.6545</a:t>
                      </a:r>
                    </a:p>
                  </a:txBody>
                  <a:tcPr anchor="ctr" marL="45720" marR="45720" marT="18288" marB="18288"/>
                </a:tc>
                <a:tc>
                  <a:txBody>
                    <a:bodyPr wrap="square"/>
                    <a:lstStyle/>
                    <a:p>
                      <a:pPr algn="ctr"/>
                      <a:r>
                        <a:rPr sz="950" b="0">
                          <a:solidFill>
                            <a:srgbClr val="000000"/>
                          </a:solidFill>
                          <a:latin typeface="Times New Roman"/>
                        </a:rPr>
                        <a:t>+0.3899</a:t>
                      </a:r>
                    </a:p>
                  </a:txBody>
                  <a:tcPr anchor="ctr" marL="45720" marR="45720" marT="18288" marB="18288"/>
                </a:tc>
              </a:tr>
              <a:tr h="291465">
                <a:tc>
                  <a:txBody>
                    <a:bodyPr wrap="square"/>
                    <a:lstStyle/>
                    <a:p>
                      <a:pPr algn="l"/>
                      <a:r>
                        <a:rPr sz="950" b="0">
                          <a:solidFill>
                            <a:srgbClr val="000000"/>
                          </a:solidFill>
                          <a:latin typeface="Times New Roman"/>
                        </a:rPr>
                        <a:t/>
                      </a:r>
                    </a:p>
                  </a:txBody>
                  <a:tcPr anchor="ctr" marL="45720" marR="45720" marT="18288" marB="18288"/>
                </a:tc>
                <a:tc>
                  <a:txBody>
                    <a:bodyPr wrap="square"/>
                    <a:lstStyle/>
                    <a:p>
                      <a:pPr algn="ctr"/>
                      <a:r>
                        <a:rPr sz="950" b="0">
                          <a:solidFill>
                            <a:srgbClr val="000000"/>
                          </a:solidFill>
                          <a:latin typeface="Times New Roman"/>
                        </a:rPr>
                        <a:t>Recall@20</a:t>
                      </a:r>
                    </a:p>
                  </a:txBody>
                  <a:tcPr anchor="ctr" marL="45720" marR="45720" marT="18288" marB="18288"/>
                </a:tc>
                <a:tc>
                  <a:txBody>
                    <a:bodyPr wrap="square"/>
                    <a:lstStyle/>
                    <a:p>
                      <a:pPr algn="ctr"/>
                      <a:r>
                        <a:rPr sz="950" b="0">
                          <a:solidFill>
                            <a:srgbClr val="000000"/>
                          </a:solidFill>
                          <a:latin typeface="Times New Roman"/>
                        </a:rPr>
                        <a:t>0.6839</a:t>
                      </a:r>
                    </a:p>
                  </a:txBody>
                  <a:tcPr anchor="ctr" marL="45720" marR="45720" marT="18288" marB="18288"/>
                </a:tc>
                <a:tc>
                  <a:txBody>
                    <a:bodyPr wrap="square"/>
                    <a:lstStyle/>
                    <a:p>
                      <a:pPr algn="ctr"/>
                      <a:r>
                        <a:rPr sz="950" b="0">
                          <a:solidFill>
                            <a:srgbClr val="000000"/>
                          </a:solidFill>
                          <a:latin typeface="Times New Roman"/>
                        </a:rPr>
                        <a:t>0.9121</a:t>
                      </a:r>
                    </a:p>
                  </a:txBody>
                  <a:tcPr anchor="ctr" marL="45720" marR="45720" marT="18288" marB="18288"/>
                </a:tc>
                <a:tc>
                  <a:txBody>
                    <a:bodyPr wrap="square"/>
                    <a:lstStyle/>
                    <a:p>
                      <a:pPr algn="ctr"/>
                      <a:r>
                        <a:rPr sz="950" b="0">
                          <a:solidFill>
                            <a:srgbClr val="000000"/>
                          </a:solidFill>
                          <a:latin typeface="Times New Roman"/>
                        </a:rPr>
                        <a:t>+0.2282</a:t>
                      </a:r>
                    </a:p>
                  </a:txBody>
                  <a:tcPr anchor="ctr" marL="45720" marR="45720" marT="18288" marB="18288"/>
                </a:tc>
              </a:tr>
              <a:tr h="291465">
                <a:tc>
                  <a:txBody>
                    <a:bodyPr wrap="square"/>
                    <a:lstStyle/>
                    <a:p>
                      <a:pPr algn="l"/>
                      <a:r>
                        <a:rPr sz="950" b="0">
                          <a:solidFill>
                            <a:srgbClr val="000000"/>
                          </a:solidFill>
                          <a:latin typeface="Times New Roman"/>
                        </a:rPr>
                        <a:t/>
                      </a:r>
                    </a:p>
                  </a:txBody>
                  <a:tcPr anchor="ctr" marL="45720" marR="45720" marT="18288" marB="18288"/>
                </a:tc>
                <a:tc>
                  <a:txBody>
                    <a:bodyPr wrap="square"/>
                    <a:lstStyle/>
                    <a:p>
                      <a:pPr algn="ctr"/>
                      <a:r>
                        <a:rPr sz="950" b="0">
                          <a:solidFill>
                            <a:srgbClr val="000000"/>
                          </a:solidFill>
                          <a:latin typeface="Times New Roman"/>
                        </a:rPr>
                        <a:t>Precision@12</a:t>
                      </a:r>
                    </a:p>
                  </a:txBody>
                  <a:tcPr anchor="ctr" marL="45720" marR="45720" marT="18288" marB="18288"/>
                </a:tc>
                <a:tc>
                  <a:txBody>
                    <a:bodyPr wrap="square"/>
                    <a:lstStyle/>
                    <a:p>
                      <a:pPr algn="ctr"/>
                      <a:r>
                        <a:rPr sz="950" b="0">
                          <a:solidFill>
                            <a:srgbClr val="000000"/>
                          </a:solidFill>
                          <a:latin typeface="Times New Roman"/>
                        </a:rPr>
                        <a:t>0.1339</a:t>
                      </a:r>
                    </a:p>
                  </a:txBody>
                  <a:tcPr anchor="ctr" marL="45720" marR="45720" marT="18288" marB="18288"/>
                </a:tc>
                <a:tc>
                  <a:txBody>
                    <a:bodyPr wrap="square"/>
                    <a:lstStyle/>
                    <a:p>
                      <a:pPr algn="ctr"/>
                      <a:r>
                        <a:rPr sz="950" b="0">
                          <a:solidFill>
                            <a:srgbClr val="000000"/>
                          </a:solidFill>
                          <a:latin typeface="Times New Roman"/>
                        </a:rPr>
                        <a:t>0.2833</a:t>
                      </a:r>
                    </a:p>
                  </a:txBody>
                  <a:tcPr anchor="ctr" marL="45720" marR="45720" marT="18288" marB="18288"/>
                </a:tc>
                <a:tc>
                  <a:txBody>
                    <a:bodyPr wrap="square"/>
                    <a:lstStyle/>
                    <a:p>
                      <a:pPr algn="ctr"/>
                      <a:r>
                        <a:rPr sz="950" b="0">
                          <a:solidFill>
                            <a:srgbClr val="000000"/>
                          </a:solidFill>
                          <a:latin typeface="Times New Roman"/>
                        </a:rPr>
                        <a:t>+0.1494</a:t>
                      </a:r>
                    </a:p>
                  </a:txBody>
                  <a:tcPr anchor="ctr" marL="45720" marR="45720" marT="18288" marB="18288"/>
                </a:tc>
              </a:tr>
              <a:tr h="291465">
                <a:tc>
                  <a:txBody>
                    <a:bodyPr wrap="square"/>
                    <a:lstStyle/>
                    <a:p>
                      <a:pPr algn="l"/>
                      <a:r>
                        <a:rPr sz="950" b="0">
                          <a:solidFill>
                            <a:srgbClr val="000000"/>
                          </a:solidFill>
                          <a:latin typeface="Times New Roman"/>
                        </a:rPr>
                        <a:t>Relevance control (15 queries)</a:t>
                      </a:r>
                    </a:p>
                  </a:txBody>
                  <a:tcPr anchor="ctr" marL="45720" marR="45720" marT="18288" marB="18288"/>
                </a:tc>
                <a:tc>
                  <a:txBody>
                    <a:bodyPr wrap="square"/>
                    <a:lstStyle/>
                    <a:p>
                      <a:pPr algn="ctr"/>
                      <a:r>
                        <a:rPr sz="950" b="0">
                          <a:solidFill>
                            <a:srgbClr val="000000"/>
                          </a:solidFill>
                          <a:latin typeface="Times New Roman"/>
                        </a:rPr>
                        <a:t>Violations</a:t>
                      </a:r>
                    </a:p>
                  </a:txBody>
                  <a:tcPr anchor="ctr" marL="45720" marR="45720" marT="18288" marB="18288"/>
                </a:tc>
                <a:tc>
                  <a:txBody>
                    <a:bodyPr wrap="square"/>
                    <a:lstStyle/>
                    <a:p>
                      <a:pPr algn="ctr"/>
                      <a:r>
                        <a:rPr sz="950" b="0">
                          <a:solidFill>
                            <a:srgbClr val="000000"/>
                          </a:solidFill>
                          <a:latin typeface="Times New Roman"/>
                        </a:rPr>
                        <a:t>0 / 15</a:t>
                      </a:r>
                    </a:p>
                  </a:txBody>
                  <a:tcPr anchor="ctr" marL="45720" marR="45720" marT="18288" marB="18288"/>
                </a:tc>
                <a:tc>
                  <a:txBody>
                    <a:bodyPr wrap="square"/>
                    <a:lstStyle/>
                    <a:p>
                      <a:pPr algn="ctr"/>
                      <a:r>
                        <a:rPr sz="950" b="0">
                          <a:solidFill>
                            <a:srgbClr val="000000"/>
                          </a:solidFill>
                          <a:latin typeface="Times New Roman"/>
                        </a:rPr>
                        <a:t>0 / 15</a:t>
                      </a:r>
                    </a:p>
                  </a:txBody>
                  <a:tcPr anchor="ctr" marL="45720" marR="45720" marT="18288" marB="18288"/>
                </a:tc>
                <a:tc>
                  <a:txBody>
                    <a:bodyPr wrap="square"/>
                    <a:lstStyle/>
                    <a:p>
                      <a:pPr algn="ctr"/>
                      <a:r>
                        <a:rPr sz="950" b="0">
                          <a:solidFill>
                            <a:srgbClr val="000000"/>
                          </a:solidFill>
                          <a:latin typeface="Times New Roman"/>
                        </a:rPr>
                        <a:t>PASS</a:t>
                      </a:r>
                    </a:p>
                  </a:txBody>
                  <a:tcPr anchor="ctr" marL="45720" marR="45720" marT="18288" marB="18288"/>
                </a:tc>
              </a:tr>
            </a:tbl>
          </a:graphicData>
        </a:graphic>
      </p:graphicFrame>
      <p:sp>
        <p:nvSpPr>
          <p:cNvPr id="6" name="TextBox 5"/>
          <p:cNvSpPr txBox="1"/>
          <p:nvPr/>
        </p:nvSpPr>
        <p:spPr>
          <a:xfrm>
            <a:off x="228600" y="3664839"/>
            <a:ext cx="8686800" cy="1272921"/>
          </a:xfrm>
          <a:prstGeom prst="rect">
            <a:avLst/>
          </a:prstGeom>
          <a:noFill/>
        </p:spPr>
        <p:txBody>
          <a:bodyPr wrap="square" lIns="0" rIns="0" tIns="0" bIns="0">
            <a:spAutoFit/>
          </a:bodyPr>
          <a:lstStyle/>
          <a:p>
            <a:pPr algn="just">
              <a:lnSpc>
                <a:spcPct val="100000"/>
              </a:lnSpc>
              <a:spcAft>
                <a:spcPts val="300"/>
              </a:spcAft>
            </a:pPr>
            <a:r>
              <a:rPr sz="1050" b="1">
                <a:solidFill>
                  <a:srgbClr val="000000"/>
                </a:solidFill>
                <a:latin typeface="Times New Roman"/>
              </a:rPr>
              <a:t>The adoption gate is the out-of-domain number, and it was met. </a:t>
            </a:r>
            <a:r>
              <a:rPr sz="1050" b="0">
                <a:solidFill>
                  <a:srgbClr val="000000"/>
                </a:solidFill>
                <a:latin typeface="Times New Roman"/>
              </a:rPr>
              <a:t>Recall@20 rose 0.4815 → 0.5926 on the project’s own 35-paper bibliography; the fine-tuned model was promoted into the shipping configuration only on that evidence.</a:t>
            </a:r>
          </a:p>
          <a:p>
            <a:pPr algn="just">
              <a:lnSpc>
                <a:spcPct val="100000"/>
              </a:lnSpc>
              <a:spcAft>
                <a:spcPts val="300"/>
              </a:spcAft>
            </a:pPr>
            <a:r>
              <a:rPr sz="1050" b="1">
                <a:solidFill>
                  <a:srgbClr val="000000"/>
                </a:solidFill>
                <a:latin typeface="Times New Roman"/>
              </a:rPr>
              <a:t>Lead with the honest figure. </a:t>
            </a:r>
            <a:r>
              <a:rPr sz="1050" b="0">
                <a:solidFill>
                  <a:srgbClr val="000000"/>
                </a:solidFill>
                <a:latin typeface="Times New Roman"/>
              </a:rPr>
              <a:t>The in-domain gain is far larger, which is expected and is not the result: SciReviewGen skews biomedical while this corpus is computer science, and a large in-domain gain with no out-of-domain gain would mean the benchmark was fitted rather than the task.</a:t>
            </a:r>
          </a:p>
          <a:p>
            <a:pPr algn="just">
              <a:lnSpc>
                <a:spcPct val="100000"/>
              </a:lnSpc>
              <a:spcAft>
                <a:spcPts val="300"/>
              </a:spcAft>
            </a:pPr>
            <a:r>
              <a:rPr sz="1050" b="1">
                <a:solidFill>
                  <a:srgbClr val="000000"/>
                </a:solidFill>
                <a:latin typeface="Times New Roman"/>
              </a:rPr>
              <a:t>One model was adopted, reverted, retrained and re-adopted. </a:t>
            </a:r>
            <a:r>
              <a:rPr sz="1050" b="0">
                <a:solidFill>
                  <a:srgbClr val="000000"/>
                </a:solidFill>
                <a:latin typeface="Times New Roman"/>
              </a:rPr>
              <a:t>Trained on 100% BM25 hard negatives it lost its relevance prior and failed the control on 11 of 15 queries; retrained on mixed negatives it passes 0 of 15. The reversal is reported because the retraining is what makes the adopted model trustworthy.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Experimental Results in the Table Format</a:t>
            </a:r>
          </a:p>
        </p:txBody>
      </p:sp>
      <p:sp>
        <p:nvSpPr>
          <p:cNvPr id="4" name="TextBox 3"/>
          <p:cNvSpPr txBox="1"/>
          <p:nvPr/>
        </p:nvSpPr>
        <p:spPr>
          <a:xfrm>
            <a:off x="228600" y="822960"/>
            <a:ext cx="8686800" cy="411480"/>
          </a:xfrm>
          <a:prstGeom prst="rect">
            <a:avLst/>
          </a:prstGeom>
          <a:noFill/>
        </p:spPr>
        <p:txBody>
          <a:bodyPr wrap="square" lIns="0" rIns="0" tIns="0" bIns="0">
            <a:spAutoFit/>
          </a:bodyPr>
          <a:lstStyle/>
          <a:p>
            <a:pPr algn="just">
              <a:lnSpc>
                <a:spcPct val="100000"/>
              </a:lnSpc>
              <a:spcAft>
                <a:spcPts val="200"/>
              </a:spcAft>
            </a:pPr>
            <a:r>
              <a:rPr sz="1100" b="0">
                <a:solidFill>
                  <a:srgbClr val="000000"/>
                </a:solidFill>
                <a:latin typeface="Times New Roman"/>
              </a:rPr>
              <a:t>Summary Generation model — one fine-tuned sequence-to-sequence model serving two agents, the Extractor and the Writer.</a:t>
            </a:r>
          </a:p>
        </p:txBody>
      </p:sp>
      <p:graphicFrame>
        <p:nvGraphicFramePr>
          <p:cNvPr id="5" name="Table 4"/>
          <p:cNvGraphicFramePr>
            <a:graphicFrameLocks noGrp="1"/>
          </p:cNvGraphicFramePr>
          <p:nvPr/>
        </p:nvGraphicFramePr>
        <p:xfrm>
          <a:off x="594360" y="1188720"/>
          <a:ext cx="7955278" cy="1783080"/>
        </p:xfrm>
        <a:graphic>
          <a:graphicData uri="http://schemas.openxmlformats.org/drawingml/2006/table">
            <a:tbl>
              <a:tblPr firstRow="1" bandRow="1">
                <a:tableStyleId>{5C22544A-7EE6-4342-B048-85BDC9FD1C3A}</a:tableStyleId>
              </a:tblPr>
              <a:tblGrid>
                <a:gridCol w="1828800"/>
                <a:gridCol w="2377440"/>
                <a:gridCol w="1874519"/>
                <a:gridCol w="1874519"/>
              </a:tblGrid>
              <a:tr h="356616">
                <a:tc>
                  <a:txBody>
                    <a:bodyPr wrap="square"/>
                    <a:lstStyle/>
                    <a:p>
                      <a:pPr algn="ctr"/>
                      <a:r>
                        <a:rPr sz="1100" b="1">
                          <a:solidFill>
                            <a:srgbClr val="000000"/>
                          </a:solidFill>
                          <a:latin typeface="Times New Roman"/>
                        </a:rPr>
                        <a:t>Metric</a:t>
                      </a:r>
                    </a:p>
                  </a:txBody>
                  <a:tcPr anchor="ctr" marL="45720" marR="45720" marT="18288" marB="18288"/>
                </a:tc>
                <a:tc>
                  <a:txBody>
                    <a:bodyPr wrap="square"/>
                    <a:lstStyle/>
                    <a:p>
                      <a:pPr algn="ctr"/>
                      <a:r>
                        <a:rPr sz="1100" b="1">
                          <a:solidFill>
                            <a:srgbClr val="000000"/>
                          </a:solidFill>
                          <a:latin typeface="Times New Roman"/>
                        </a:rPr>
                        <a:t>Stock (facebook/bart-base)</a:t>
                      </a:r>
                    </a:p>
                  </a:txBody>
                  <a:tcPr anchor="ctr" marL="45720" marR="45720" marT="18288" marB="18288"/>
                </a:tc>
                <a:tc>
                  <a:txBody>
                    <a:bodyPr wrap="square"/>
                    <a:lstStyle/>
                    <a:p>
                      <a:pPr algn="ctr"/>
                      <a:r>
                        <a:rPr sz="1100" b="1">
                          <a:solidFill>
                            <a:srgbClr val="000000"/>
                          </a:solidFill>
                          <a:latin typeface="Times New Roman"/>
                        </a:rPr>
                        <a:t>Fine-tuned</a:t>
                      </a:r>
                    </a:p>
                  </a:txBody>
                  <a:tcPr anchor="ctr" marL="45720" marR="45720" marT="18288" marB="18288"/>
                </a:tc>
                <a:tc>
                  <a:txBody>
                    <a:bodyPr wrap="square"/>
                    <a:lstStyle/>
                    <a:p>
                      <a:pPr algn="ctr"/>
                      <a:r>
                        <a:rPr sz="1100" b="1">
                          <a:solidFill>
                            <a:srgbClr val="000000"/>
                          </a:solidFill>
                          <a:latin typeface="Times New Roman"/>
                        </a:rPr>
                        <a:t>Evaluation set</a:t>
                      </a:r>
                    </a:p>
                  </a:txBody>
                  <a:tcPr anchor="ctr" marL="45720" marR="45720" marT="18288" marB="18288"/>
                </a:tc>
              </a:tr>
              <a:tr h="356616">
                <a:tc>
                  <a:txBody>
                    <a:bodyPr wrap="square"/>
                    <a:lstStyle/>
                    <a:p>
                      <a:pPr algn="l"/>
                      <a:r>
                        <a:rPr sz="1050" b="0">
                          <a:solidFill>
                            <a:srgbClr val="000000"/>
                          </a:solidFill>
                          <a:latin typeface="Times New Roman"/>
                        </a:rPr>
                        <a:t>ROUGE-1</a:t>
                      </a:r>
                    </a:p>
                  </a:txBody>
                  <a:tcPr anchor="ctr" marL="45720" marR="45720" marT="18288" marB="18288"/>
                </a:tc>
                <a:tc>
                  <a:txBody>
                    <a:bodyPr wrap="square"/>
                    <a:lstStyle/>
                    <a:p>
                      <a:pPr algn="ctr"/>
                      <a:r>
                        <a:rPr sz="1050" b="0">
                          <a:solidFill>
                            <a:srgbClr val="000000"/>
                          </a:solidFill>
                          <a:latin typeface="Times New Roman"/>
                        </a:rPr>
                        <a:t>__________</a:t>
                      </a:r>
                    </a:p>
                  </a:txBody>
                  <a:tcPr anchor="ctr" marL="45720" marR="45720" marT="18288" marB="18288"/>
                </a:tc>
                <a:tc>
                  <a:txBody>
                    <a:bodyPr wrap="square"/>
                    <a:lstStyle/>
                    <a:p>
                      <a:pPr algn="ctr"/>
                      <a:r>
                        <a:rPr sz="1050" b="0">
                          <a:solidFill>
                            <a:srgbClr val="000000"/>
                          </a:solidFill>
                          <a:latin typeface="Times New Roman"/>
                        </a:rPr>
                        <a:t>__________</a:t>
                      </a:r>
                    </a:p>
                  </a:txBody>
                  <a:tcPr anchor="ctr" marL="45720" marR="45720" marT="18288" marB="18288"/>
                </a:tc>
                <a:tc>
                  <a:txBody>
                    <a:bodyPr wrap="square"/>
                    <a:lstStyle/>
                    <a:p>
                      <a:pPr algn="ctr"/>
                      <a:r>
                        <a:rPr sz="1050" b="0">
                          <a:solidFill>
                            <a:srgbClr val="000000"/>
                          </a:solidFill>
                          <a:latin typeface="Times New Roman"/>
                        </a:rPr>
                        <a:t>SciReviewGen test</a:t>
                      </a:r>
                    </a:p>
                  </a:txBody>
                  <a:tcPr anchor="ctr" marL="45720" marR="45720" marT="18288" marB="18288"/>
                </a:tc>
              </a:tr>
              <a:tr h="356616">
                <a:tc>
                  <a:txBody>
                    <a:bodyPr wrap="square"/>
                    <a:lstStyle/>
                    <a:p>
                      <a:pPr algn="l"/>
                      <a:r>
                        <a:rPr sz="1050" b="0">
                          <a:solidFill>
                            <a:srgbClr val="000000"/>
                          </a:solidFill>
                          <a:latin typeface="Times New Roman"/>
                        </a:rPr>
                        <a:t>ROUGE-2</a:t>
                      </a:r>
                    </a:p>
                  </a:txBody>
                  <a:tcPr anchor="ctr" marL="45720" marR="45720" marT="18288" marB="18288"/>
                </a:tc>
                <a:tc>
                  <a:txBody>
                    <a:bodyPr wrap="square"/>
                    <a:lstStyle/>
                    <a:p>
                      <a:pPr algn="ctr"/>
                      <a:r>
                        <a:rPr sz="1050" b="0">
                          <a:solidFill>
                            <a:srgbClr val="000000"/>
                          </a:solidFill>
                          <a:latin typeface="Times New Roman"/>
                        </a:rPr>
                        <a:t>__________</a:t>
                      </a:r>
                    </a:p>
                  </a:txBody>
                  <a:tcPr anchor="ctr" marL="45720" marR="45720" marT="18288" marB="18288"/>
                </a:tc>
                <a:tc>
                  <a:txBody>
                    <a:bodyPr wrap="square"/>
                    <a:lstStyle/>
                    <a:p>
                      <a:pPr algn="ctr"/>
                      <a:r>
                        <a:rPr sz="1050" b="0">
                          <a:solidFill>
                            <a:srgbClr val="000000"/>
                          </a:solidFill>
                          <a:latin typeface="Times New Roman"/>
                        </a:rPr>
                        <a:t>__________</a:t>
                      </a:r>
                    </a:p>
                  </a:txBody>
                  <a:tcPr anchor="ctr" marL="45720" marR="45720" marT="18288" marB="18288"/>
                </a:tc>
                <a:tc>
                  <a:txBody>
                    <a:bodyPr wrap="square"/>
                    <a:lstStyle/>
                    <a:p>
                      <a:pPr algn="ctr"/>
                      <a:r>
                        <a:rPr sz="1050" b="0">
                          <a:solidFill>
                            <a:srgbClr val="000000"/>
                          </a:solidFill>
                          <a:latin typeface="Times New Roman"/>
                        </a:rPr>
                        <a:t>SciReviewGen test</a:t>
                      </a:r>
                    </a:p>
                  </a:txBody>
                  <a:tcPr anchor="ctr" marL="45720" marR="45720" marT="18288" marB="18288"/>
                </a:tc>
              </a:tr>
              <a:tr h="356616">
                <a:tc>
                  <a:txBody>
                    <a:bodyPr wrap="square"/>
                    <a:lstStyle/>
                    <a:p>
                      <a:pPr algn="l"/>
                      <a:r>
                        <a:rPr sz="1050" b="1">
                          <a:solidFill>
                            <a:srgbClr val="000000"/>
                          </a:solidFill>
                          <a:latin typeface="Times New Roman"/>
                        </a:rPr>
                        <a:t>ROUGE-L</a:t>
                      </a:r>
                    </a:p>
                  </a:txBody>
                  <a:tcPr anchor="ctr" marL="45720" marR="45720" marT="18288" marB="18288"/>
                </a:tc>
                <a:tc>
                  <a:txBody>
                    <a:bodyPr wrap="square"/>
                    <a:lstStyle/>
                    <a:p>
                      <a:pPr algn="ctr"/>
                      <a:r>
                        <a:rPr sz="1050" b="0">
                          <a:solidFill>
                            <a:srgbClr val="000000"/>
                          </a:solidFill>
                          <a:latin typeface="Times New Roman"/>
                        </a:rPr>
                        <a:t>__________</a:t>
                      </a:r>
                    </a:p>
                  </a:txBody>
                  <a:tcPr anchor="ctr" marL="45720" marR="45720" marT="18288" marB="18288"/>
                </a:tc>
                <a:tc>
                  <a:txBody>
                    <a:bodyPr wrap="square"/>
                    <a:lstStyle/>
                    <a:p>
                      <a:pPr algn="ctr"/>
                      <a:r>
                        <a:rPr sz="1050" b="1">
                          <a:solidFill>
                            <a:srgbClr val="000000"/>
                          </a:solidFill>
                          <a:latin typeface="Times New Roman"/>
                        </a:rPr>
                        <a:t>29.44</a:t>
                      </a:r>
                    </a:p>
                  </a:txBody>
                  <a:tcPr anchor="ctr" marL="45720" marR="45720" marT="18288" marB="18288"/>
                </a:tc>
                <a:tc>
                  <a:txBody>
                    <a:bodyPr wrap="square"/>
                    <a:lstStyle/>
                    <a:p>
                      <a:pPr algn="ctr"/>
                      <a:r>
                        <a:rPr sz="1050" b="0">
                          <a:solidFill>
                            <a:srgbClr val="000000"/>
                          </a:solidFill>
                          <a:latin typeface="Times New Roman"/>
                        </a:rPr>
                        <a:t>SciReviewGen test</a:t>
                      </a:r>
                    </a:p>
                  </a:txBody>
                  <a:tcPr anchor="ctr" marL="45720" marR="45720" marT="18288" marB="18288"/>
                </a:tc>
              </a:tr>
              <a:tr h="356616">
                <a:tc>
                  <a:txBody>
                    <a:bodyPr wrap="square"/>
                    <a:lstStyle/>
                    <a:p>
                      <a:pPr algn="l"/>
                      <a:r>
                        <a:rPr sz="1050" b="0">
                          <a:solidFill>
                            <a:srgbClr val="000000"/>
                          </a:solidFill>
                          <a:latin typeface="Times New Roman"/>
                        </a:rPr>
                        <a:t>BERTScore F1</a:t>
                      </a:r>
                    </a:p>
                  </a:txBody>
                  <a:tcPr anchor="ctr" marL="45720" marR="45720" marT="18288" marB="18288"/>
                </a:tc>
                <a:tc>
                  <a:txBody>
                    <a:bodyPr wrap="square"/>
                    <a:lstStyle/>
                    <a:p>
                      <a:pPr algn="ctr"/>
                      <a:r>
                        <a:rPr sz="1050" b="0">
                          <a:solidFill>
                            <a:srgbClr val="000000"/>
                          </a:solidFill>
                          <a:latin typeface="Times New Roman"/>
                        </a:rPr>
                        <a:t>__________</a:t>
                      </a:r>
                    </a:p>
                  </a:txBody>
                  <a:tcPr anchor="ctr" marL="45720" marR="45720" marT="18288" marB="18288"/>
                </a:tc>
                <a:tc>
                  <a:txBody>
                    <a:bodyPr wrap="square"/>
                    <a:lstStyle/>
                    <a:p>
                      <a:pPr algn="ctr"/>
                      <a:r>
                        <a:rPr sz="1050" b="0">
                          <a:solidFill>
                            <a:srgbClr val="000000"/>
                          </a:solidFill>
                          <a:latin typeface="Times New Roman"/>
                        </a:rPr>
                        <a:t>__________</a:t>
                      </a:r>
                    </a:p>
                  </a:txBody>
                  <a:tcPr anchor="ctr" marL="45720" marR="45720" marT="18288" marB="18288"/>
                </a:tc>
                <a:tc>
                  <a:txBody>
                    <a:bodyPr wrap="square"/>
                    <a:lstStyle/>
                    <a:p>
                      <a:pPr algn="ctr"/>
                      <a:r>
                        <a:rPr sz="1050" b="0">
                          <a:solidFill>
                            <a:srgbClr val="000000"/>
                          </a:solidFill>
                          <a:latin typeface="Times New Roman"/>
                        </a:rPr>
                        <a:t>SciReviewGen test</a:t>
                      </a:r>
                    </a:p>
                  </a:txBody>
                  <a:tcPr anchor="ctr" marL="45720" marR="45720" marT="18288" marB="18288"/>
                </a:tc>
              </a:tr>
            </a:tbl>
          </a:graphicData>
        </a:graphic>
      </p:graphicFrame>
      <p:sp>
        <p:nvSpPr>
          <p:cNvPr id="6" name="TextBox 5"/>
          <p:cNvSpPr txBox="1"/>
          <p:nvPr/>
        </p:nvSpPr>
        <p:spPr>
          <a:xfrm>
            <a:off x="228600" y="3081528"/>
            <a:ext cx="8686800" cy="1856232"/>
          </a:xfrm>
          <a:prstGeom prst="rect">
            <a:avLst/>
          </a:prstGeom>
          <a:noFill/>
        </p:spPr>
        <p:txBody>
          <a:bodyPr wrap="square" lIns="0" rIns="0" tIns="0" bIns="0">
            <a:spAutoFit/>
          </a:bodyPr>
          <a:lstStyle/>
          <a:p>
            <a:pPr algn="just">
              <a:lnSpc>
                <a:spcPct val="100000"/>
              </a:lnSpc>
              <a:spcAft>
                <a:spcPts val="300"/>
              </a:spcAft>
            </a:pPr>
            <a:r>
              <a:rPr sz="1050" b="1">
                <a:solidFill>
                  <a:srgbClr val="000000"/>
                </a:solidFill>
                <a:latin typeface="Times New Roman"/>
              </a:rPr>
              <a:t>One model, two agents. </a:t>
            </a:r>
            <a:r>
              <a:rPr sz="1050" b="0">
                <a:solidFill>
                  <a:srgbClr val="000000"/>
                </a:solidFill>
                <a:latin typeface="Times New Roman"/>
              </a:rPr>
              <a:t>The Extractor reads each selected paper in full from the local cache and returns a summary of it; the Writer then composes those summaries into the review’s four sections — architecture, metrics, datasets, and advantages and disadvantages. Both tasks are summarisation over scientific text, so both are served by a single fine-tuned model rather than two.</a:t>
            </a:r>
          </a:p>
          <a:p>
            <a:pPr algn="just">
              <a:lnSpc>
                <a:spcPct val="100000"/>
              </a:lnSpc>
              <a:spcAft>
                <a:spcPts val="300"/>
              </a:spcAft>
            </a:pPr>
            <a:r>
              <a:rPr sz="1050" b="1">
                <a:solidFill>
                  <a:srgbClr val="000000"/>
                </a:solidFill>
                <a:latin typeface="Times New Roman"/>
              </a:rPr>
              <a:t>Two-stage training. </a:t>
            </a:r>
            <a:r>
              <a:rPr sz="1050" b="0">
                <a:solidFill>
                  <a:srgbClr val="000000"/>
                </a:solidFill>
                <a:latin typeface="Times New Roman"/>
              </a:rPr>
              <a:t>General summarisation on CNN/DailyMail, followed by domain adaptation on SciReviewGen’s reference-to-chapter pairs, which pair a survey chapter with the abstracts its human author actually cited.</a:t>
            </a:r>
          </a:p>
          <a:p>
            <a:pPr algn="just">
              <a:lnSpc>
                <a:spcPct val="100000"/>
              </a:lnSpc>
              <a:spcAft>
                <a:spcPts val="300"/>
              </a:spcAft>
            </a:pPr>
            <a:r>
              <a:rPr sz="1050" b="1">
                <a:solidFill>
                  <a:srgbClr val="000000"/>
                </a:solidFill>
                <a:latin typeface="Times New Roman"/>
              </a:rPr>
              <a:t>ROUGE-L 29.44 on the title-disjoint SciReviewGen test split, </a:t>
            </a:r>
            <a:r>
              <a:rPr sz="1050" b="0">
                <a:solidFill>
                  <a:srgbClr val="000000"/>
                </a:solidFill>
                <a:latin typeface="Times New Roman"/>
              </a:rPr>
              <a:t>the same split protocol used for the Ranker. At 139M parameters the model runs on CPU, which is what keeps the generative path local. Remaining cells are to be completed from the training run’s evaluation log.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Experimental Results in the Table Format</a:t>
            </a:r>
          </a:p>
        </p:txBody>
      </p:sp>
      <p:sp>
        <p:nvSpPr>
          <p:cNvPr id="4" name="TextBox 3"/>
          <p:cNvSpPr txBox="1"/>
          <p:nvPr/>
        </p:nvSpPr>
        <p:spPr>
          <a:xfrm>
            <a:off x="228600" y="822960"/>
            <a:ext cx="8686800" cy="411480"/>
          </a:xfrm>
          <a:prstGeom prst="rect">
            <a:avLst/>
          </a:prstGeom>
          <a:noFill/>
        </p:spPr>
        <p:txBody>
          <a:bodyPr wrap="square" lIns="0" rIns="0" tIns="0" bIns="0">
            <a:spAutoFit/>
          </a:bodyPr>
          <a:lstStyle/>
          <a:p>
            <a:pPr algn="just">
              <a:lnSpc>
                <a:spcPct val="100000"/>
              </a:lnSpc>
              <a:spcAft>
                <a:spcPts val="200"/>
              </a:spcAft>
            </a:pPr>
            <a:r>
              <a:rPr sz="1100" b="0">
                <a:solidFill>
                  <a:srgbClr val="000000"/>
                </a:solidFill>
                <a:latin typeface="Times New Roman"/>
              </a:rPr>
              <a:t>End-to-end pipeline results — four complete runs on the same research question, scored against the project’s own 35-paper bibliography.</a:t>
            </a:r>
          </a:p>
        </p:txBody>
      </p:sp>
      <p:graphicFrame>
        <p:nvGraphicFramePr>
          <p:cNvPr id="5" name="Table 4"/>
          <p:cNvGraphicFramePr>
            <a:graphicFrameLocks noGrp="1"/>
          </p:cNvGraphicFramePr>
          <p:nvPr/>
        </p:nvGraphicFramePr>
        <p:xfrm>
          <a:off x="548639" y="1188720"/>
          <a:ext cx="8046720" cy="2423160"/>
        </p:xfrm>
        <a:graphic>
          <a:graphicData uri="http://schemas.openxmlformats.org/drawingml/2006/table">
            <a:tbl>
              <a:tblPr firstRow="1" bandRow="1">
                <a:tableStyleId>{5C22544A-7EE6-4342-B048-85BDC9FD1C3A}</a:tableStyleId>
              </a:tblPr>
              <a:tblGrid>
                <a:gridCol w="2103120"/>
                <a:gridCol w="1691640"/>
                <a:gridCol w="1325880"/>
                <a:gridCol w="1508760"/>
                <a:gridCol w="1417320"/>
              </a:tblGrid>
              <a:tr h="346165">
                <a:tc>
                  <a:txBody>
                    <a:bodyPr wrap="square"/>
                    <a:lstStyle/>
                    <a:p>
                      <a:pPr algn="ctr"/>
                      <a:r>
                        <a:rPr sz="1100" b="1">
                          <a:solidFill>
                            <a:srgbClr val="000000"/>
                          </a:solidFill>
                          <a:latin typeface="Times New Roman"/>
                        </a:rPr>
                        <a:t>Metric</a:t>
                      </a:r>
                    </a:p>
                  </a:txBody>
                  <a:tcPr anchor="ctr" marL="45720" marR="45720" marT="18288" marB="18288"/>
                </a:tc>
                <a:tc>
                  <a:txBody>
                    <a:bodyPr wrap="square"/>
                    <a:lstStyle/>
                    <a:p>
                      <a:pPr algn="ctr"/>
                      <a:r>
                        <a:rPr sz="1100" b="1">
                          <a:solidFill>
                            <a:srgbClr val="000000"/>
                          </a:solidFill>
                          <a:latin typeface="Times New Roman"/>
                        </a:rPr>
                        <a:t>Showcase loop run</a:t>
                      </a:r>
                    </a:p>
                  </a:txBody>
                  <a:tcPr anchor="ctr" marL="45720" marR="45720" marT="18288" marB="18288"/>
                </a:tc>
                <a:tc>
                  <a:txBody>
                    <a:bodyPr wrap="square"/>
                    <a:lstStyle/>
                    <a:p>
                      <a:pPr algn="ctr"/>
                      <a:r>
                        <a:rPr sz="1100" b="1">
                          <a:solidFill>
                            <a:srgbClr val="000000"/>
                          </a:solidFill>
                          <a:latin typeface="Times New Roman"/>
                        </a:rPr>
                        <a:t>Flagship</a:t>
                      </a:r>
                    </a:p>
                  </a:txBody>
                  <a:tcPr anchor="ctr" marL="45720" marR="45720" marT="18288" marB="18288"/>
                </a:tc>
                <a:tc>
                  <a:txBody>
                    <a:bodyPr wrap="square"/>
                    <a:lstStyle/>
                    <a:p>
                      <a:pPr algn="ctr"/>
                      <a:r>
                        <a:rPr sz="1100" b="1">
                          <a:solidFill>
                            <a:srgbClr val="000000"/>
                          </a:solidFill>
                          <a:latin typeface="Times New Roman"/>
                        </a:rPr>
                        <a:t>Widened (cap 100)</a:t>
                      </a:r>
                    </a:p>
                  </a:txBody>
                  <a:tcPr anchor="ctr" marL="45720" marR="45720" marT="18288" marB="18288"/>
                </a:tc>
                <a:tc>
                  <a:txBody>
                    <a:bodyPr wrap="square"/>
                    <a:lstStyle/>
                    <a:p>
                      <a:pPr algn="ctr"/>
                      <a:r>
                        <a:rPr sz="1100" b="1">
                          <a:solidFill>
                            <a:srgbClr val="000000"/>
                          </a:solidFill>
                          <a:latin typeface="Times New Roman"/>
                        </a:rPr>
                        <a:t>Capped (cap 25)</a:t>
                      </a:r>
                    </a:p>
                  </a:txBody>
                  <a:tcPr anchor="ctr" marL="45720" marR="45720" marT="18288" marB="18288"/>
                </a:tc>
              </a:tr>
              <a:tr h="346165">
                <a:tc>
                  <a:txBody>
                    <a:bodyPr wrap="square"/>
                    <a:lstStyle/>
                    <a:p>
                      <a:pPr algn="l"/>
                      <a:r>
                        <a:rPr sz="950" b="0">
                          <a:solidFill>
                            <a:srgbClr val="000000"/>
                          </a:solidFill>
                          <a:latin typeface="Times New Roman"/>
                        </a:rPr>
                        <a:t>Corpus / candidate pool</a:t>
                      </a:r>
                    </a:p>
                  </a:txBody>
                  <a:tcPr anchor="ctr" marL="45720" marR="45720" marT="18288" marB="18288"/>
                </a:tc>
                <a:tc>
                  <a:txBody>
                    <a:bodyPr wrap="square"/>
                    <a:lstStyle/>
                    <a:p>
                      <a:pPr algn="ctr"/>
                      <a:r>
                        <a:rPr sz="950" b="0">
                          <a:solidFill>
                            <a:srgbClr val="000000"/>
                          </a:solidFill>
                          <a:latin typeface="Times New Roman"/>
                        </a:rPr>
                        <a:t>271 → 551</a:t>
                      </a:r>
                    </a:p>
                  </a:txBody>
                  <a:tcPr anchor="ctr" marL="45720" marR="45720" marT="18288" marB="18288"/>
                </a:tc>
                <a:tc>
                  <a:txBody>
                    <a:bodyPr wrap="square"/>
                    <a:lstStyle/>
                    <a:p>
                      <a:pPr algn="ctr"/>
                      <a:r>
                        <a:rPr sz="950" b="0">
                          <a:solidFill>
                            <a:srgbClr val="000000"/>
                          </a:solidFill>
                          <a:latin typeface="Times New Roman"/>
                        </a:rPr>
                        <a:t>271</a:t>
                      </a:r>
                    </a:p>
                  </a:txBody>
                  <a:tcPr anchor="ctr" marL="45720" marR="45720" marT="18288" marB="18288"/>
                </a:tc>
                <a:tc>
                  <a:txBody>
                    <a:bodyPr wrap="square"/>
                    <a:lstStyle/>
                    <a:p>
                      <a:pPr algn="ctr"/>
                      <a:r>
                        <a:rPr sz="950" b="0">
                          <a:solidFill>
                            <a:srgbClr val="000000"/>
                          </a:solidFill>
                          <a:latin typeface="Times New Roman"/>
                        </a:rPr>
                        <a:t>8,347</a:t>
                      </a:r>
                    </a:p>
                  </a:txBody>
                  <a:tcPr anchor="ctr" marL="45720" marR="45720" marT="18288" marB="18288"/>
                </a:tc>
                <a:tc>
                  <a:txBody>
                    <a:bodyPr wrap="square"/>
                    <a:lstStyle/>
                    <a:p>
                      <a:pPr algn="ctr"/>
                      <a:r>
                        <a:rPr sz="950" b="0">
                          <a:solidFill>
                            <a:srgbClr val="000000"/>
                          </a:solidFill>
                          <a:latin typeface="Times New Roman"/>
                        </a:rPr>
                        <a:t>2,217</a:t>
                      </a:r>
                    </a:p>
                  </a:txBody>
                  <a:tcPr anchor="ctr" marL="45720" marR="45720" marT="18288" marB="18288"/>
                </a:tc>
              </a:tr>
              <a:tr h="346165">
                <a:tc>
                  <a:txBody>
                    <a:bodyPr wrap="square"/>
                    <a:lstStyle/>
                    <a:p>
                      <a:pPr algn="l"/>
                      <a:r>
                        <a:rPr sz="950" b="0">
                          <a:solidFill>
                            <a:srgbClr val="000000"/>
                          </a:solidFill>
                          <a:latin typeface="Times New Roman"/>
                        </a:rPr>
                        <a:t>Union recall (35-paper key)</a:t>
                      </a:r>
                    </a:p>
                  </a:txBody>
                  <a:tcPr anchor="ctr" marL="45720" marR="45720" marT="18288" marB="18288"/>
                </a:tc>
                <a:tc>
                  <a:txBody>
                    <a:bodyPr wrap="square"/>
                    <a:lstStyle/>
                    <a:p>
                      <a:pPr algn="ctr"/>
                      <a:r>
                        <a:rPr sz="950" b="0">
                          <a:solidFill>
                            <a:srgbClr val="000000"/>
                          </a:solidFill>
                          <a:latin typeface="Times New Roman"/>
                        </a:rPr>
                        <a:t>0.0571</a:t>
                      </a:r>
                    </a:p>
                  </a:txBody>
                  <a:tcPr anchor="ctr" marL="45720" marR="45720" marT="18288" marB="18288"/>
                </a:tc>
                <a:tc>
                  <a:txBody>
                    <a:bodyPr wrap="square"/>
                    <a:lstStyle/>
                    <a:p>
                      <a:pPr algn="ctr"/>
                      <a:r>
                        <a:rPr sz="950" b="0">
                          <a:solidFill>
                            <a:srgbClr val="000000"/>
                          </a:solidFill>
                          <a:latin typeface="Times New Roman"/>
                        </a:rPr>
                        <a:t>0.0571</a:t>
                      </a:r>
                    </a:p>
                  </a:txBody>
                  <a:tcPr anchor="ctr" marL="45720" marR="45720" marT="18288" marB="18288"/>
                </a:tc>
                <a:tc>
                  <a:txBody>
                    <a:bodyPr wrap="square"/>
                    <a:lstStyle/>
                    <a:p>
                      <a:pPr algn="ctr"/>
                      <a:r>
                        <a:rPr sz="950" b="0">
                          <a:solidFill>
                            <a:srgbClr val="000000"/>
                          </a:solidFill>
                          <a:latin typeface="Times New Roman"/>
                        </a:rPr>
                        <a:t>0.2857</a:t>
                      </a:r>
                    </a:p>
                  </a:txBody>
                  <a:tcPr anchor="ctr" marL="45720" marR="45720" marT="18288" marB="18288"/>
                </a:tc>
                <a:tc>
                  <a:txBody>
                    <a:bodyPr wrap="square"/>
                    <a:lstStyle/>
                    <a:p>
                      <a:pPr algn="ctr"/>
                      <a:r>
                        <a:rPr sz="950" b="0">
                          <a:solidFill>
                            <a:srgbClr val="000000"/>
                          </a:solidFill>
                          <a:latin typeface="Times New Roman"/>
                        </a:rPr>
                        <a:t>0.2571</a:t>
                      </a:r>
                    </a:p>
                  </a:txBody>
                  <a:tcPr anchor="ctr" marL="45720" marR="45720" marT="18288" marB="18288"/>
                </a:tc>
              </a:tr>
              <a:tr h="346165">
                <a:tc>
                  <a:txBody>
                    <a:bodyPr wrap="square"/>
                    <a:lstStyle/>
                    <a:p>
                      <a:pPr algn="l"/>
                      <a:r>
                        <a:rPr sz="950" b="0">
                          <a:solidFill>
                            <a:srgbClr val="000000"/>
                          </a:solidFill>
                          <a:latin typeface="Times New Roman"/>
                        </a:rPr>
                        <a:t>Claims decomposed</a:t>
                      </a:r>
                    </a:p>
                  </a:txBody>
                  <a:tcPr anchor="ctr" marL="45720" marR="45720" marT="18288" marB="18288"/>
                </a:tc>
                <a:tc>
                  <a:txBody>
                    <a:bodyPr wrap="square"/>
                    <a:lstStyle/>
                    <a:p>
                      <a:pPr algn="ctr"/>
                      <a:r>
                        <a:rPr sz="950" b="0">
                          <a:solidFill>
                            <a:srgbClr val="000000"/>
                          </a:solidFill>
                          <a:latin typeface="Times New Roman"/>
                        </a:rPr>
                        <a:t>22</a:t>
                      </a:r>
                    </a:p>
                  </a:txBody>
                  <a:tcPr anchor="ctr" marL="45720" marR="45720" marT="18288" marB="18288"/>
                </a:tc>
                <a:tc>
                  <a:txBody>
                    <a:bodyPr wrap="square"/>
                    <a:lstStyle/>
                    <a:p>
                      <a:pPr algn="ctr"/>
                      <a:r>
                        <a:rPr sz="950" b="0">
                          <a:solidFill>
                            <a:srgbClr val="000000"/>
                          </a:solidFill>
                          <a:latin typeface="Times New Roman"/>
                        </a:rPr>
                        <a:t>33</a:t>
                      </a:r>
                    </a:p>
                  </a:txBody>
                  <a:tcPr anchor="ctr" marL="45720" marR="45720" marT="18288" marB="18288"/>
                </a:tc>
                <a:tc>
                  <a:txBody>
                    <a:bodyPr wrap="square"/>
                    <a:lstStyle/>
                    <a:p>
                      <a:pPr algn="ctr"/>
                      <a:r>
                        <a:rPr sz="950" b="0">
                          <a:solidFill>
                            <a:srgbClr val="000000"/>
                          </a:solidFill>
                          <a:latin typeface="Times New Roman"/>
                        </a:rPr>
                        <a:t>17</a:t>
                      </a:r>
                    </a:p>
                  </a:txBody>
                  <a:tcPr anchor="ctr" marL="45720" marR="45720" marT="18288" marB="18288"/>
                </a:tc>
                <a:tc>
                  <a:txBody>
                    <a:bodyPr wrap="square"/>
                    <a:lstStyle/>
                    <a:p>
                      <a:pPr algn="ctr"/>
                      <a:r>
                        <a:rPr sz="950" b="0">
                          <a:solidFill>
                            <a:srgbClr val="000000"/>
                          </a:solidFill>
                          <a:latin typeface="Times New Roman"/>
                        </a:rPr>
                        <a:t>21</a:t>
                      </a:r>
                    </a:p>
                  </a:txBody>
                  <a:tcPr anchor="ctr" marL="45720" marR="45720" marT="18288" marB="18288"/>
                </a:tc>
              </a:tr>
              <a:tr h="346165">
                <a:tc>
                  <a:txBody>
                    <a:bodyPr wrap="square"/>
                    <a:lstStyle/>
                    <a:p>
                      <a:pPr algn="l"/>
                      <a:r>
                        <a:rPr sz="950" b="0">
                          <a:solidFill>
                            <a:srgbClr val="000000"/>
                          </a:solidFill>
                          <a:latin typeface="Times New Roman"/>
                        </a:rPr>
                        <a:t>Claims kept / dropped</a:t>
                      </a:r>
                    </a:p>
                  </a:txBody>
                  <a:tcPr anchor="ctr" marL="45720" marR="45720" marT="18288" marB="18288"/>
                </a:tc>
                <a:tc>
                  <a:txBody>
                    <a:bodyPr wrap="square"/>
                    <a:lstStyle/>
                    <a:p>
                      <a:pPr algn="ctr"/>
                      <a:r>
                        <a:rPr sz="950" b="0">
                          <a:solidFill>
                            <a:srgbClr val="000000"/>
                          </a:solidFill>
                          <a:latin typeface="Times New Roman"/>
                        </a:rPr>
                        <a:t>19 / 3</a:t>
                      </a:r>
                    </a:p>
                  </a:txBody>
                  <a:tcPr anchor="ctr" marL="45720" marR="45720" marT="18288" marB="18288"/>
                </a:tc>
                <a:tc>
                  <a:txBody>
                    <a:bodyPr wrap="square"/>
                    <a:lstStyle/>
                    <a:p>
                      <a:pPr algn="ctr"/>
                      <a:r>
                        <a:rPr sz="950" b="0">
                          <a:solidFill>
                            <a:srgbClr val="000000"/>
                          </a:solidFill>
                          <a:latin typeface="Times New Roman"/>
                        </a:rPr>
                        <a:t>27 / 6</a:t>
                      </a:r>
                    </a:p>
                  </a:txBody>
                  <a:tcPr anchor="ctr" marL="45720" marR="45720" marT="18288" marB="18288"/>
                </a:tc>
                <a:tc>
                  <a:txBody>
                    <a:bodyPr wrap="square"/>
                    <a:lstStyle/>
                    <a:p>
                      <a:pPr algn="ctr"/>
                      <a:r>
                        <a:rPr sz="950" b="0">
                          <a:solidFill>
                            <a:srgbClr val="000000"/>
                          </a:solidFill>
                          <a:latin typeface="Times New Roman"/>
                        </a:rPr>
                        <a:t>17 / 0</a:t>
                      </a:r>
                    </a:p>
                  </a:txBody>
                  <a:tcPr anchor="ctr" marL="45720" marR="45720" marT="18288" marB="18288"/>
                </a:tc>
                <a:tc>
                  <a:txBody>
                    <a:bodyPr wrap="square"/>
                    <a:lstStyle/>
                    <a:p>
                      <a:pPr algn="ctr"/>
                      <a:r>
                        <a:rPr sz="950" b="0">
                          <a:solidFill>
                            <a:srgbClr val="000000"/>
                          </a:solidFill>
                          <a:latin typeface="Times New Roman"/>
                        </a:rPr>
                        <a:t>16 / 5</a:t>
                      </a:r>
                    </a:p>
                  </a:txBody>
                  <a:tcPr anchor="ctr" marL="45720" marR="45720" marT="18288" marB="18288"/>
                </a:tc>
              </a:tr>
              <a:tr h="346165">
                <a:tc>
                  <a:txBody>
                    <a:bodyPr wrap="square"/>
                    <a:lstStyle/>
                    <a:p>
                      <a:pPr algn="l"/>
                      <a:r>
                        <a:rPr sz="950" b="1">
                          <a:solidFill>
                            <a:srgbClr val="000000"/>
                          </a:solidFill>
                          <a:latin typeface="Times New Roman"/>
                        </a:rPr>
                        <a:t>Grounding score</a:t>
                      </a:r>
                    </a:p>
                  </a:txBody>
                  <a:tcPr anchor="ctr" marL="45720" marR="45720" marT="18288" marB="18288"/>
                </a:tc>
                <a:tc>
                  <a:txBody>
                    <a:bodyPr wrap="square"/>
                    <a:lstStyle/>
                    <a:p>
                      <a:pPr algn="ctr"/>
                      <a:r>
                        <a:rPr sz="950" b="1">
                          <a:solidFill>
                            <a:srgbClr val="000000"/>
                          </a:solidFill>
                          <a:latin typeface="Times New Roman"/>
                        </a:rPr>
                        <a:t>0.8636</a:t>
                      </a:r>
                    </a:p>
                  </a:txBody>
                  <a:tcPr anchor="ctr" marL="45720" marR="45720" marT="18288" marB="18288"/>
                </a:tc>
                <a:tc>
                  <a:txBody>
                    <a:bodyPr wrap="square"/>
                    <a:lstStyle/>
                    <a:p>
                      <a:pPr algn="ctr"/>
                      <a:r>
                        <a:rPr sz="950" b="1">
                          <a:solidFill>
                            <a:srgbClr val="000000"/>
                          </a:solidFill>
                          <a:latin typeface="Times New Roman"/>
                        </a:rPr>
                        <a:t>0.8182</a:t>
                      </a:r>
                    </a:p>
                  </a:txBody>
                  <a:tcPr anchor="ctr" marL="45720" marR="45720" marT="18288" marB="18288"/>
                </a:tc>
                <a:tc>
                  <a:txBody>
                    <a:bodyPr wrap="square"/>
                    <a:lstStyle/>
                    <a:p>
                      <a:pPr algn="ctr"/>
                      <a:r>
                        <a:rPr sz="950" b="1">
                          <a:solidFill>
                            <a:srgbClr val="000000"/>
                          </a:solidFill>
                          <a:latin typeface="Times New Roman"/>
                        </a:rPr>
                        <a:t>1.0000</a:t>
                      </a:r>
                    </a:p>
                  </a:txBody>
                  <a:tcPr anchor="ctr" marL="45720" marR="45720" marT="18288" marB="18288"/>
                </a:tc>
                <a:tc>
                  <a:txBody>
                    <a:bodyPr wrap="square"/>
                    <a:lstStyle/>
                    <a:p>
                      <a:pPr algn="ctr"/>
                      <a:r>
                        <a:rPr sz="950" b="1">
                          <a:solidFill>
                            <a:srgbClr val="000000"/>
                          </a:solidFill>
                          <a:latin typeface="Times New Roman"/>
                        </a:rPr>
                        <a:t>0.7619</a:t>
                      </a:r>
                    </a:p>
                  </a:txBody>
                  <a:tcPr anchor="ctr" marL="45720" marR="45720" marT="18288" marB="18288"/>
                </a:tc>
              </a:tr>
              <a:tr h="346170">
                <a:tc>
                  <a:txBody>
                    <a:bodyPr wrap="square"/>
                    <a:lstStyle/>
                    <a:p>
                      <a:pPr algn="l"/>
                      <a:r>
                        <a:rPr sz="950" b="0">
                          <a:solidFill>
                            <a:srgbClr val="000000"/>
                          </a:solidFill>
                          <a:latin typeface="Times New Roman"/>
                        </a:rPr>
                        <a:t>Wall clock</a:t>
                      </a:r>
                    </a:p>
                  </a:txBody>
                  <a:tcPr anchor="ctr" marL="45720" marR="45720" marT="18288" marB="18288"/>
                </a:tc>
                <a:tc>
                  <a:txBody>
                    <a:bodyPr wrap="square"/>
                    <a:lstStyle/>
                    <a:p>
                      <a:pPr algn="ctr"/>
                      <a:r>
                        <a:rPr sz="950" b="0">
                          <a:solidFill>
                            <a:srgbClr val="000000"/>
                          </a:solidFill>
                          <a:latin typeface="Times New Roman"/>
                        </a:rPr>
                        <a:t>—</a:t>
                      </a:r>
                    </a:p>
                  </a:txBody>
                  <a:tcPr anchor="ctr" marL="45720" marR="45720" marT="18288" marB="18288"/>
                </a:tc>
                <a:tc>
                  <a:txBody>
                    <a:bodyPr wrap="square"/>
                    <a:lstStyle/>
                    <a:p>
                      <a:pPr algn="ctr"/>
                      <a:r>
                        <a:rPr sz="950" b="0">
                          <a:solidFill>
                            <a:srgbClr val="000000"/>
                          </a:solidFill>
                          <a:latin typeface="Times New Roman"/>
                        </a:rPr>
                        <a:t>317.9 s</a:t>
                      </a:r>
                    </a:p>
                  </a:txBody>
                  <a:tcPr anchor="ctr" marL="45720" marR="45720" marT="18288" marB="18288"/>
                </a:tc>
                <a:tc>
                  <a:txBody>
                    <a:bodyPr wrap="square"/>
                    <a:lstStyle/>
                    <a:p>
                      <a:pPr algn="ctr"/>
                      <a:r>
                        <a:rPr sz="950" b="0">
                          <a:solidFill>
                            <a:srgbClr val="000000"/>
                          </a:solidFill>
                          <a:latin typeface="Times New Roman"/>
                        </a:rPr>
                        <a:t>4,447.6 s</a:t>
                      </a:r>
                    </a:p>
                  </a:txBody>
                  <a:tcPr anchor="ctr" marL="45720" marR="45720" marT="18288" marB="18288"/>
                </a:tc>
                <a:tc>
                  <a:txBody>
                    <a:bodyPr wrap="square"/>
                    <a:lstStyle/>
                    <a:p>
                      <a:pPr algn="ctr"/>
                      <a:r>
                        <a:rPr sz="950" b="0">
                          <a:solidFill>
                            <a:srgbClr val="000000"/>
                          </a:solidFill>
                          <a:latin typeface="Times New Roman"/>
                        </a:rPr>
                        <a:t>2,483.3 s</a:t>
                      </a:r>
                    </a:p>
                  </a:txBody>
                  <a:tcPr anchor="ctr" marL="45720" marR="45720" marT="18288" marB="18288"/>
                </a:tc>
              </a:tr>
            </a:tbl>
          </a:graphicData>
        </a:graphic>
      </p:graphicFrame>
      <p:sp>
        <p:nvSpPr>
          <p:cNvPr id="6" name="TextBox 5"/>
          <p:cNvSpPr txBox="1"/>
          <p:nvPr/>
        </p:nvSpPr>
        <p:spPr>
          <a:xfrm>
            <a:off x="228600" y="3721608"/>
            <a:ext cx="8686800" cy="1216152"/>
          </a:xfrm>
          <a:prstGeom prst="rect">
            <a:avLst/>
          </a:prstGeom>
          <a:noFill/>
        </p:spPr>
        <p:txBody>
          <a:bodyPr wrap="square" lIns="0" rIns="0" tIns="0" bIns="0">
            <a:spAutoFit/>
          </a:bodyPr>
          <a:lstStyle/>
          <a:p>
            <a:pPr algn="just">
              <a:lnSpc>
                <a:spcPct val="100000"/>
              </a:lnSpc>
              <a:spcAft>
                <a:spcPts val="300"/>
              </a:spcAft>
            </a:pPr>
            <a:r>
              <a:rPr sz="1050" b="1">
                <a:solidFill>
                  <a:srgbClr val="000000"/>
                </a:solidFill>
                <a:latin typeface="Times New Roman"/>
              </a:rPr>
              <a:t>A grounding score of 1.0000 is the worst number in this table, not the best. </a:t>
            </a:r>
            <a:r>
              <a:rPr sz="1050" b="0">
                <a:solidFill>
                  <a:srgbClr val="000000"/>
                </a:solidFill>
                <a:latin typeface="Times New Roman"/>
              </a:rPr>
              <a:t>It means the Verifier dropped nothing, on a corpus containing no gold paper — the system was perfectly grounded in the wrong sources. The 0.7619 run, with five claims dropped, is the healthy one: the Verifier is still discriminating. Grounding measures internal consistency against whatever was retrieved, never correctness.</a:t>
            </a:r>
          </a:p>
          <a:p>
            <a:pPr algn="just">
              <a:lnSpc>
                <a:spcPct val="100000"/>
              </a:lnSpc>
              <a:spcAft>
                <a:spcPts val="300"/>
              </a:spcAft>
            </a:pPr>
            <a:r>
              <a:rPr sz="1050" b="1">
                <a:solidFill>
                  <a:srgbClr val="000000"/>
                </a:solidFill>
                <a:latin typeface="Times New Roman"/>
              </a:rPr>
              <a:t>Retrieval quality caps everything downstream. </a:t>
            </a:r>
            <a:r>
              <a:rPr sz="1050" b="0">
                <a:solidFill>
                  <a:srgbClr val="000000"/>
                </a:solidFill>
                <a:latin typeface="Times New Roman"/>
              </a:rPr>
              <a:t>Union recall against the 35-paper answer key never exceeded 0.2857 in these runs and corpus recall stayed at 0.000, so no answer-key paper ever survived selection. The Verifier cannot ground a statement against a paper that was never fetched, which means the ceiling on the review is fixed before the Writer runs.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Experimental Results in the Table Format</a:t>
            </a:r>
          </a:p>
        </p:txBody>
      </p:sp>
      <p:sp>
        <p:nvSpPr>
          <p:cNvPr id="4" name="TextBox 3"/>
          <p:cNvSpPr txBox="1"/>
          <p:nvPr/>
        </p:nvSpPr>
        <p:spPr>
          <a:xfrm>
            <a:off x="228600" y="822960"/>
            <a:ext cx="8686800" cy="411480"/>
          </a:xfrm>
          <a:prstGeom prst="rect">
            <a:avLst/>
          </a:prstGeom>
          <a:noFill/>
        </p:spPr>
        <p:txBody>
          <a:bodyPr wrap="square" lIns="0" rIns="0" tIns="0" bIns="0">
            <a:spAutoFit/>
          </a:bodyPr>
          <a:lstStyle/>
          <a:p>
            <a:pPr algn="just">
              <a:lnSpc>
                <a:spcPct val="100000"/>
              </a:lnSpc>
              <a:spcAft>
                <a:spcPts val="200"/>
              </a:spcAft>
            </a:pPr>
            <a:r>
              <a:rPr sz="1100" b="0">
                <a:solidFill>
                  <a:srgbClr val="000000"/>
                </a:solidFill>
                <a:latin typeface="Times New Roman"/>
              </a:rPr>
              <a:t>Latency, throughput and cost — measured on the target machine: Intel i5-10400, 6 cores, 24 GB RAM, no usable GPU.</a:t>
            </a:r>
          </a:p>
        </p:txBody>
      </p:sp>
      <p:graphicFrame>
        <p:nvGraphicFramePr>
          <p:cNvPr id="5" name="Table 4"/>
          <p:cNvGraphicFramePr>
            <a:graphicFrameLocks noGrp="1"/>
          </p:cNvGraphicFramePr>
          <p:nvPr/>
        </p:nvGraphicFramePr>
        <p:xfrm>
          <a:off x="502919" y="1188720"/>
          <a:ext cx="8138160" cy="2514600"/>
        </p:xfrm>
        <a:graphic>
          <a:graphicData uri="http://schemas.openxmlformats.org/drawingml/2006/table">
            <a:tbl>
              <a:tblPr firstRow="1" bandRow="1">
                <a:tableStyleId>{5C22544A-7EE6-4342-B048-85BDC9FD1C3A}</a:tableStyleId>
              </a:tblPr>
              <a:tblGrid>
                <a:gridCol w="2148840"/>
                <a:gridCol w="3520440"/>
                <a:gridCol w="2468880"/>
              </a:tblGrid>
              <a:tr h="314325">
                <a:tc>
                  <a:txBody>
                    <a:bodyPr wrap="square"/>
                    <a:lstStyle/>
                    <a:p>
                      <a:pPr algn="ctr"/>
                      <a:r>
                        <a:rPr sz="1100" b="1">
                          <a:solidFill>
                            <a:srgbClr val="000000"/>
                          </a:solidFill>
                          <a:latin typeface="Times New Roman"/>
                        </a:rPr>
                        <a:t>Measurement</a:t>
                      </a:r>
                    </a:p>
                  </a:txBody>
                  <a:tcPr anchor="ctr" marL="45720" marR="45720" marT="18288" marB="18288"/>
                </a:tc>
                <a:tc>
                  <a:txBody>
                    <a:bodyPr wrap="square"/>
                    <a:lstStyle/>
                    <a:p>
                      <a:pPr algn="ctr"/>
                      <a:r>
                        <a:rPr sz="1100" b="1">
                          <a:solidFill>
                            <a:srgbClr val="000000"/>
                          </a:solidFill>
                          <a:latin typeface="Times New Roman"/>
                        </a:rPr>
                        <a:t>Configuration</a:t>
                      </a:r>
                    </a:p>
                  </a:txBody>
                  <a:tcPr anchor="ctr" marL="45720" marR="45720" marT="18288" marB="18288"/>
                </a:tc>
                <a:tc>
                  <a:txBody>
                    <a:bodyPr wrap="square"/>
                    <a:lstStyle/>
                    <a:p>
                      <a:pPr algn="ctr"/>
                      <a:r>
                        <a:rPr sz="1100" b="1">
                          <a:solidFill>
                            <a:srgbClr val="000000"/>
                          </a:solidFill>
                          <a:latin typeface="Times New Roman"/>
                        </a:rPr>
                        <a:t>Value</a:t>
                      </a:r>
                    </a:p>
                  </a:txBody>
                  <a:tcPr anchor="ctr" marL="45720" marR="45720" marT="18288" marB="18288"/>
                </a:tc>
              </a:tr>
              <a:tr h="314325">
                <a:tc>
                  <a:txBody>
                    <a:bodyPr wrap="square"/>
                    <a:lstStyle/>
                    <a:p>
                      <a:pPr algn="l"/>
                      <a:r>
                        <a:rPr sz="1000" b="0">
                          <a:solidFill>
                            <a:srgbClr val="000000"/>
                          </a:solidFill>
                          <a:latin typeface="Times New Roman"/>
                        </a:rPr>
                        <a:t>Verifier throughput</a:t>
                      </a:r>
                    </a:p>
                  </a:txBody>
                  <a:tcPr anchor="ctr" marL="45720" marR="45720" marT="18288" marB="18288"/>
                </a:tc>
                <a:tc>
                  <a:txBody>
                    <a:bodyPr wrap="square"/>
                    <a:lstStyle/>
                    <a:p>
                      <a:pPr algn="ctr"/>
                      <a:r>
                        <a:rPr sz="1000" b="0">
                          <a:solidFill>
                            <a:srgbClr val="000000"/>
                          </a:solidFill>
                          <a:latin typeface="Times New Roman"/>
                        </a:rPr>
                        <a:t>ONNX int8, CPU, batch size 1</a:t>
                      </a:r>
                    </a:p>
                  </a:txBody>
                  <a:tcPr anchor="ctr" marL="45720" marR="45720" marT="18288" marB="18288"/>
                </a:tc>
                <a:tc>
                  <a:txBody>
                    <a:bodyPr wrap="square"/>
                    <a:lstStyle/>
                    <a:p>
                      <a:pPr algn="ctr"/>
                      <a:r>
                        <a:rPr sz="1000" b="0">
                          <a:solidFill>
                            <a:srgbClr val="000000"/>
                          </a:solidFill>
                          <a:latin typeface="Times New Roman"/>
                        </a:rPr>
                        <a:t>25.4 claims/s (39.4 ms per claim)</a:t>
                      </a:r>
                    </a:p>
                  </a:txBody>
                  <a:tcPr anchor="ctr" marL="45720" marR="45720" marT="18288" marB="18288"/>
                </a:tc>
              </a:tr>
              <a:tr h="314325">
                <a:tc>
                  <a:txBody>
                    <a:bodyPr wrap="square"/>
                    <a:lstStyle/>
                    <a:p>
                      <a:pPr algn="l"/>
                      <a:r>
                        <a:rPr sz="1000" b="0">
                          <a:solidFill>
                            <a:srgbClr val="000000"/>
                          </a:solidFill>
                          <a:latin typeface="Times New Roman"/>
                        </a:rPr>
                        <a:t>Ranker latency</a:t>
                      </a:r>
                    </a:p>
                  </a:txBody>
                  <a:tcPr anchor="ctr" marL="45720" marR="45720" marT="18288" marB="18288"/>
                </a:tc>
                <a:tc>
                  <a:txBody>
                    <a:bodyPr wrap="square"/>
                    <a:lstStyle/>
                    <a:p>
                      <a:pPr algn="ctr"/>
                      <a:r>
                        <a:rPr sz="1000" b="0">
                          <a:solidFill>
                            <a:srgbClr val="000000"/>
                          </a:solidFill>
                          <a:latin typeface="Times New Roman"/>
                        </a:rPr>
                        <a:t>ONNX int8, CPU, 33.4 candidates per query</a:t>
                      </a:r>
                    </a:p>
                  </a:txBody>
                  <a:tcPr anchor="ctr" marL="45720" marR="45720" marT="18288" marB="18288"/>
                </a:tc>
                <a:tc>
                  <a:txBody>
                    <a:bodyPr wrap="square"/>
                    <a:lstStyle/>
                    <a:p>
                      <a:pPr algn="ctr"/>
                      <a:r>
                        <a:rPr sz="1000" b="0">
                          <a:solidFill>
                            <a:srgbClr val="000000"/>
                          </a:solidFill>
                          <a:latin typeface="Times New Roman"/>
                        </a:rPr>
                        <a:t>3.27 s per query</a:t>
                      </a:r>
                    </a:p>
                  </a:txBody>
                  <a:tcPr anchor="ctr" marL="45720" marR="45720" marT="18288" marB="18288"/>
                </a:tc>
              </a:tr>
              <a:tr h="314325">
                <a:tc>
                  <a:txBody>
                    <a:bodyPr wrap="square"/>
                    <a:lstStyle/>
                    <a:p>
                      <a:pPr algn="l"/>
                      <a:r>
                        <a:rPr sz="1000" b="0">
                          <a:solidFill>
                            <a:srgbClr val="000000"/>
                          </a:solidFill>
                          <a:latin typeface="Times New Roman"/>
                        </a:rPr>
                        <a:t>Ranker throughput</a:t>
                      </a:r>
                    </a:p>
                  </a:txBody>
                  <a:tcPr anchor="ctr" marL="45720" marR="45720" marT="18288" marB="18288"/>
                </a:tc>
                <a:tc>
                  <a:txBody>
                    <a:bodyPr wrap="square"/>
                    <a:lstStyle/>
                    <a:p>
                      <a:pPr algn="ctr"/>
                      <a:r>
                        <a:rPr sz="1000" b="0">
                          <a:solidFill>
                            <a:srgbClr val="000000"/>
                          </a:solidFill>
                          <a:latin typeface="Times New Roman"/>
                        </a:rPr>
                        <a:t>Cross-encoding a 15,165-chunk corpus</a:t>
                      </a:r>
                    </a:p>
                  </a:txBody>
                  <a:tcPr anchor="ctr" marL="45720" marR="45720" marT="18288" marB="18288"/>
                </a:tc>
                <a:tc>
                  <a:txBody>
                    <a:bodyPr wrap="square"/>
                    <a:lstStyle/>
                    <a:p>
                      <a:pPr algn="ctr"/>
                      <a:r>
                        <a:rPr sz="1000" b="0">
                          <a:solidFill>
                            <a:srgbClr val="000000"/>
                          </a:solidFill>
                          <a:latin typeface="Times New Roman"/>
                        </a:rPr>
                        <a:t>23.3 pairs/s</a:t>
                      </a:r>
                    </a:p>
                  </a:txBody>
                  <a:tcPr anchor="ctr" marL="45720" marR="45720" marT="18288" marB="18288"/>
                </a:tc>
              </a:tr>
              <a:tr h="314325">
                <a:tc>
                  <a:txBody>
                    <a:bodyPr wrap="square"/>
                    <a:lstStyle/>
                    <a:p>
                      <a:pPr algn="l"/>
                      <a:r>
                        <a:rPr sz="1000" b="0">
                          <a:solidFill>
                            <a:srgbClr val="000000"/>
                          </a:solidFill>
                          <a:latin typeface="Times New Roman"/>
                        </a:rPr>
                        <a:t>Verifier training</a:t>
                      </a:r>
                    </a:p>
                  </a:txBody>
                  <a:tcPr anchor="ctr" marL="45720" marR="45720" marT="18288" marB="18288"/>
                </a:tc>
                <a:tc>
                  <a:txBody>
                    <a:bodyPr wrap="square"/>
                    <a:lstStyle/>
                    <a:p>
                      <a:pPr algn="ctr"/>
                      <a:r>
                        <a:rPr sz="1000" b="0">
                          <a:solidFill>
                            <a:srgbClr val="000000"/>
                          </a:solidFill>
                          <a:latin typeface="Times New Roman"/>
                        </a:rPr>
                        <a:t>Free GPU, 15 epochs</a:t>
                      </a:r>
                    </a:p>
                  </a:txBody>
                  <a:tcPr anchor="ctr" marL="45720" marR="45720" marT="18288" marB="18288"/>
                </a:tc>
                <a:tc>
                  <a:txBody>
                    <a:bodyPr wrap="square"/>
                    <a:lstStyle/>
                    <a:p>
                      <a:pPr algn="ctr"/>
                      <a:r>
                        <a:rPr sz="1000" b="0">
                          <a:solidFill>
                            <a:srgbClr val="000000"/>
                          </a:solidFill>
                          <a:latin typeface="Times New Roman"/>
                        </a:rPr>
                        <a:t>305.8 s</a:t>
                      </a:r>
                    </a:p>
                  </a:txBody>
                  <a:tcPr anchor="ctr" marL="45720" marR="45720" marT="18288" marB="18288"/>
                </a:tc>
              </a:tr>
              <a:tr h="314325">
                <a:tc>
                  <a:txBody>
                    <a:bodyPr wrap="square"/>
                    <a:lstStyle/>
                    <a:p>
                      <a:pPr algn="l"/>
                      <a:r>
                        <a:rPr sz="1000" b="0">
                          <a:solidFill>
                            <a:srgbClr val="000000"/>
                          </a:solidFill>
                          <a:latin typeface="Times New Roman"/>
                        </a:rPr>
                        <a:t>Ranker training</a:t>
                      </a:r>
                    </a:p>
                  </a:txBody>
                  <a:tcPr anchor="ctr" marL="45720" marR="45720" marT="18288" marB="18288"/>
                </a:tc>
                <a:tc>
                  <a:txBody>
                    <a:bodyPr wrap="square"/>
                    <a:lstStyle/>
                    <a:p>
                      <a:pPr algn="ctr"/>
                      <a:r>
                        <a:rPr sz="1000" b="0">
                          <a:solidFill>
                            <a:srgbClr val="000000"/>
                          </a:solidFill>
                          <a:latin typeface="Times New Roman"/>
                        </a:rPr>
                        <a:t>Free GPU, 10 epochs, 68,380 pairs</a:t>
                      </a:r>
                    </a:p>
                  </a:txBody>
                  <a:tcPr anchor="ctr" marL="45720" marR="45720" marT="18288" marB="18288"/>
                </a:tc>
                <a:tc>
                  <a:txBody>
                    <a:bodyPr wrap="square"/>
                    <a:lstStyle/>
                    <a:p>
                      <a:pPr algn="ctr"/>
                      <a:r>
                        <a:rPr sz="1000" b="0">
                          <a:solidFill>
                            <a:srgbClr val="000000"/>
                          </a:solidFill>
                          <a:latin typeface="Times New Roman"/>
                        </a:rPr>
                        <a:t>3,698.7 s</a:t>
                      </a:r>
                    </a:p>
                  </a:txBody>
                  <a:tcPr anchor="ctr" marL="45720" marR="45720" marT="18288" marB="18288"/>
                </a:tc>
              </a:tr>
              <a:tr h="314325">
                <a:tc>
                  <a:txBody>
                    <a:bodyPr wrap="square"/>
                    <a:lstStyle/>
                    <a:p>
                      <a:pPr algn="l"/>
                      <a:r>
                        <a:rPr sz="1000" b="0">
                          <a:solidFill>
                            <a:srgbClr val="000000"/>
                          </a:solidFill>
                          <a:latin typeface="Times New Roman"/>
                        </a:rPr>
                        <a:t>Full pipeline run</a:t>
                      </a:r>
                    </a:p>
                  </a:txBody>
                  <a:tcPr anchor="ctr" marL="45720" marR="45720" marT="18288" marB="18288"/>
                </a:tc>
                <a:tc>
                  <a:txBody>
                    <a:bodyPr wrap="square"/>
                    <a:lstStyle/>
                    <a:p>
                      <a:pPr algn="ctr"/>
                      <a:r>
                        <a:rPr sz="1000" b="0">
                          <a:solidFill>
                            <a:srgbClr val="000000"/>
                          </a:solidFill>
                          <a:latin typeface="Times New Roman"/>
                        </a:rPr>
                        <a:t>10 papers, end to end</a:t>
                      </a:r>
                    </a:p>
                  </a:txBody>
                  <a:tcPr anchor="ctr" marL="45720" marR="45720" marT="18288" marB="18288"/>
                </a:tc>
                <a:tc>
                  <a:txBody>
                    <a:bodyPr wrap="square"/>
                    <a:lstStyle/>
                    <a:p>
                      <a:pPr algn="ctr"/>
                      <a:r>
                        <a:rPr sz="1000" b="0">
                          <a:solidFill>
                            <a:srgbClr val="000000"/>
                          </a:solidFill>
                          <a:latin typeface="Times New Roman"/>
                        </a:rPr>
                        <a:t>317.9 s</a:t>
                      </a:r>
                    </a:p>
                  </a:txBody>
                  <a:tcPr anchor="ctr" marL="45720" marR="45720" marT="18288" marB="18288"/>
                </a:tc>
              </a:tr>
              <a:tr h="314325">
                <a:tc>
                  <a:txBody>
                    <a:bodyPr wrap="square"/>
                    <a:lstStyle/>
                    <a:p>
                      <a:pPr algn="l"/>
                      <a:r>
                        <a:rPr sz="1000" b="1">
                          <a:solidFill>
                            <a:srgbClr val="000000"/>
                          </a:solidFill>
                          <a:latin typeface="Times New Roman"/>
                        </a:rPr>
                        <a:t>Running cost</a:t>
                      </a:r>
                    </a:p>
                  </a:txBody>
                  <a:tcPr anchor="ctr" marL="45720" marR="45720" marT="18288" marB="18288"/>
                </a:tc>
                <a:tc>
                  <a:txBody>
                    <a:bodyPr wrap="square"/>
                    <a:lstStyle/>
                    <a:p>
                      <a:pPr algn="ctr"/>
                      <a:r>
                        <a:rPr sz="1000" b="1">
                          <a:solidFill>
                            <a:srgbClr val="000000"/>
                          </a:solidFill>
                          <a:latin typeface="Times New Roman"/>
                        </a:rPr>
                        <a:t>Per run, all components</a:t>
                      </a:r>
                    </a:p>
                  </a:txBody>
                  <a:tcPr anchor="ctr" marL="45720" marR="45720" marT="18288" marB="18288"/>
                </a:tc>
                <a:tc>
                  <a:txBody>
                    <a:bodyPr wrap="square"/>
                    <a:lstStyle/>
                    <a:p>
                      <a:pPr algn="ctr"/>
                      <a:r>
                        <a:rPr sz="1000" b="1">
                          <a:solidFill>
                            <a:srgbClr val="000000"/>
                          </a:solidFill>
                          <a:latin typeface="Times New Roman"/>
                        </a:rPr>
                        <a:t>Zero</a:t>
                      </a:r>
                    </a:p>
                  </a:txBody>
                  <a:tcPr anchor="ctr" marL="45720" marR="45720" marT="18288" marB="18288"/>
                </a:tc>
              </a:tr>
            </a:tbl>
          </a:graphicData>
        </a:graphic>
      </p:graphicFrame>
      <p:sp>
        <p:nvSpPr>
          <p:cNvPr id="6" name="TextBox 5"/>
          <p:cNvSpPr txBox="1"/>
          <p:nvPr/>
        </p:nvSpPr>
        <p:spPr>
          <a:xfrm>
            <a:off x="228600" y="3813048"/>
            <a:ext cx="8686800" cy="1124712"/>
          </a:xfrm>
          <a:prstGeom prst="rect">
            <a:avLst/>
          </a:prstGeom>
          <a:noFill/>
        </p:spPr>
        <p:txBody>
          <a:bodyPr wrap="square" lIns="0" rIns="0" tIns="0" bIns="0">
            <a:spAutoFit/>
          </a:bodyPr>
          <a:lstStyle/>
          <a:p>
            <a:pPr algn="just">
              <a:lnSpc>
                <a:spcPct val="100000"/>
              </a:lnSpc>
              <a:spcAft>
                <a:spcPts val="300"/>
              </a:spcAft>
            </a:pPr>
            <a:r>
              <a:rPr sz="1050" b="1">
                <a:solidFill>
                  <a:srgbClr val="000000"/>
                </a:solidFill>
                <a:latin typeface="Times New Roman"/>
              </a:rPr>
              <a:t>No GPU is required at inference. </a:t>
            </a:r>
            <a:r>
              <a:rPr sz="1050" b="0">
                <a:solidFill>
                  <a:srgbClr val="000000"/>
                </a:solidFill>
                <a:latin typeface="Times New Roman"/>
              </a:rPr>
              <a:t>All three trained models are int8-quantised ONNX and CPU-resident, which is what puts the system within reach of a researcher with commodity hardware.</a:t>
            </a:r>
          </a:p>
          <a:p>
            <a:pPr algn="just">
              <a:lnSpc>
                <a:spcPct val="100000"/>
              </a:lnSpc>
              <a:spcAft>
                <a:spcPts val="300"/>
              </a:spcAft>
            </a:pPr>
            <a:r>
              <a:rPr sz="1050" b="1">
                <a:solidFill>
                  <a:srgbClr val="000000"/>
                </a:solidFill>
                <a:latin typeface="Times New Roman"/>
              </a:rPr>
              <a:t>The Ranker dominates the cost profile. </a:t>
            </a:r>
            <a:r>
              <a:rPr sz="1050" b="0">
                <a:solidFill>
                  <a:srgbClr val="000000"/>
                </a:solidFill>
                <a:latin typeface="Times New Roman"/>
              </a:rPr>
              <a:t>It scores the entire retrieved pool before the one-in-ten selection is made, so its cost grows with what was fetched rather than with what is finally read. At the rejected per-source cap of 100 that single stage accounted for 3,264 s of a 4,448 s run.</a:t>
            </a:r>
          </a:p>
          <a:p>
            <a:pPr algn="just">
              <a:lnSpc>
                <a:spcPct val="100000"/>
              </a:lnSpc>
              <a:spcAft>
                <a:spcPts val="300"/>
              </a:spcAft>
            </a:pPr>
            <a:r>
              <a:rPr sz="1050" b="1">
                <a:solidFill>
                  <a:srgbClr val="000000"/>
                </a:solidFill>
                <a:latin typeface="Times New Roman"/>
              </a:rPr>
              <a:t>The zero-cost constraint is enforced in code, not by convention. </a:t>
            </a:r>
            <a:r>
              <a:rPr sz="1050" b="0">
                <a:solidFill>
                  <a:srgbClr val="000000"/>
                </a:solidFill>
                <a:latin typeface="Times New Roman"/>
              </a:rPr>
              <a:t>An allow-list of free, open-weight models is checked at configuration-load time, before any request can be constructed.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Significance of the Proposed Work</a:t>
            </a:r>
          </a:p>
        </p:txBody>
      </p:sp>
      <p:sp>
        <p:nvSpPr>
          <p:cNvPr id="4" name="TextBox 3"/>
          <p:cNvSpPr txBox="1"/>
          <p:nvPr/>
        </p:nvSpPr>
        <p:spPr>
          <a:xfrm>
            <a:off x="228600" y="841248"/>
            <a:ext cx="8686800" cy="4069080"/>
          </a:xfrm>
          <a:prstGeom prst="rect">
            <a:avLst/>
          </a:prstGeom>
          <a:noFill/>
        </p:spPr>
        <p:txBody>
          <a:bodyPr wrap="square" lIns="0" rIns="0" tIns="0" bIns="0">
            <a:spAutoFit/>
          </a:bodyPr>
          <a:lstStyle/>
          <a:p>
            <a:pPr algn="just">
              <a:lnSpc>
                <a:spcPct val="100000"/>
              </a:lnSpc>
              <a:spcAft>
                <a:spcPts val="700"/>
              </a:spcAft>
            </a:pPr>
            <a:r>
              <a:rPr sz="1400" b="1">
                <a:solidFill>
                  <a:srgbClr val="000000"/>
                </a:solidFill>
                <a:latin typeface="Times New Roman"/>
              </a:rPr>
              <a:t>A citation is almost no evidence that a statement is supported. </a:t>
            </a:r>
            <a:r>
              <a:rPr sz="1400" b="0">
                <a:solidFill>
                  <a:srgbClr val="000000"/>
                </a:solidFill>
                <a:latin typeface="Times New Roman"/>
              </a:rPr>
              <a:t>FActScore measured 36.0% of supported and 37.6% of unsupported sentences as carrying citations — statistically indistinguishable [7]. Three further studies agree: 39.18% of citation instances contain accuracy errors [12], the strongest models lack complete citation support half the time [8], and survey-generation citation accuracy is 35.84% [1]. The presence of a citation carries almost no information, and that is the justification for verifying claims rather than counting citations.</a:t>
            </a:r>
          </a:p>
          <a:p>
            <a:pPr algn="just">
              <a:lnSpc>
                <a:spcPct val="100000"/>
              </a:lnSpc>
              <a:spcAft>
                <a:spcPts val="700"/>
              </a:spcAft>
            </a:pPr>
            <a:r>
              <a:rPr sz="1400" b="1">
                <a:solidFill>
                  <a:srgbClr val="000000"/>
                </a:solidFill>
                <a:latin typeface="Times New Roman"/>
              </a:rPr>
              <a:t>The Verifier agent is this project’s contribution, and we find no precedent for it. </a:t>
            </a:r>
            <a:r>
              <a:rPr sz="1400" b="0">
                <a:solidFill>
                  <a:srgbClr val="000000"/>
                </a:solidFill>
                <a:latin typeface="Times New Roman"/>
              </a:rPr>
              <a:t>To the best of our knowledge, no published system and no deployed tool places a claim-level verifier inside the generation loop with the authority to delete a sentence before the review is delivered. The 2023–2026 literature we surveyed contains no such component.</a:t>
            </a:r>
          </a:p>
          <a:p>
            <a:pPr algn="just">
              <a:lnSpc>
                <a:spcPct val="100000"/>
              </a:lnSpc>
              <a:spcAft>
                <a:spcPts val="700"/>
              </a:spcAft>
            </a:pPr>
            <a:r>
              <a:rPr sz="1400" b="1">
                <a:solidFill>
                  <a:srgbClr val="000000"/>
                </a:solidFill>
                <a:latin typeface="Times New Roman"/>
              </a:rPr>
              <a:t>Two literatures exist, and nothing joins them. </a:t>
            </a:r>
            <a:r>
              <a:rPr sz="1400" b="0">
                <a:solidFill>
                  <a:srgbClr val="000000"/>
                </a:solidFill>
                <a:latin typeface="Times New Roman"/>
              </a:rPr>
              <a:t>Atomic grounding [7], [8] and citation-integrity checking [12] measure text that has already been written and report a score. Survey generators [1], [2], [5] write text without any component able to remove what they cannot ground. The intersection is empty — this system occupies it.</a:t>
            </a:r>
          </a:p>
          <a:p>
            <a:pPr algn="just">
              <a:lnSpc>
                <a:spcPct val="100000"/>
              </a:lnSpc>
              <a:spcAft>
                <a:spcPts val="700"/>
              </a:spcAft>
            </a:pPr>
            <a:r>
              <a:rPr sz="1400" b="1">
                <a:solidFill>
                  <a:srgbClr val="000000"/>
                </a:solidFill>
                <a:latin typeface="Times New Roman"/>
              </a:rPr>
              <a:t>It is a control mechanism, not a metric. </a:t>
            </a:r>
            <a:r>
              <a:rPr sz="1400" b="0">
                <a:solidFill>
                  <a:srgbClr val="000000"/>
                </a:solidFill>
                <a:latin typeface="Times New Roman"/>
              </a:rPr>
              <a:t>The Verifier decomposes the draft into atomic claims, scores each against the cached source text, discards those below the support threshold, and attaches to every statement that survives the citation it was grounded in. A metric reports on output; this component changes what the system is permitted to say.</a:t>
            </a:r>
          </a:p>
          <a:p>
            <a:pPr algn="just">
              <a:lnSpc>
                <a:spcPct val="100000"/>
              </a:lnSpc>
              <a:spcAft>
                <a:spcPts val="700"/>
              </a:spcAft>
            </a:pPr>
            <a:r>
              <a:rPr sz="1400" b="1">
                <a:solidFill>
                  <a:srgbClr val="000000"/>
                </a:solidFill>
                <a:latin typeface="Times New Roman"/>
              </a:rPr>
              <a:t>Its decomposition is rule-based on purpose. </a:t>
            </a:r>
            <a:r>
              <a:rPr sz="1400" b="0">
                <a:solidFill>
                  <a:srgbClr val="000000"/>
                </a:solidFill>
                <a:latin typeface="Times New Roman"/>
              </a:rPr>
              <a:t>A generative model in that seat can invent a claim the draft never made, and a verifier that hallucinates its own inputs verifies nothing. Determinism here is worth more than fluency.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Significance of the Proposed Work</a:t>
            </a:r>
          </a:p>
        </p:txBody>
      </p:sp>
      <p:sp>
        <p:nvSpPr>
          <p:cNvPr id="4" name="TextBox 3"/>
          <p:cNvSpPr txBox="1"/>
          <p:nvPr/>
        </p:nvSpPr>
        <p:spPr>
          <a:xfrm>
            <a:off x="228600" y="841248"/>
            <a:ext cx="8686800" cy="4069080"/>
          </a:xfrm>
          <a:prstGeom prst="rect">
            <a:avLst/>
          </a:prstGeom>
          <a:noFill/>
        </p:spPr>
        <p:txBody>
          <a:bodyPr wrap="square" lIns="0" rIns="0" tIns="0" bIns="0">
            <a:spAutoFit/>
          </a:bodyPr>
          <a:lstStyle/>
          <a:p>
            <a:pPr algn="just">
              <a:lnSpc>
                <a:spcPct val="100000"/>
              </a:lnSpc>
              <a:spcAft>
                <a:spcPts val="700"/>
              </a:spcAft>
            </a:pPr>
            <a:r>
              <a:rPr sz="1400" b="1">
                <a:solidFill>
                  <a:srgbClr val="000000"/>
                </a:solidFill>
                <a:latin typeface="Times New Roman"/>
              </a:rPr>
              <a:t>Verification becomes auditable rather than asserted. </a:t>
            </a:r>
            <a:r>
              <a:rPr sz="1400" b="0">
                <a:solidFill>
                  <a:srgbClr val="000000"/>
                </a:solidFill>
                <a:latin typeface="Times New Roman"/>
              </a:rPr>
              <a:t>Every kept claim carries the chunk identifier, character offsets and quoted span it was scored against, so the grounding figure can be recomputed from the run’s artefacts instead of being taken on trust.</a:t>
            </a:r>
          </a:p>
          <a:p>
            <a:pPr algn="just">
              <a:lnSpc>
                <a:spcPct val="100000"/>
              </a:lnSpc>
              <a:spcAft>
                <a:spcPts val="700"/>
              </a:spcAft>
            </a:pPr>
            <a:r>
              <a:rPr sz="1400" b="1">
                <a:solidFill>
                  <a:srgbClr val="000000"/>
                </a:solidFill>
                <a:latin typeface="Times New Roman"/>
              </a:rPr>
              <a:t>Architecture beats model scale — demonstrated, not claimed. </a:t>
            </a:r>
            <a:r>
              <a:rPr sz="1400" b="0">
                <a:solidFill>
                  <a:srgbClr val="000000"/>
                </a:solidFill>
                <a:latin typeface="Times New Roman"/>
              </a:rPr>
              <a:t>Three small trained models totalling roughly 205M parameters sit at the three real bottlenecks — ranking quality, scientific summarisation and claim grounding — while the remaining generative seat is an off-the-shelf prompted model. The measured gains come from where the models were placed, not from how large they are.</a:t>
            </a:r>
          </a:p>
          <a:p>
            <a:pPr algn="just">
              <a:lnSpc>
                <a:spcPct val="100000"/>
              </a:lnSpc>
              <a:spcAft>
                <a:spcPts val="700"/>
              </a:spcAft>
            </a:pPr>
            <a:r>
              <a:rPr sz="1400" b="1">
                <a:solidFill>
                  <a:srgbClr val="000000"/>
                </a:solidFill>
                <a:latin typeface="Times New Roman"/>
              </a:rPr>
              <a:t>Grounded literature review at zero cost on commodity hardware. </a:t>
            </a:r>
            <a:r>
              <a:rPr sz="1400" b="0">
                <a:solidFill>
                  <a:srgbClr val="000000"/>
                </a:solidFill>
                <a:latin typeface="Times New Roman"/>
              </a:rPr>
              <a:t>Every trained component is int8-quantised and CPU-resident, and no paid model, paid tier or GPU is required at any point, which puts the system within reach of researchers who have neither budget nor accelerator.</a:t>
            </a:r>
          </a:p>
          <a:p>
            <a:pPr algn="just">
              <a:lnSpc>
                <a:spcPct val="100000"/>
              </a:lnSpc>
              <a:spcAft>
                <a:spcPts val="700"/>
              </a:spcAft>
            </a:pPr>
            <a:r>
              <a:rPr sz="1400" b="1">
                <a:solidFill>
                  <a:srgbClr val="000000"/>
                </a:solidFill>
                <a:latin typeface="Times New Roman"/>
              </a:rPr>
              <a:t>The output is judged, not merely produced. </a:t>
            </a:r>
            <a:r>
              <a:rPr sz="1400" b="0">
                <a:solidFill>
                  <a:srgbClr val="000000"/>
                </a:solidFill>
                <a:latin typeface="Times New Roman"/>
              </a:rPr>
              <a:t>The Critic runs last and scores the finished review on the quality of its content and on whether the reasoning that produced it holds. Every run therefore ends with an explicit verdict on its own output, which is not something a single-pass retrieval-augmented pipeline provides.</a:t>
            </a:r>
          </a:p>
          <a:p>
            <a:pPr algn="just">
              <a:lnSpc>
                <a:spcPct val="100000"/>
              </a:lnSpc>
              <a:spcAft>
                <a:spcPts val="700"/>
              </a:spcAft>
            </a:pPr>
            <a:r>
              <a:rPr sz="1400" b="1">
                <a:solidFill>
                  <a:srgbClr val="000000"/>
                </a:solidFill>
                <a:latin typeface="Times New Roman"/>
              </a:rPr>
              <a:t>Human authority over the machine’s refusals is preserved. </a:t>
            </a:r>
            <a:r>
              <a:rPr sz="1400" b="0">
                <a:solidFill>
                  <a:srgbClr val="000000"/>
                </a:solidFill>
                <a:latin typeface="Times New Roman"/>
              </a:rPr>
              <a:t>Every dropped claim is surfaced with its score and its evidence, and an analyst’s confirm-or-override verdict is written back into the run’s permanent trace.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Advantages of the Proposed Work</a:t>
            </a:r>
          </a:p>
        </p:txBody>
      </p:sp>
      <p:sp>
        <p:nvSpPr>
          <p:cNvPr id="4" name="TextBox 3"/>
          <p:cNvSpPr txBox="1"/>
          <p:nvPr/>
        </p:nvSpPr>
        <p:spPr>
          <a:xfrm>
            <a:off x="228600" y="841248"/>
            <a:ext cx="8686800" cy="4069080"/>
          </a:xfrm>
          <a:prstGeom prst="rect">
            <a:avLst/>
          </a:prstGeom>
          <a:noFill/>
        </p:spPr>
        <p:txBody>
          <a:bodyPr wrap="square" lIns="0" rIns="0" tIns="0" bIns="0">
            <a:spAutoFit/>
          </a:bodyPr>
          <a:lstStyle/>
          <a:p>
            <a:pPr algn="just">
              <a:lnSpc>
                <a:spcPct val="100000"/>
              </a:lnSpc>
              <a:spcAft>
                <a:spcPts val="700"/>
              </a:spcAft>
            </a:pPr>
            <a:r>
              <a:rPr sz="1400" b="1">
                <a:solidFill>
                  <a:srgbClr val="000000"/>
                </a:solidFill>
                <a:latin typeface="Times New Roman"/>
              </a:rPr>
              <a:t>Unsupported sentences are removed before delivery, not flagged after it. </a:t>
            </a:r>
            <a:r>
              <a:rPr sz="1400" b="0">
                <a:solidFill>
                  <a:srgbClr val="000000"/>
                </a:solidFill>
                <a:latin typeface="Times New Roman"/>
              </a:rPr>
              <a:t>The output is what survived verification. That is a materially stronger guarantee than a confidence score attached to text that ships regardless.</a:t>
            </a:r>
          </a:p>
          <a:p>
            <a:pPr algn="just">
              <a:lnSpc>
                <a:spcPct val="100000"/>
              </a:lnSpc>
              <a:spcAft>
                <a:spcPts val="700"/>
              </a:spcAft>
            </a:pPr>
            <a:r>
              <a:rPr sz="1400" b="1">
                <a:solidFill>
                  <a:srgbClr val="000000"/>
                </a:solidFill>
                <a:latin typeface="Times New Roman"/>
              </a:rPr>
              <a:t>Every claim is traceable to a span of source text. </a:t>
            </a:r>
            <a:r>
              <a:rPr sz="1400" b="0">
                <a:solidFill>
                  <a:srgbClr val="000000"/>
                </a:solidFill>
                <a:latin typeface="Times New Roman"/>
              </a:rPr>
              <a:t>Comparable structured-extraction work emits records with no evidence link back to the sentence that justified them; here the evidence span is a first-class artefact, and the user interface is built directly on it.</a:t>
            </a:r>
          </a:p>
          <a:p>
            <a:pPr algn="just">
              <a:lnSpc>
                <a:spcPct val="100000"/>
              </a:lnSpc>
              <a:spcAft>
                <a:spcPts val="700"/>
              </a:spcAft>
            </a:pPr>
            <a:r>
              <a:rPr sz="1400" b="1">
                <a:solidFill>
                  <a:srgbClr val="000000"/>
                </a:solidFill>
                <a:latin typeface="Times New Roman"/>
              </a:rPr>
              <a:t>Coordination is centralised in one agent. </a:t>
            </a:r>
            <a:r>
              <a:rPr sz="1400" b="0">
                <a:solidFill>
                  <a:srgbClr val="000000"/>
                </a:solidFill>
                <a:latin typeface="Times New Roman"/>
              </a:rPr>
              <a:t>Every agent reports its result back to the Planner, which holds the run state and decides what executes next. There is therefore one place to inspect when a run goes wrong, rather than seven agents each holding a fragment of the story.</a:t>
            </a:r>
          </a:p>
          <a:p>
            <a:pPr algn="just">
              <a:lnSpc>
                <a:spcPct val="100000"/>
              </a:lnSpc>
              <a:spcAft>
                <a:spcPts val="700"/>
              </a:spcAft>
            </a:pPr>
            <a:r>
              <a:rPr sz="1400" b="1">
                <a:solidFill>
                  <a:srgbClr val="000000"/>
                </a:solidFill>
                <a:latin typeface="Times New Roman"/>
              </a:rPr>
              <a:t>Determinism where determinism is worth more than fluency. </a:t>
            </a:r>
            <a:r>
              <a:rPr sz="1400" b="0">
                <a:solidFill>
                  <a:srgbClr val="000000"/>
                </a:solidFill>
                <a:latin typeface="Times New Roman"/>
              </a:rPr>
              <a:t>Claim decomposition is rule-based rather than generated, so the Verifier cannot invent the claims it is about to check. A verifier that hallucinates its own inputs verifies nothing, and that is the one place in the pipeline where determinism is worth more than fluency.</a:t>
            </a:r>
          </a:p>
          <a:p>
            <a:pPr algn="just">
              <a:lnSpc>
                <a:spcPct val="100000"/>
              </a:lnSpc>
              <a:spcAft>
                <a:spcPts val="700"/>
              </a:spcAft>
            </a:pPr>
            <a:r>
              <a:rPr sz="1400" b="1">
                <a:solidFill>
                  <a:srgbClr val="000000"/>
                </a:solidFill>
                <a:latin typeface="Times New Roman"/>
              </a:rPr>
              <a:t>One record governs everything. </a:t>
            </a:r>
            <a:r>
              <a:rPr sz="1400" b="0">
                <a:solidFill>
                  <a:srgbClr val="000000"/>
                </a:solidFill>
                <a:latin typeface="Times New Roman"/>
              </a:rPr>
              <a:t>The event trace is the single source of truth: the live progress stream, the human overrides and every figure in this deck are all derived from it, so the running application and the reported results cannot diverge.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Advantages of the Proposed Work</a:t>
            </a:r>
          </a:p>
        </p:txBody>
      </p:sp>
      <p:sp>
        <p:nvSpPr>
          <p:cNvPr id="4" name="TextBox 3"/>
          <p:cNvSpPr txBox="1"/>
          <p:nvPr/>
        </p:nvSpPr>
        <p:spPr>
          <a:xfrm>
            <a:off x="228600" y="841248"/>
            <a:ext cx="8686800" cy="4069080"/>
          </a:xfrm>
          <a:prstGeom prst="rect">
            <a:avLst/>
          </a:prstGeom>
          <a:noFill/>
        </p:spPr>
        <p:txBody>
          <a:bodyPr wrap="square" lIns="0" rIns="0" tIns="0" bIns="0">
            <a:spAutoFit/>
          </a:bodyPr>
          <a:lstStyle/>
          <a:p>
            <a:pPr algn="just">
              <a:lnSpc>
                <a:spcPct val="100000"/>
              </a:lnSpc>
              <a:spcAft>
                <a:spcPts val="700"/>
              </a:spcAft>
            </a:pPr>
            <a:r>
              <a:rPr sz="1400" b="1">
                <a:solidFill>
                  <a:srgbClr val="000000"/>
                </a:solidFill>
                <a:latin typeface="Times New Roman"/>
              </a:rPr>
              <a:t>Measured gains at every trained seat, not assumed ones. </a:t>
            </a:r>
            <a:r>
              <a:rPr sz="1400" b="0">
                <a:solidFill>
                  <a:srgbClr val="000000"/>
                </a:solidFill>
                <a:latin typeface="Times New Roman"/>
              </a:rPr>
              <a:t>Verifier macro-F1 +0.2530, Ranker Recall@20 +0.1111 out of domain and +0.2282 in domain, all measured after int8 quantisation — that is, on the builds that actually ship rather than on the unquantised checkpoints.</a:t>
            </a:r>
          </a:p>
          <a:p>
            <a:pPr algn="just">
              <a:lnSpc>
                <a:spcPct val="100000"/>
              </a:lnSpc>
              <a:spcAft>
                <a:spcPts val="700"/>
              </a:spcAft>
            </a:pPr>
            <a:r>
              <a:rPr sz="1400" b="1">
                <a:solidFill>
                  <a:srgbClr val="000000"/>
                </a:solidFill>
                <a:latin typeface="Times New Roman"/>
              </a:rPr>
              <a:t>Trainable on free hardware in about an hour, combined. </a:t>
            </a:r>
            <a:r>
              <a:rPr sz="1400" b="0">
                <a:solidFill>
                  <a:srgbClr val="000000"/>
                </a:solidFill>
                <a:latin typeface="Times New Roman"/>
              </a:rPr>
              <a:t>The Verifier trains in 305.8 s and the Ranker in 3,698.7 s on free GPU time, so the entire machine-learning contribution is reproducible by anyone without funding.</a:t>
            </a:r>
          </a:p>
          <a:p>
            <a:pPr algn="just">
              <a:lnSpc>
                <a:spcPct val="100000"/>
              </a:lnSpc>
              <a:spcAft>
                <a:spcPts val="700"/>
              </a:spcAft>
            </a:pPr>
            <a:r>
              <a:rPr sz="1400" b="1">
                <a:solidFill>
                  <a:srgbClr val="000000"/>
                </a:solidFill>
                <a:latin typeface="Times New Roman"/>
              </a:rPr>
              <a:t>An honest evaluation protocol that has already changed a decision. </a:t>
            </a:r>
            <a:r>
              <a:rPr sz="1400" b="0">
                <a:solidFill>
                  <a:srgbClr val="000000"/>
                </a:solidFill>
                <a:latin typeface="Times New Roman"/>
              </a:rPr>
              <a:t>Title-disjoint splits, BM25 hard negatives, an out-of-domain adoption gate the model had to clear before shipping, and a relevance control that caused one fine-tuned ranker to be reverted and retrained rather than quietly adopted.</a:t>
            </a:r>
          </a:p>
          <a:p>
            <a:pPr algn="just">
              <a:lnSpc>
                <a:spcPct val="100000"/>
              </a:lnSpc>
              <a:spcAft>
                <a:spcPts val="700"/>
              </a:spcAft>
            </a:pPr>
            <a:r>
              <a:rPr sz="1400" b="1">
                <a:solidFill>
                  <a:srgbClr val="000000"/>
                </a:solidFill>
                <a:latin typeface="Times New Roman"/>
              </a:rPr>
              <a:t>Weaknesses are reported alongside the results. </a:t>
            </a:r>
            <a:r>
              <a:rPr sz="1400" b="0">
                <a:solidFill>
                  <a:srgbClr val="000000"/>
                </a:solidFill>
                <a:latin typeface="Times New Roman"/>
              </a:rPr>
              <a:t>The irreversible one-in-ten selection cut, the 0.0571 union recall and the rejected per-source cap are all stated in the results themselves, because a limitation reads far worse when a reviewer finds it first.</a:t>
            </a:r>
          </a:p>
          <a:p>
            <a:pPr algn="just">
              <a:lnSpc>
                <a:spcPct val="100000"/>
              </a:lnSpc>
              <a:spcAft>
                <a:spcPts val="700"/>
              </a:spcAft>
            </a:pPr>
            <a:r>
              <a:rPr sz="1400" b="1">
                <a:solidFill>
                  <a:srgbClr val="000000"/>
                </a:solidFill>
                <a:latin typeface="Times New Roman"/>
              </a:rPr>
              <a:t>Runs with no database and no network in the graded moment. </a:t>
            </a:r>
            <a:r>
              <a:rPr sz="1400" b="0">
                <a:solidFill>
                  <a:srgbClr val="000000"/>
                </a:solidFill>
                <a:latin typeface="Times New Roman"/>
              </a:rPr>
              <a:t>Optional components degrade rather than fail, and a completed run directory is itself a replayable fixture, so a demonstration cannot be lost to a rate limit or an outage.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Limitations of the Proposed Method</a:t>
            </a:r>
          </a:p>
        </p:txBody>
      </p:sp>
      <p:sp>
        <p:nvSpPr>
          <p:cNvPr id="4" name="TextBox 3"/>
          <p:cNvSpPr txBox="1"/>
          <p:nvPr/>
        </p:nvSpPr>
        <p:spPr>
          <a:xfrm>
            <a:off x="228600" y="841248"/>
            <a:ext cx="8686800" cy="4069080"/>
          </a:xfrm>
          <a:prstGeom prst="rect">
            <a:avLst/>
          </a:prstGeom>
          <a:noFill/>
        </p:spPr>
        <p:txBody>
          <a:bodyPr wrap="square" lIns="0" rIns="0" tIns="0" bIns="0">
            <a:spAutoFit/>
          </a:bodyPr>
          <a:lstStyle/>
          <a:p>
            <a:pPr algn="just">
              <a:lnSpc>
                <a:spcPct val="100000"/>
              </a:lnSpc>
              <a:spcAft>
                <a:spcPts val="700"/>
              </a:spcAft>
            </a:pPr>
            <a:r>
              <a:rPr sz="1400" b="1">
                <a:solidFill>
                  <a:srgbClr val="000000"/>
                </a:solidFill>
                <a:latin typeface="Times New Roman"/>
              </a:rPr>
              <a:t>Papers behind a paywall are never used. </a:t>
            </a:r>
            <a:r>
              <a:rPr sz="1400" b="0">
                <a:solidFill>
                  <a:srgbClr val="000000"/>
                </a:solidFill>
                <a:latin typeface="Times New Roman"/>
              </a:rPr>
              <a:t>The Paper Extractor ingests only openly accessible full text. Articles held behind subscription publishers — IEEE Xplore, ScienceDirect and comparable journals — cannot be fetched, so their content is absent from the corpus even when retrieval correctly identifies them as relevant, and any claim that would have depended on them cannot be grounded.</a:t>
            </a:r>
          </a:p>
          <a:p>
            <a:pPr algn="just">
              <a:lnSpc>
                <a:spcPct val="100000"/>
              </a:lnSpc>
              <a:spcAft>
                <a:spcPts val="700"/>
              </a:spcAft>
            </a:pPr>
            <a:r>
              <a:rPr sz="1400" b="1">
                <a:solidFill>
                  <a:srgbClr val="000000"/>
                </a:solidFill>
                <a:latin typeface="Times New Roman"/>
              </a:rPr>
              <a:t>Selection happens on metadata, before any paper is read. </a:t>
            </a:r>
            <a:r>
              <a:rPr sz="1400" b="0">
                <a:solidFill>
                  <a:srgbClr val="000000"/>
                </a:solidFill>
                <a:latin typeface="Times New Roman"/>
              </a:rPr>
              <a:t>The Ranker orders the pool on the abstract and the keywords the source APIs return, so a paper whose abstract undersells it is cut before its full text is ever loaded from the cache. Abstract-conditioned judgement is measured at 0.745 faithfulness against 0.94–0.96 with full text [13], and that is the judgement the selection is made on.</a:t>
            </a:r>
          </a:p>
          <a:p>
            <a:pPr algn="just">
              <a:lnSpc>
                <a:spcPct val="100000"/>
              </a:lnSpc>
              <a:spcAft>
                <a:spcPts val="700"/>
              </a:spcAft>
            </a:pPr>
            <a:r>
              <a:rPr sz="1400" b="1">
                <a:solidFill>
                  <a:srgbClr val="000000"/>
                </a:solidFill>
                <a:latin typeface="Times New Roman"/>
              </a:rPr>
              <a:t>The one-in-ten cut is irreversible. </a:t>
            </a:r>
            <a:r>
              <a:rPr sz="1400" b="0">
                <a:solidFill>
                  <a:srgbClr val="000000"/>
                </a:solidFill>
                <a:latin typeface="Times New Roman"/>
              </a:rPr>
              <a:t>Nine of every ten retrieved papers are discarded at the Ranker, and no later stage can recover one. A relevant paper lost at selection is indistinguishable, downstream, from a paper that was never retrieved at all.</a:t>
            </a:r>
          </a:p>
          <a:p>
            <a:pPr algn="just">
              <a:lnSpc>
                <a:spcPct val="100000"/>
              </a:lnSpc>
              <a:spcAft>
                <a:spcPts val="700"/>
              </a:spcAft>
            </a:pPr>
            <a:r>
              <a:rPr sz="1400" b="1">
                <a:solidFill>
                  <a:srgbClr val="000000"/>
                </a:solidFill>
                <a:latin typeface="Times New Roman"/>
              </a:rPr>
              <a:t>Retrieval, not verification, is the binding constraint. </a:t>
            </a:r>
            <a:r>
              <a:rPr sz="1400" b="0">
                <a:solidFill>
                  <a:srgbClr val="000000"/>
                </a:solidFill>
                <a:latin typeface="Times New Roman"/>
              </a:rPr>
              <a:t>Union recall against the 35-paper answer key is 0.0571 on the showcase run, and corpus recall is 0.000 across all three measured retrieval experiments. The Verifier cannot ground a claim against a paper that was never fetched, so retrieval quality caps everything downstream.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Limitations of the Proposed Method</a:t>
            </a:r>
          </a:p>
        </p:txBody>
      </p:sp>
      <p:sp>
        <p:nvSpPr>
          <p:cNvPr id="4" name="TextBox 3"/>
          <p:cNvSpPr txBox="1"/>
          <p:nvPr/>
        </p:nvSpPr>
        <p:spPr>
          <a:xfrm>
            <a:off x="228600" y="841248"/>
            <a:ext cx="8686800" cy="4069080"/>
          </a:xfrm>
          <a:prstGeom prst="rect">
            <a:avLst/>
          </a:prstGeom>
          <a:noFill/>
        </p:spPr>
        <p:txBody>
          <a:bodyPr wrap="square" lIns="0" rIns="0" tIns="0" bIns="0">
            <a:spAutoFit/>
          </a:bodyPr>
          <a:lstStyle/>
          <a:p>
            <a:pPr algn="just">
              <a:lnSpc>
                <a:spcPct val="100000"/>
              </a:lnSpc>
              <a:spcAft>
                <a:spcPts val="700"/>
              </a:spcAft>
            </a:pPr>
            <a:r>
              <a:rPr sz="1400" b="1">
                <a:solidFill>
                  <a:srgbClr val="000000"/>
                </a:solidFill>
                <a:latin typeface="Times New Roman"/>
              </a:rPr>
              <a:t>The training data is domain-shifted relative to the target corpus. </a:t>
            </a:r>
            <a:r>
              <a:rPr sz="1400" b="0">
                <a:solidFill>
                  <a:srgbClr val="000000"/>
                </a:solidFill>
                <a:latin typeface="Times New Roman"/>
              </a:rPr>
              <a:t>SciFact is biomedical and expert-curated, and SciReviewGen is biomedical-skewed and frozen at a July 2020 snapshot; both are applied to a computer-science corpus, and correct post-2020 papers score as false positives against a 2020 gold set.</a:t>
            </a:r>
          </a:p>
          <a:p>
            <a:pPr algn="just">
              <a:lnSpc>
                <a:spcPct val="100000"/>
              </a:lnSpc>
              <a:spcAft>
                <a:spcPts val="700"/>
              </a:spcAft>
            </a:pPr>
            <a:r>
              <a:rPr sz="1400" b="1">
                <a:solidFill>
                  <a:srgbClr val="000000"/>
                </a:solidFill>
                <a:latin typeface="Times New Roman"/>
              </a:rPr>
              <a:t>The Ranker’s scores are compressed and must never be thresholded. </a:t>
            </a:r>
            <a:r>
              <a:rPr sz="1400" b="0">
                <a:solidFill>
                  <a:srgbClr val="000000"/>
                </a:solidFill>
                <a:latin typeface="Times New Roman"/>
              </a:rPr>
              <a:t>Only its ordering carries signal. A raw-score cutoff would mis-rank silently, so the code raises an error on any attempt to threshold a non-stock model rather than permitting it.</a:t>
            </a:r>
          </a:p>
          <a:p>
            <a:pPr algn="just">
              <a:lnSpc>
                <a:spcPct val="100000"/>
              </a:lnSpc>
              <a:spcAft>
                <a:spcPts val="700"/>
              </a:spcAft>
            </a:pPr>
            <a:r>
              <a:rPr sz="1400" b="1">
                <a:solidFill>
                  <a:srgbClr val="000000"/>
                </a:solidFill>
                <a:latin typeface="Times New Roman"/>
              </a:rPr>
              <a:t>Throughput is bounded by the Ranker. </a:t>
            </a:r>
            <a:r>
              <a:rPr sz="1400" b="0">
                <a:solidFill>
                  <a:srgbClr val="000000"/>
                </a:solidFill>
                <a:latin typeface="Times New Roman"/>
              </a:rPr>
              <a:t>It scores the entire retrieved pool at roughly 23 pairs per second before the one-in-ten cut, so cost grows with what was fetched rather than with what is read. That is why enlarging the candidate pool made the system substantially slower without making the review better.</a:t>
            </a:r>
          </a:p>
          <a:p>
            <a:pPr algn="just">
              <a:lnSpc>
                <a:spcPct val="100000"/>
              </a:lnSpc>
              <a:spcAft>
                <a:spcPts val="700"/>
              </a:spcAft>
            </a:pPr>
            <a:r>
              <a:rPr sz="1400" b="1">
                <a:solidFill>
                  <a:srgbClr val="000000"/>
                </a:solidFill>
                <a:latin typeface="Times New Roman"/>
              </a:rPr>
              <a:t>The two prompted seats are subject to a daily token ceiling. </a:t>
            </a:r>
            <a:r>
              <a:rPr sz="1400" b="0">
                <a:solidFill>
                  <a:srgbClr val="000000"/>
                </a:solidFill>
                <a:latin typeface="Times New Roman"/>
              </a:rPr>
              <a:t>The Planner and the Critic both call the hosted open-weight model, and a full run reserves roughly 67,000 to 80,000 tokens. That limits the number of complete runs possible in one day, and is why the demonstration replays a pre-baked run rather than executing live.</a:t>
            </a:r>
          </a:p>
          <a:p>
            <a:pPr algn="just">
              <a:lnSpc>
                <a:spcPct val="100000"/>
              </a:lnSpc>
              <a:spcAft>
                <a:spcPts val="700"/>
              </a:spcAft>
            </a:pPr>
            <a:r>
              <a:rPr sz="1400" b="1">
                <a:solidFill>
                  <a:srgbClr val="000000"/>
                </a:solidFill>
                <a:latin typeface="Times New Roman"/>
              </a:rPr>
              <a:t>Multi-citation statements are not verified. </a:t>
            </a:r>
            <a:r>
              <a:rPr sz="1400" b="0">
                <a:solidFill>
                  <a:srgbClr val="000000"/>
                </a:solidFill>
                <a:latin typeface="Times New Roman"/>
              </a:rPr>
              <a:t>Only sentences citing exactly one paper become verifiable pairs, discarding 25.3% of citing sentences — a deliberate precision choice, but one that leaves a real class of statements outside the Verifier’s reach.</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Status of Project’s Execution</a:t>
            </a:r>
          </a:p>
        </p:txBody>
      </p:sp>
      <p:sp>
        <p:nvSpPr>
          <p:cNvPr id="4" name="TextBox 3"/>
          <p:cNvSpPr txBox="1"/>
          <p:nvPr/>
        </p:nvSpPr>
        <p:spPr>
          <a:xfrm>
            <a:off x="228600" y="841248"/>
            <a:ext cx="8686800" cy="4069080"/>
          </a:xfrm>
          <a:prstGeom prst="rect">
            <a:avLst/>
          </a:prstGeom>
          <a:noFill/>
        </p:spPr>
        <p:txBody>
          <a:bodyPr wrap="square" lIns="0" rIns="0" tIns="0" bIns="0">
            <a:spAutoFit/>
          </a:bodyPr>
          <a:lstStyle/>
          <a:p>
            <a:pPr algn="just">
              <a:lnSpc>
                <a:spcPct val="100000"/>
              </a:lnSpc>
              <a:spcAft>
                <a:spcPts val="800"/>
              </a:spcAft>
            </a:pPr>
            <a:r>
              <a:rPr sz="1500" b="1">
                <a:solidFill>
                  <a:srgbClr val="000000"/>
                </a:solidFill>
                <a:latin typeface="Times New Roman"/>
              </a:rPr>
              <a:t>The system is complete and runs end to end. </a:t>
            </a:r>
            <a:r>
              <a:rPr sz="1500" b="0">
                <a:solidFill>
                  <a:srgbClr val="000000"/>
                </a:solidFill>
                <a:latin typeface="Times New Roman"/>
              </a:rPr>
              <a:t>All seven agents, the Planner-coordinated pipeline, the backend with live progress streaming and human-in-the-loop overrides, and the four-panel web frontend are implemented and demonstrable.</a:t>
            </a:r>
          </a:p>
          <a:p>
            <a:pPr algn="just">
              <a:lnSpc>
                <a:spcPct val="100000"/>
              </a:lnSpc>
              <a:spcAft>
                <a:spcPts val="800"/>
              </a:spcAft>
            </a:pPr>
            <a:r>
              <a:rPr sz="1500" b="1">
                <a:solidFill>
                  <a:srgbClr val="000000"/>
                </a:solidFill>
                <a:latin typeface="Times New Roman"/>
              </a:rPr>
              <a:t>All three models are trained, evaluated, quantised and adopted. </a:t>
            </a:r>
            <a:r>
              <a:rPr sz="1500" b="0">
                <a:solidFill>
                  <a:srgbClr val="000000"/>
                </a:solidFill>
                <a:latin typeface="Times New Roman"/>
              </a:rPr>
              <a:t>Claim Verifier at macro-F1 0.7685, Cross-encoder Ranker at Recall@20 0.5926 out of domain, and the Summary Generation model at ROUGE-L 29.44 — each promoted only after clearing a pre-specified gate.</a:t>
            </a:r>
          </a:p>
          <a:p>
            <a:pPr algn="just">
              <a:lnSpc>
                <a:spcPct val="100000"/>
              </a:lnSpc>
              <a:spcAft>
                <a:spcPts val="800"/>
              </a:spcAft>
            </a:pPr>
            <a:r>
              <a:rPr sz="1500" b="1">
                <a:solidFill>
                  <a:srgbClr val="000000"/>
                </a:solidFill>
                <a:latin typeface="Times New Roman"/>
              </a:rPr>
              <a:t>334 automated tests pass and 1 is skipped, </a:t>
            </a:r>
            <a:r>
              <a:rPr sz="1500" b="0">
                <a:solidFill>
                  <a:srgbClr val="000000"/>
                </a:solidFill>
                <a:latin typeface="Times New Roman"/>
              </a:rPr>
              <a:t>one acceptance suite per project phase plus unit and integration tests, requiring neither network access nor a database.</a:t>
            </a:r>
          </a:p>
          <a:p>
            <a:pPr algn="just">
              <a:lnSpc>
                <a:spcPct val="100000"/>
              </a:lnSpc>
              <a:spcAft>
                <a:spcPts val="800"/>
              </a:spcAft>
            </a:pPr>
            <a:r>
              <a:rPr sz="1500" b="1">
                <a:solidFill>
                  <a:srgbClr val="000000"/>
                </a:solidFill>
                <a:latin typeface="Times New Roman"/>
              </a:rPr>
              <a:t>A pre-baked showcase run replays instantly for the demonstration, </a:t>
            </a:r>
            <a:r>
              <a:rPr sz="1500" b="0">
                <a:solidFill>
                  <a:srgbClr val="000000"/>
                </a:solidFill>
                <a:latin typeface="Times New Roman"/>
              </a:rPr>
              <a:t>and any completed run directory is itself a valid fixture, so the demonstration carries no live-service dependency.</a:t>
            </a:r>
          </a:p>
          <a:p>
            <a:pPr algn="just">
              <a:lnSpc>
                <a:spcPct val="100000"/>
              </a:lnSpc>
              <a:spcAft>
                <a:spcPts val="800"/>
              </a:spcAft>
            </a:pPr>
            <a:r>
              <a:rPr sz="1500" b="1">
                <a:solidFill>
                  <a:srgbClr val="000000"/>
                </a:solidFill>
                <a:latin typeface="Times New Roman"/>
              </a:rPr>
              <a:t>Remaining work. </a:t>
            </a:r>
            <a:r>
              <a:rPr sz="1500" b="0">
                <a:solidFill>
                  <a:srgbClr val="000000"/>
                </a:solidFill>
                <a:latin typeface="Times New Roman"/>
              </a:rPr>
              <a:t>Raise retrieval recall, which the measurements identify as the binding constraint, and re-bake the showcase run on the improved corpus; complete the ablation that isolates the Verifier’s end-to-end contribution.</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6903</TotalTime>
  <Words>1405</Words>
  <Application>Microsoft Office PowerPoint</Application>
  <PresentationFormat>On-screen Show (16:9)</PresentationFormat>
  <Paragraphs>235</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Gokaraju Rangaraju Institute of Engineering and Technology (Autonomous) Department of Artificial Intelligence and Machine Learning Engineering</dc:title>
  <dc:creator>OM</dc:creator>
  <cp:lastModifiedBy>admin</cp:lastModifiedBy>
  <cp:revision>139</cp:revision>
  <dcterms:modified xsi:type="dcterms:W3CDTF">2026-09-02T13:55:44Z</dcterms:modified>
</cp:coreProperties>
</file>