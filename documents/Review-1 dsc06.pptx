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1" r:id="rId1"/>
  </p:sldMasterIdLst>
  <p:notesMasterIdLst>
    <p:notesMasterId r:id="rId19"/>
  </p:notesMasterIdLst>
  <p:sldIdLst>
    <p:sldId id="256" r:id="rId2"/>
    <p:sldId id="257" r:id="rId3"/>
    <p:sldId id="258" r:id="rId4"/>
    <p:sldId id="289"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3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 name="Google Shape;23;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 name="Google Shape;34;p2: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 name="Google Shape;39;p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 name="Google Shape;45;p4: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 name="Google Shape;57;p6: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7: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 name="Google Shape;70;p8: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9: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1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1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12: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1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14: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1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16: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9"/>
        <p:cNvGrpSpPr/>
        <p:nvPr/>
      </p:nvGrpSpPr>
      <p:grpSpPr>
        <a:xfrm>
          <a:off x="0" y="0"/>
          <a:ext cx="0" cy="0"/>
          <a:chOff x="0" y="0"/>
          <a:chExt cx="0" cy="0"/>
        </a:xfrm>
      </p:grpSpPr>
      <p:sp>
        <p:nvSpPr>
          <p:cNvPr id="10" name="Google Shape;10;p2"/>
          <p:cNvSpPr txBox="1">
            <a:spLocks noGrp="1"/>
          </p:cNvSpPr>
          <p:nvPr>
            <p:ph type="ftr" idx="11"/>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SzPts val="1400"/>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dt" idx="10"/>
          </p:nvPr>
        </p:nvSpPr>
        <p:spPr>
          <a:xfrm>
            <a:off x="0" y="0"/>
            <a:ext cx="3000000" cy="300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0" tIns="0" rIns="0" bIns="0" anchor="ctr" anchorCtr="0">
            <a:normAutofit/>
          </a:bodyPr>
          <a:lstStyle>
            <a:lvl1pPr marL="0" lvl="0" indent="0" algn="r">
              <a:lnSpc>
                <a:spcPct val="100000"/>
              </a:lnSpc>
              <a:spcBef>
                <a:spcPts val="0"/>
              </a:spcBef>
              <a:spcAft>
                <a:spcPts val="0"/>
              </a:spcAft>
              <a:buSzPts val="1000"/>
              <a:buNone/>
              <a:defRPr>
                <a:solidFill>
                  <a:srgbClr val="888888"/>
                </a:solidFill>
              </a:defRPr>
            </a:lvl1pPr>
            <a:lvl2pPr marL="0" lvl="1" indent="0" algn="r">
              <a:lnSpc>
                <a:spcPct val="100000"/>
              </a:lnSpc>
              <a:spcBef>
                <a:spcPts val="0"/>
              </a:spcBef>
              <a:spcAft>
                <a:spcPts val="0"/>
              </a:spcAft>
              <a:buSzPts val="1000"/>
              <a:buNone/>
              <a:defRPr>
                <a:solidFill>
                  <a:srgbClr val="888888"/>
                </a:solidFill>
              </a:defRPr>
            </a:lvl2pPr>
            <a:lvl3pPr marL="0" lvl="2" indent="0" algn="r">
              <a:lnSpc>
                <a:spcPct val="100000"/>
              </a:lnSpc>
              <a:spcBef>
                <a:spcPts val="0"/>
              </a:spcBef>
              <a:spcAft>
                <a:spcPts val="0"/>
              </a:spcAft>
              <a:buSzPts val="1000"/>
              <a:buNone/>
              <a:defRPr>
                <a:solidFill>
                  <a:srgbClr val="888888"/>
                </a:solidFill>
              </a:defRPr>
            </a:lvl3pPr>
            <a:lvl4pPr marL="0" lvl="3" indent="0" algn="r">
              <a:lnSpc>
                <a:spcPct val="100000"/>
              </a:lnSpc>
              <a:spcBef>
                <a:spcPts val="0"/>
              </a:spcBef>
              <a:spcAft>
                <a:spcPts val="0"/>
              </a:spcAft>
              <a:buSzPts val="1000"/>
              <a:buNone/>
              <a:defRPr>
                <a:solidFill>
                  <a:srgbClr val="888888"/>
                </a:solidFill>
              </a:defRPr>
            </a:lvl4pPr>
            <a:lvl5pPr marL="0" lvl="4" indent="0" algn="r">
              <a:lnSpc>
                <a:spcPct val="100000"/>
              </a:lnSpc>
              <a:spcBef>
                <a:spcPts val="0"/>
              </a:spcBef>
              <a:spcAft>
                <a:spcPts val="0"/>
              </a:spcAft>
              <a:buSzPts val="1000"/>
              <a:buNone/>
              <a:defRPr>
                <a:solidFill>
                  <a:srgbClr val="888888"/>
                </a:solidFill>
              </a:defRPr>
            </a:lvl5pPr>
            <a:lvl6pPr marL="0" lvl="5" indent="0" algn="r">
              <a:lnSpc>
                <a:spcPct val="100000"/>
              </a:lnSpc>
              <a:spcBef>
                <a:spcPts val="0"/>
              </a:spcBef>
              <a:spcAft>
                <a:spcPts val="0"/>
              </a:spcAft>
              <a:buSzPts val="1000"/>
              <a:buNone/>
              <a:defRPr>
                <a:solidFill>
                  <a:srgbClr val="888888"/>
                </a:solidFill>
              </a:defRPr>
            </a:lvl6pPr>
            <a:lvl7pPr marL="0" lvl="6" indent="0" algn="r">
              <a:lnSpc>
                <a:spcPct val="100000"/>
              </a:lnSpc>
              <a:spcBef>
                <a:spcPts val="0"/>
              </a:spcBef>
              <a:spcAft>
                <a:spcPts val="0"/>
              </a:spcAft>
              <a:buSzPts val="1000"/>
              <a:buNone/>
              <a:defRPr>
                <a:solidFill>
                  <a:srgbClr val="888888"/>
                </a:solidFill>
              </a:defRPr>
            </a:lvl7pPr>
            <a:lvl8pPr marL="0" lvl="7" indent="0" algn="r">
              <a:lnSpc>
                <a:spcPct val="100000"/>
              </a:lnSpc>
              <a:spcBef>
                <a:spcPts val="0"/>
              </a:spcBef>
              <a:spcAft>
                <a:spcPts val="0"/>
              </a:spcAft>
              <a:buSzPts val="1000"/>
              <a:buNone/>
              <a:defRPr>
                <a:solidFill>
                  <a:srgbClr val="888888"/>
                </a:solidFill>
              </a:defRPr>
            </a:lvl8pPr>
            <a:lvl9pPr marL="0" lvl="8" indent="0" algn="r">
              <a:lnSpc>
                <a:spcPct val="100000"/>
              </a:lnSpc>
              <a:spcBef>
                <a:spcPts val="0"/>
              </a:spcBef>
              <a:spcAft>
                <a:spcPts val="0"/>
              </a:spcAft>
              <a:buSzPts val="1000"/>
              <a:buNone/>
              <a:defRPr>
                <a:solidFill>
                  <a:srgbClr val="888888"/>
                </a:solidFill>
              </a:defRPr>
            </a:lvl9pPr>
          </a:lstStyle>
          <a:p>
            <a:pPr marL="0" lvl="0" indent="0" algn="r" rtl="0">
              <a:spcBef>
                <a:spcPts val="0"/>
              </a:spcBef>
              <a:spcAft>
                <a:spcPts val="0"/>
              </a:spcAft>
              <a:buNone/>
            </a:pPr>
            <a:fld id="{00000000-1234-1234-1234-123412341234}" type="slidenum">
              <a:rPr lang="en-IN"/>
              <a:t>‹#›</a:t>
            </a:fld>
            <a:endParaRPr sz="1000" b="0" i="0" u="none" strike="noStrike" cap="none">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
        <p:nvSpPr>
          <p:cNvPr id="15" name="Google Shape;15;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200" b="1">
                <a:latin typeface="Times New Roman"/>
                <a:ea typeface="Times New Roman"/>
                <a:cs typeface="Times New Roman"/>
                <a:sym typeface="Times New Roman"/>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6" name="Google Shape;16;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sz="2400">
                <a:latin typeface="Times New Roman"/>
                <a:ea typeface="Times New Roman"/>
                <a:cs typeface="Times New Roman"/>
                <a:sym typeface="Times New Roman"/>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200" b="1">
                <a:latin typeface="Times New Roman"/>
                <a:ea typeface="Times New Roman"/>
                <a:cs typeface="Times New Roman"/>
                <a:sym typeface="Times New Roman"/>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sz="2400">
                <a:latin typeface="Times New Roman"/>
                <a:ea typeface="Times New Roman"/>
                <a:cs typeface="Times New Roman"/>
                <a:sym typeface="Times New Roman"/>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Times New Roman"/>
                <a:ea typeface="Times New Roman"/>
                <a:cs typeface="Times New Roman"/>
                <a:sym typeface="Times New Roman"/>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cs.google.com/presentation/u/0/d/19rO1-mOn3BByBc6ZSkh9Da3iADEOKQoxZDrXetL0hXA/edit"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5"/>
          <p:cNvSpPr txBox="1"/>
          <p:nvPr/>
        </p:nvSpPr>
        <p:spPr>
          <a:xfrm>
            <a:off x="-14096" y="2887282"/>
            <a:ext cx="9144000" cy="909900"/>
          </a:xfrm>
          <a:prstGeom prst="rect">
            <a:avLst/>
          </a:prstGeom>
          <a:noFill/>
          <a:ln>
            <a:noFill/>
          </a:ln>
        </p:spPr>
        <p:txBody>
          <a:bodyPr spcFirstLastPara="1" wrap="square" lIns="91425" tIns="45700" rIns="91425" bIns="45700" anchor="t" anchorCtr="0">
            <a:spAutoFit/>
          </a:bodyPr>
          <a:lstStyle/>
          <a:p>
            <a:pPr marL="9525" marR="0" lvl="0" indent="0" algn="ctr" rtl="0">
              <a:lnSpc>
                <a:spcPct val="85900"/>
              </a:lnSpc>
              <a:spcBef>
                <a:spcPts val="0"/>
              </a:spcBef>
              <a:spcAft>
                <a:spcPts val="0"/>
              </a:spcAft>
              <a:buNone/>
            </a:pPr>
            <a:r>
              <a:rPr lang="en-IN" sz="2000" b="1" i="0" u="none" strike="noStrike" cap="none">
                <a:solidFill>
                  <a:srgbClr val="000000"/>
                </a:solidFill>
                <a:latin typeface="Times New Roman"/>
                <a:ea typeface="Times New Roman"/>
                <a:cs typeface="Times New Roman"/>
                <a:sym typeface="Times New Roman"/>
              </a:rPr>
              <a:t>A Multi-Agent Agentic RAG Platform for Automated </a:t>
            </a:r>
            <a:endParaRPr/>
          </a:p>
          <a:p>
            <a:pPr marL="9525" marR="0" lvl="0" indent="0" algn="ctr" rtl="0">
              <a:lnSpc>
                <a:spcPct val="85900"/>
              </a:lnSpc>
              <a:spcBef>
                <a:spcPts val="94"/>
              </a:spcBef>
              <a:spcAft>
                <a:spcPts val="0"/>
              </a:spcAft>
              <a:buNone/>
            </a:pPr>
            <a:r>
              <a:rPr lang="en-IN" sz="2000" b="1" i="0" u="none" strike="noStrike" cap="none">
                <a:solidFill>
                  <a:srgbClr val="000000"/>
                </a:solidFill>
                <a:latin typeface="Times New Roman"/>
                <a:ea typeface="Times New Roman"/>
                <a:cs typeface="Times New Roman"/>
                <a:sym typeface="Times New Roman"/>
              </a:rPr>
              <a:t>Literature Review</a:t>
            </a:r>
            <a:endParaRPr/>
          </a:p>
          <a:p>
            <a:pPr marL="9525" marR="0" lvl="0" indent="0" algn="ctr" rtl="0">
              <a:lnSpc>
                <a:spcPct val="63629"/>
              </a:lnSpc>
              <a:spcBef>
                <a:spcPts val="94"/>
              </a:spcBef>
              <a:spcAft>
                <a:spcPts val="0"/>
              </a:spcAft>
              <a:buNone/>
            </a:pPr>
            <a:r>
              <a:rPr lang="en-IN" sz="2700" b="1" i="0" u="none" strike="noStrike" cap="none">
                <a:solidFill>
                  <a:srgbClr val="000000"/>
                </a:solidFill>
                <a:latin typeface="Times New Roman"/>
                <a:ea typeface="Times New Roman"/>
                <a:cs typeface="Times New Roman"/>
                <a:sym typeface="Times New Roman"/>
              </a:rPr>
              <a:t> </a:t>
            </a:r>
            <a:endParaRPr sz="2700" b="0" i="0" u="none" strike="noStrike" cap="none">
              <a:solidFill>
                <a:srgbClr val="000000"/>
              </a:solidFill>
              <a:latin typeface="Times New Roman"/>
              <a:ea typeface="Times New Roman"/>
              <a:cs typeface="Times New Roman"/>
              <a:sym typeface="Times New Roman"/>
            </a:endParaRPr>
          </a:p>
        </p:txBody>
      </p:sp>
      <p:sp>
        <p:nvSpPr>
          <p:cNvPr id="26" name="Google Shape;26;p5"/>
          <p:cNvSpPr txBox="1"/>
          <p:nvPr/>
        </p:nvSpPr>
        <p:spPr>
          <a:xfrm>
            <a:off x="212138" y="-12625"/>
            <a:ext cx="8719725" cy="1727200"/>
          </a:xfrm>
          <a:prstGeom prst="rect">
            <a:avLst/>
          </a:prstGeom>
          <a:noFill/>
          <a:ln>
            <a:noFill/>
          </a:ln>
        </p:spPr>
        <p:txBody>
          <a:bodyPr spcFirstLastPara="1" wrap="square" lIns="68550" tIns="68550" rIns="68550" bIns="68550" anchor="b" anchorCtr="0">
            <a:noAutofit/>
          </a:bodyPr>
          <a:lstStyle/>
          <a:p>
            <a:pPr marL="0" marR="0" lvl="0" indent="0" algn="ctr" rtl="0">
              <a:lnSpc>
                <a:spcPct val="100000"/>
              </a:lnSpc>
              <a:spcBef>
                <a:spcPts val="0"/>
              </a:spcBef>
              <a:spcAft>
                <a:spcPts val="0"/>
              </a:spcAft>
              <a:buNone/>
            </a:pPr>
            <a:br>
              <a:rPr lang="en-IN" sz="1800" b="1" i="0" u="none" strike="noStrike" cap="none">
                <a:solidFill>
                  <a:srgbClr val="000000"/>
                </a:solidFill>
                <a:latin typeface="Times New Roman"/>
                <a:ea typeface="Times New Roman"/>
                <a:cs typeface="Times New Roman"/>
                <a:sym typeface="Times New Roman"/>
              </a:rPr>
            </a:br>
            <a:br>
              <a:rPr lang="en-IN" sz="1800" b="1" i="0" u="none" strike="noStrike" cap="none">
                <a:solidFill>
                  <a:srgbClr val="000000"/>
                </a:solidFill>
                <a:latin typeface="Times New Roman"/>
                <a:ea typeface="Times New Roman"/>
                <a:cs typeface="Times New Roman"/>
                <a:sym typeface="Times New Roman"/>
              </a:rPr>
            </a:br>
            <a:br>
              <a:rPr lang="en-IN" sz="1800" b="1" i="0" u="none" strike="noStrike" cap="none">
                <a:solidFill>
                  <a:srgbClr val="000000"/>
                </a:solidFill>
                <a:latin typeface="Times New Roman"/>
                <a:ea typeface="Times New Roman"/>
                <a:cs typeface="Times New Roman"/>
                <a:sym typeface="Times New Roman"/>
              </a:rPr>
            </a:br>
            <a:r>
              <a:rPr lang="en-IN" sz="2400" b="1" i="0" u="none" strike="noStrike" cap="none">
                <a:solidFill>
                  <a:srgbClr val="000000"/>
                </a:solidFill>
                <a:latin typeface="Times New Roman"/>
                <a:ea typeface="Times New Roman"/>
                <a:cs typeface="Times New Roman"/>
                <a:sym typeface="Times New Roman"/>
              </a:rPr>
              <a:t>Gokaraju Rangaraju Institute of Engineering and Technology </a:t>
            </a:r>
            <a:br>
              <a:rPr lang="en-IN" sz="2100" b="1" i="0" u="none" strike="noStrike" cap="none">
                <a:solidFill>
                  <a:srgbClr val="000000"/>
                </a:solidFill>
                <a:latin typeface="Times New Roman"/>
                <a:ea typeface="Times New Roman"/>
                <a:cs typeface="Times New Roman"/>
                <a:sym typeface="Times New Roman"/>
              </a:rPr>
            </a:br>
            <a:r>
              <a:rPr lang="en-IN" sz="2100" b="1" i="0" u="none" strike="noStrike" cap="none">
                <a:solidFill>
                  <a:srgbClr val="000000"/>
                </a:solidFill>
                <a:latin typeface="Times New Roman"/>
                <a:ea typeface="Times New Roman"/>
                <a:cs typeface="Times New Roman"/>
                <a:sym typeface="Times New Roman"/>
              </a:rPr>
              <a:t>(Autonomous)</a:t>
            </a:r>
            <a:endParaRPr/>
          </a:p>
          <a:p>
            <a:pPr marL="0" marR="0" lvl="0" indent="0" algn="ctr" rtl="0">
              <a:lnSpc>
                <a:spcPct val="100000"/>
              </a:lnSpc>
              <a:spcBef>
                <a:spcPts val="0"/>
              </a:spcBef>
              <a:spcAft>
                <a:spcPts val="0"/>
              </a:spcAft>
              <a:buNone/>
            </a:pPr>
            <a:br>
              <a:rPr lang="en-IN" sz="1800" b="1" i="0" u="none" strike="noStrike" cap="none">
                <a:solidFill>
                  <a:srgbClr val="000000"/>
                </a:solidFill>
                <a:latin typeface="Times New Roman"/>
                <a:ea typeface="Times New Roman"/>
                <a:cs typeface="Times New Roman"/>
                <a:sym typeface="Times New Roman"/>
              </a:rPr>
            </a:br>
            <a:r>
              <a:rPr lang="en-IN" sz="2400" b="1" i="0" u="none" strike="noStrike" cap="none">
                <a:solidFill>
                  <a:srgbClr val="000000"/>
                </a:solidFill>
                <a:latin typeface="Times New Roman"/>
                <a:ea typeface="Times New Roman"/>
                <a:cs typeface="Times New Roman"/>
                <a:sym typeface="Times New Roman"/>
              </a:rPr>
              <a:t>Department of Data Science</a:t>
            </a:r>
            <a:endParaRPr sz="1800" b="1" i="0" u="none" strike="noStrike" cap="none">
              <a:solidFill>
                <a:srgbClr val="000000"/>
              </a:solidFill>
              <a:latin typeface="Times New Roman"/>
              <a:ea typeface="Times New Roman"/>
              <a:cs typeface="Times New Roman"/>
              <a:sym typeface="Times New Roman"/>
            </a:endParaRPr>
          </a:p>
        </p:txBody>
      </p:sp>
      <p:pic>
        <p:nvPicPr>
          <p:cNvPr id="27" name="Google Shape;27;p5" descr="Untitled-1 copy"/>
          <p:cNvPicPr preferRelativeResize="0"/>
          <p:nvPr/>
        </p:nvPicPr>
        <p:blipFill rotWithShape="1">
          <a:blip r:embed="rId3">
            <a:alphaModFix/>
          </a:blip>
          <a:srcRect l="25562" t="23018" r="26994" b="21857"/>
          <a:stretch/>
        </p:blipFill>
        <p:spPr>
          <a:xfrm>
            <a:off x="342900" y="850976"/>
            <a:ext cx="1028700" cy="952424"/>
          </a:xfrm>
          <a:prstGeom prst="rect">
            <a:avLst/>
          </a:prstGeom>
          <a:noFill/>
          <a:ln>
            <a:noFill/>
          </a:ln>
        </p:spPr>
      </p:pic>
      <p:sp>
        <p:nvSpPr>
          <p:cNvPr id="28" name="Google Shape;28;p5"/>
          <p:cNvSpPr txBox="1"/>
          <p:nvPr/>
        </p:nvSpPr>
        <p:spPr>
          <a:xfrm>
            <a:off x="4869366" y="3685962"/>
            <a:ext cx="3812260" cy="1341005"/>
          </a:xfrm>
          <a:prstGeom prst="rect">
            <a:avLst/>
          </a:prstGeom>
          <a:noFill/>
          <a:ln>
            <a:noFill/>
          </a:ln>
        </p:spPr>
        <p:txBody>
          <a:bodyPr spcFirstLastPara="1" wrap="square" lIns="68550" tIns="68550" rIns="68550" bIns="68550" anchor="t" anchorCtr="0">
            <a:normAutofit/>
          </a:bodyPr>
          <a:lstStyle/>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Presented by:</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1. Mr. Abrarullah Mohammed(23241A67D1)</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2. Mr. G. Shashivadan Rao (23241</a:t>
            </a:r>
            <a:r>
              <a:rPr lang="en-IN" sz="1500" b="1">
                <a:solidFill>
                  <a:schemeClr val="dk1"/>
                </a:solidFill>
                <a:latin typeface="Times New Roman"/>
                <a:ea typeface="Times New Roman"/>
                <a:cs typeface="Times New Roman"/>
                <a:sym typeface="Times New Roman"/>
              </a:rPr>
              <a:t>A</a:t>
            </a:r>
            <a:r>
              <a:rPr lang="en-IN" sz="1500" b="1" i="0" u="none" strike="noStrike" cap="none">
                <a:solidFill>
                  <a:schemeClr val="dk1"/>
                </a:solidFill>
                <a:latin typeface="Times New Roman"/>
                <a:ea typeface="Times New Roman"/>
                <a:cs typeface="Times New Roman"/>
                <a:sym typeface="Times New Roman"/>
              </a:rPr>
              <a:t>67F2)</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3. Mr. P. Sreekaran Reddy (23241A67H7)</a:t>
            </a:r>
            <a:endParaRPr/>
          </a:p>
          <a:p>
            <a:pPr marL="0" marR="0" lvl="0" indent="0" algn="l" rtl="0">
              <a:lnSpc>
                <a:spcPct val="100000"/>
              </a:lnSpc>
              <a:spcBef>
                <a:spcPts val="0"/>
              </a:spcBef>
              <a:spcAft>
                <a:spcPts val="0"/>
              </a:spcAft>
              <a:buClr>
                <a:schemeClr val="dk2"/>
              </a:buClr>
              <a:buSzPts val="2800"/>
              <a:buFont typeface="Arial"/>
              <a:buNone/>
            </a:pPr>
            <a:endParaRPr sz="1500" b="1" i="0" u="none" strike="noStrike" cap="none">
              <a:solidFill>
                <a:schemeClr val="dk1"/>
              </a:solidFill>
              <a:latin typeface="Times New Roman"/>
              <a:ea typeface="Times New Roman"/>
              <a:cs typeface="Times New Roman"/>
              <a:sym typeface="Times New Roman"/>
            </a:endParaRPr>
          </a:p>
        </p:txBody>
      </p:sp>
      <p:sp>
        <p:nvSpPr>
          <p:cNvPr id="29" name="Google Shape;29;p5"/>
          <p:cNvSpPr txBox="1"/>
          <p:nvPr/>
        </p:nvSpPr>
        <p:spPr>
          <a:xfrm>
            <a:off x="1642946" y="2374660"/>
            <a:ext cx="5858107" cy="318933"/>
          </a:xfrm>
          <a:prstGeom prst="rect">
            <a:avLst/>
          </a:prstGeom>
          <a:noFill/>
          <a:ln>
            <a:noFill/>
          </a:ln>
        </p:spPr>
        <p:txBody>
          <a:bodyPr spcFirstLastPara="1" wrap="square" lIns="91425" tIns="45700" rIns="91425" bIns="45700" anchor="t" anchorCtr="0">
            <a:spAutoFit/>
          </a:bodyPr>
          <a:lstStyle/>
          <a:p>
            <a:pPr marL="9525" marR="0" lvl="0" indent="0" algn="l" rtl="0">
              <a:lnSpc>
                <a:spcPct val="81809"/>
              </a:lnSpc>
              <a:spcBef>
                <a:spcPts val="0"/>
              </a:spcBef>
              <a:spcAft>
                <a:spcPts val="0"/>
              </a:spcAft>
              <a:buNone/>
            </a:pPr>
            <a:r>
              <a:rPr lang="en-IN" sz="2100" b="1" i="0" u="none" strike="noStrike" cap="none">
                <a:solidFill>
                  <a:srgbClr val="000000"/>
                </a:solidFill>
                <a:latin typeface="Times New Roman"/>
                <a:ea typeface="Times New Roman"/>
                <a:cs typeface="Times New Roman"/>
                <a:sym typeface="Times New Roman"/>
              </a:rPr>
              <a:t>IV Year B. Tech., I Semester CSE (Data Science)</a:t>
            </a:r>
            <a:endParaRPr sz="2100" b="0" i="0" u="none" strike="noStrike" cap="none">
              <a:solidFill>
                <a:srgbClr val="000000"/>
              </a:solidFill>
              <a:latin typeface="Times New Roman"/>
              <a:ea typeface="Times New Roman"/>
              <a:cs typeface="Times New Roman"/>
              <a:sym typeface="Times New Roman"/>
            </a:endParaRPr>
          </a:p>
        </p:txBody>
      </p:sp>
      <p:sp>
        <p:nvSpPr>
          <p:cNvPr id="30" name="Google Shape;30;p5"/>
          <p:cNvSpPr txBox="1"/>
          <p:nvPr/>
        </p:nvSpPr>
        <p:spPr>
          <a:xfrm>
            <a:off x="628650" y="3685962"/>
            <a:ext cx="3480975" cy="1244631"/>
          </a:xfrm>
          <a:prstGeom prst="rect">
            <a:avLst/>
          </a:prstGeom>
          <a:noFill/>
          <a:ln>
            <a:noFill/>
          </a:ln>
        </p:spPr>
        <p:txBody>
          <a:bodyPr spcFirstLastPara="1" wrap="square" lIns="68550" tIns="68550" rIns="68550" bIns="68550" anchor="t" anchorCtr="0">
            <a:normAutofit/>
          </a:bodyPr>
          <a:lstStyle/>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Under the Guidance of:</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Dr. S. Govinda Rao</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Head of Department,</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Data Science</a:t>
            </a:r>
            <a:endParaRPr/>
          </a:p>
        </p:txBody>
      </p:sp>
      <p:sp>
        <p:nvSpPr>
          <p:cNvPr id="31" name="Google Shape;31;p5"/>
          <p:cNvSpPr txBox="1"/>
          <p:nvPr/>
        </p:nvSpPr>
        <p:spPr>
          <a:xfrm>
            <a:off x="91966" y="1714575"/>
            <a:ext cx="8931863" cy="746358"/>
          </a:xfrm>
          <a:prstGeom prst="rect">
            <a:avLst/>
          </a:prstGeom>
          <a:noFill/>
          <a:ln>
            <a:noFill/>
          </a:ln>
        </p:spPr>
        <p:txBody>
          <a:bodyPr spcFirstLastPara="1" wrap="square" lIns="91425" tIns="45700" rIns="91425" bIns="45700" anchor="t" anchorCtr="0">
            <a:spAutoFit/>
          </a:bodyPr>
          <a:lstStyle/>
          <a:p>
            <a:pPr marL="9525" marR="0" lvl="0" indent="0" algn="r" rtl="0">
              <a:lnSpc>
                <a:spcPct val="140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					Batch No.: </a:t>
            </a:r>
            <a:r>
              <a:rPr lang="en-IN" sz="1800" b="1" i="0" u="none" strike="noStrike" cap="none">
                <a:solidFill>
                  <a:schemeClr val="dk1"/>
                </a:solidFill>
                <a:latin typeface="Times New Roman"/>
                <a:ea typeface="Times New Roman"/>
                <a:cs typeface="Times New Roman"/>
                <a:sym typeface="Times New Roman"/>
              </a:rPr>
              <a:t>DSC</a:t>
            </a:r>
            <a:r>
              <a:rPr lang="en-IN" sz="1800" b="1" i="0" u="none" strike="noStrike" cap="none">
                <a:solidFill>
                  <a:srgbClr val="FF0000"/>
                </a:solidFill>
                <a:latin typeface="Times New Roman"/>
                <a:ea typeface="Times New Roman"/>
                <a:cs typeface="Times New Roman"/>
                <a:sym typeface="Times New Roman"/>
              </a:rPr>
              <a:t>06</a:t>
            </a:r>
            <a:endParaRPr/>
          </a:p>
          <a:p>
            <a:pPr marL="9525" marR="0" lvl="0" indent="0" algn="r" rtl="0">
              <a:lnSpc>
                <a:spcPct val="140000"/>
              </a:lnSpc>
              <a:spcBef>
                <a:spcPts val="94"/>
              </a:spcBef>
              <a:spcAft>
                <a:spcPts val="0"/>
              </a:spcAft>
              <a:buNone/>
            </a:pPr>
            <a:r>
              <a:rPr lang="en-IN" sz="1800" b="1" i="0" u="none" strike="noStrike" cap="none">
                <a:solidFill>
                  <a:schemeClr val="dk1"/>
                </a:solidFill>
                <a:latin typeface="Times New Roman"/>
                <a:ea typeface="Times New Roman"/>
                <a:cs typeface="Times New Roman"/>
                <a:sym typeface="Times New Roman"/>
              </a:rPr>
              <a:t>Review No.: </a:t>
            </a:r>
            <a:r>
              <a:rPr lang="en-IN" sz="1800" b="1" i="0" u="none" strike="noStrike" cap="none">
                <a:solidFill>
                  <a:srgbClr val="FF0000"/>
                </a:solidFill>
                <a:latin typeface="Times New Roman"/>
                <a:ea typeface="Times New Roman"/>
                <a:cs typeface="Times New Roman"/>
                <a:sym typeface="Times New Roman"/>
              </a:rPr>
              <a:t>01</a:t>
            </a:r>
            <a:endParaRPr sz="1800" b="0"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6"/>
          <p:cNvSpPr txBox="1"/>
          <p:nvPr/>
        </p:nvSpPr>
        <p:spPr>
          <a:xfrm>
            <a:off x="0" y="-10680"/>
            <a:ext cx="9144000" cy="4969256"/>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endParaRPr sz="36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endParaRPr sz="36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endParaRPr sz="36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IN" sz="3600" b="1" i="0" u="none" strike="noStrike" cap="none">
                <a:solidFill>
                  <a:srgbClr val="000000"/>
                </a:solidFill>
                <a:latin typeface="Times New Roman"/>
                <a:ea typeface="Times New Roman"/>
                <a:cs typeface="Times New Roman"/>
                <a:sym typeface="Times New Roman"/>
              </a:rPr>
              <a:t>A Multi-Agent Agentic RAG Platform for Automated Literature Review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7"/>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IN" sz="3600" b="1" i="0" u="none" strike="noStrike" cap="none">
                <a:solidFill>
                  <a:srgbClr val="000000"/>
                </a:solidFill>
                <a:latin typeface="Times New Roman"/>
                <a:ea typeface="Times New Roman"/>
                <a:cs typeface="Times New Roman"/>
                <a:sym typeface="Times New Roman"/>
              </a:rPr>
              <a:t>Abstract</a:t>
            </a:r>
            <a:endParaRPr/>
          </a:p>
        </p:txBody>
      </p:sp>
      <p:sp>
        <p:nvSpPr>
          <p:cNvPr id="42" name="Google Shape;42;p7"/>
          <p:cNvSpPr txBox="1"/>
          <p:nvPr/>
        </p:nvSpPr>
        <p:spPr>
          <a:xfrm>
            <a:off x="0" y="470194"/>
            <a:ext cx="8550475" cy="3727935"/>
          </a:xfrm>
          <a:prstGeom prst="rect">
            <a:avLst/>
          </a:prstGeom>
          <a:noFill/>
          <a:ln>
            <a:noFill/>
          </a:ln>
        </p:spPr>
        <p:txBody>
          <a:bodyPr spcFirstLastPara="1" wrap="square" lIns="91425" tIns="91425" rIns="91425" bIns="91425" anchor="t" anchorCtr="0">
            <a:noAutofit/>
          </a:bodyPr>
          <a:lstStyle/>
          <a:p>
            <a:pPr marL="482600" marR="0" lvl="1" indent="0" algn="just" rtl="0">
              <a:lnSpc>
                <a:spcPct val="100000"/>
              </a:lnSpc>
              <a:spcBef>
                <a:spcPts val="0"/>
              </a:spcBef>
              <a:spcAft>
                <a:spcPts val="0"/>
              </a:spcAft>
              <a:buClr>
                <a:schemeClr val="dk2"/>
              </a:buClr>
              <a:buSzPts val="2800"/>
              <a:buFont typeface="Arial"/>
              <a:buNone/>
            </a:pPr>
            <a:r>
              <a:rPr lang="en-IN" sz="2400" b="0" i="0" u="none" strike="noStrike" cap="none">
                <a:solidFill>
                  <a:schemeClr val="dk1"/>
                </a:solidFill>
                <a:latin typeface="Times New Roman"/>
                <a:ea typeface="Times New Roman"/>
                <a:cs typeface="Times New Roman"/>
                <a:sym typeface="Times New Roman"/>
              </a:rPr>
              <a:t>The project aims to build a multi-agent agentic RAG system that automates academic literature review using six specialized agents — Planner, Retriever, Extractor, Verifier, Critic, and Writer —using LangGraph. The Retriever pulls papers from Semantic Scholar and OpenAlex, the Extractor embeds content into a pgvector store, and the Verifier and Critic ensure factual grounding and coverage completeness, looping back to retrieval when gaps are found. A FastAPI backend streams live agent progress to a Vue.js frontend, giving users real-time visibility into the review as it's generated. </a:t>
            </a:r>
            <a:endParaRPr sz="2400" b="1"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Abstract</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0" algn="just">
              <a:spcAft>
                <a:spcPts val="0"/>
              </a:spcAft>
              <a:buNone/>
            </a:pPr>
            <a:r>
              <a:rPr lang="en-IN" sz="1500" b="0" i="0" dirty="0">
                <a:solidFill>
                  <a:srgbClr val="000000"/>
                </a:solidFill>
                <a:latin typeface="Times New Roman" panose="02020603050405020304" pitchFamily="18" charset="0"/>
                <a:cs typeface="Times New Roman" panose="02020603050405020304" pitchFamily="18" charset="0"/>
              </a:rPr>
              <a:t>This project develops a multi-agent agentic Retrieval-Augmented Generation (RAG) platform that automates academic literature review generation. Six specialised agents — Planner, Retriever, Extractor, Verifier, Critic and Writer — are orchestrated as a stateful LangGraph state machine. The Retriever performs federated search over the Semantic Scholar Academic Graph, and an ingestion stage parses full-text PDFs, chunks them section-aware and embeds them on CPU into a Chroma vector store; the Extractor then emits a four-field structured insight for every paper together with character-level evidence spans. The Verifier decomposes those insights into atomic claims and classifies each one against its evidence span using a claim-verification model fine-tuned on SciFact and exported to ONNX int8 for CPU inference, discarding every claim that falls below the support threshold. The Critic then assesses coverage and grounding and returns control to retrieval or planning for at most three bounded iterations, while a human-in-the-loop console lets the analyst confirm or override flagged and dropped claims before writing begins. A FastAPI backend streams live agent progress over Server-Sent Events to a Vue 3 frontend that displays the finished review with clickable evidence spans and downloadable artefacts, and the entire system runs at zero API cost on CPU-only hardware.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8"/>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IN" sz="3600" b="1" i="0" u="none" strike="noStrike" cap="none">
                <a:solidFill>
                  <a:srgbClr val="000000"/>
                </a:solidFill>
                <a:latin typeface="Times New Roman"/>
                <a:ea typeface="Times New Roman"/>
                <a:cs typeface="Times New Roman"/>
                <a:sym typeface="Times New Roman"/>
              </a:rPr>
              <a:t>Introduction</a:t>
            </a:r>
            <a:endParaRPr/>
          </a:p>
        </p:txBody>
      </p:sp>
      <p:sp>
        <p:nvSpPr>
          <p:cNvPr id="48" name="Google Shape;48;p8"/>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368300" marR="0" lvl="0" indent="-342900" algn="just" rtl="0">
              <a:lnSpc>
                <a:spcPct val="100000"/>
              </a:lnSpc>
              <a:spcBef>
                <a:spcPts val="0"/>
              </a:spcBef>
              <a:spcAft>
                <a:spcPts val="0"/>
              </a:spcAft>
              <a:buClr>
                <a:schemeClr val="dk2"/>
              </a:buClr>
              <a:buSzPts val="2800"/>
              <a:buFont typeface="Arial"/>
              <a:buChar char="•"/>
            </a:pPr>
            <a:r>
              <a:rPr lang="en-IN" sz="2400" b="0" i="0" u="none" strike="noStrike" cap="none">
                <a:solidFill>
                  <a:schemeClr val="dk1"/>
                </a:solidFill>
                <a:latin typeface="Times New Roman"/>
                <a:ea typeface="Times New Roman"/>
                <a:cs typeface="Times New Roman"/>
                <a:sym typeface="Times New Roman"/>
              </a:rPr>
              <a:t>Literature review is manual and time-intensive, with no reliable end-to-end automation. </a:t>
            </a:r>
            <a:endParaRPr/>
          </a:p>
          <a:p>
            <a:pPr marL="368300" marR="0" lvl="0" indent="-342900" algn="just" rtl="0">
              <a:lnSpc>
                <a:spcPct val="100000"/>
              </a:lnSpc>
              <a:spcBef>
                <a:spcPts val="0"/>
              </a:spcBef>
              <a:spcAft>
                <a:spcPts val="0"/>
              </a:spcAft>
              <a:buClr>
                <a:schemeClr val="dk2"/>
              </a:buClr>
              <a:buSzPts val="2800"/>
              <a:buFont typeface="Arial"/>
              <a:buChar char="•"/>
            </a:pPr>
            <a:r>
              <a:rPr lang="en-IN" sz="2400" b="0" i="0" u="none" strike="noStrike" cap="none">
                <a:solidFill>
                  <a:schemeClr val="dk1"/>
                </a:solidFill>
                <a:latin typeface="Times New Roman"/>
                <a:ea typeface="Times New Roman"/>
                <a:cs typeface="Times New Roman"/>
                <a:sym typeface="Times New Roman"/>
              </a:rPr>
              <a:t>The project automates it using six specialized agents (Planner, Retriever, Extractor, Verifier, Critic, Writer) orchestrated via LangGraph. </a:t>
            </a:r>
            <a:endParaRPr/>
          </a:p>
          <a:p>
            <a:pPr marL="368300" marR="0" lvl="0" indent="-342900" algn="just" rtl="0">
              <a:lnSpc>
                <a:spcPct val="100000"/>
              </a:lnSpc>
              <a:spcBef>
                <a:spcPts val="0"/>
              </a:spcBef>
              <a:spcAft>
                <a:spcPts val="0"/>
              </a:spcAft>
              <a:buClr>
                <a:schemeClr val="dk2"/>
              </a:buClr>
              <a:buSzPts val="2800"/>
              <a:buFont typeface="Arial"/>
              <a:buChar char="•"/>
            </a:pPr>
            <a:r>
              <a:rPr lang="en-IN" sz="2400" b="0" i="0" u="none" strike="noStrike" cap="none">
                <a:solidFill>
                  <a:schemeClr val="dk1"/>
                </a:solidFill>
                <a:latin typeface="Times New Roman"/>
                <a:ea typeface="Times New Roman"/>
                <a:cs typeface="Times New Roman"/>
                <a:sym typeface="Times New Roman"/>
              </a:rPr>
              <a:t>A verification and critique loop checks grounding and coverage, re-triggering retrieval when gaps are found. </a:t>
            </a:r>
            <a:endParaRPr/>
          </a:p>
          <a:p>
            <a:pPr marL="368300" marR="0" lvl="0" indent="-342900" algn="just" rtl="0">
              <a:lnSpc>
                <a:spcPct val="100000"/>
              </a:lnSpc>
              <a:spcBef>
                <a:spcPts val="0"/>
              </a:spcBef>
              <a:spcAft>
                <a:spcPts val="0"/>
              </a:spcAft>
              <a:buClr>
                <a:schemeClr val="dk2"/>
              </a:buClr>
              <a:buSzPts val="2800"/>
              <a:buFont typeface="Arial"/>
              <a:buChar char="•"/>
            </a:pPr>
            <a:r>
              <a:rPr lang="en-IN" sz="2400" b="0" i="0" u="none" strike="noStrike" cap="none">
                <a:solidFill>
                  <a:schemeClr val="dk1"/>
                </a:solidFill>
                <a:latin typeface="Times New Roman"/>
                <a:ea typeface="Times New Roman"/>
                <a:cs typeface="Times New Roman"/>
                <a:sym typeface="Times New Roman"/>
              </a:rPr>
              <a:t>Delivered as a full app: FastAPI backend streaming live progress to a Vue.js frontend.</a:t>
            </a:r>
            <a:endParaRPr sz="2400" b="1" i="0" u="none" strike="noStrike" cap="none">
              <a:solidFill>
                <a:schemeClr val="dk1"/>
              </a:solidFill>
              <a:latin typeface="Times New Roman"/>
              <a:ea typeface="Times New Roman"/>
              <a:cs typeface="Times New Roman"/>
              <a:sym typeface="Times New Roman"/>
            </a:endParaRPr>
          </a:p>
          <a:p>
            <a:pPr marL="800100" marR="0" lvl="1" indent="-139700" algn="just"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9"/>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IN" sz="3200" b="1" i="0" u="none" strike="noStrike" cap="none">
                <a:solidFill>
                  <a:srgbClr val="000000"/>
                </a:solidFill>
                <a:latin typeface="Times New Roman"/>
                <a:ea typeface="Times New Roman"/>
                <a:cs typeface="Times New Roman"/>
                <a:sym typeface="Times New Roman"/>
              </a:rPr>
              <a:t>Objectives of  the Proposed Work</a:t>
            </a:r>
            <a:endParaRPr/>
          </a:p>
        </p:txBody>
      </p:sp>
      <p:sp>
        <p:nvSpPr>
          <p:cNvPr id="54" name="Google Shape;54;p9"/>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368300" marR="0" lvl="0" indent="-342900" algn="just" rtl="0">
              <a:lnSpc>
                <a:spcPct val="100000"/>
              </a:lnSpc>
              <a:spcBef>
                <a:spcPts val="0"/>
              </a:spcBef>
              <a:spcAft>
                <a:spcPts val="0"/>
              </a:spcAft>
              <a:buClr>
                <a:schemeClr val="dk2"/>
              </a:buClr>
              <a:buSzPts val="2800"/>
              <a:buFont typeface="Arial"/>
              <a:buChar char="•"/>
            </a:pPr>
            <a:r>
              <a:rPr lang="en-IN" sz="2400">
                <a:solidFill>
                  <a:schemeClr val="dk1"/>
                </a:solidFill>
                <a:latin typeface="Times New Roman"/>
                <a:ea typeface="Times New Roman"/>
                <a:cs typeface="Times New Roman"/>
                <a:sym typeface="Times New Roman"/>
              </a:rPr>
              <a:t>To </a:t>
            </a:r>
            <a:r>
              <a:rPr lang="en-IN" sz="2400" b="0" i="0" u="none" strike="noStrike" cap="none">
                <a:solidFill>
                  <a:schemeClr val="dk1"/>
                </a:solidFill>
                <a:latin typeface="Times New Roman"/>
                <a:ea typeface="Times New Roman"/>
                <a:cs typeface="Times New Roman"/>
                <a:sym typeface="Times New Roman"/>
              </a:rPr>
              <a:t>Automate end-to-end literature review using a multi-agent agentic RAG pipeline. </a:t>
            </a:r>
            <a:endParaRPr/>
          </a:p>
          <a:p>
            <a:pPr marL="368300" marR="0" lvl="0" indent="-342900" algn="just" rtl="0">
              <a:lnSpc>
                <a:spcPct val="100000"/>
              </a:lnSpc>
              <a:spcBef>
                <a:spcPts val="0"/>
              </a:spcBef>
              <a:spcAft>
                <a:spcPts val="0"/>
              </a:spcAft>
              <a:buClr>
                <a:schemeClr val="dk2"/>
              </a:buClr>
              <a:buSzPts val="2800"/>
              <a:buFont typeface="Arial"/>
              <a:buChar char="•"/>
            </a:pPr>
            <a:r>
              <a:rPr lang="en-IN" sz="2400">
                <a:solidFill>
                  <a:schemeClr val="dk1"/>
                </a:solidFill>
                <a:latin typeface="Times New Roman"/>
                <a:ea typeface="Times New Roman"/>
                <a:cs typeface="Times New Roman"/>
                <a:sym typeface="Times New Roman"/>
              </a:rPr>
              <a:t>To </a:t>
            </a:r>
            <a:r>
              <a:rPr lang="en-IN" sz="2400" b="0" i="0" u="none" strike="noStrike" cap="none">
                <a:solidFill>
                  <a:schemeClr val="dk1"/>
                </a:solidFill>
                <a:latin typeface="Times New Roman"/>
                <a:ea typeface="Times New Roman"/>
                <a:cs typeface="Times New Roman"/>
                <a:sym typeface="Times New Roman"/>
              </a:rPr>
              <a:t>Ensure factual grounding and coverage completeness via verification and critique loops and Human-in-the-loop. </a:t>
            </a:r>
            <a:endParaRPr/>
          </a:p>
          <a:p>
            <a:pPr marL="368300" marR="0" lvl="0" indent="-342900" algn="just" rtl="0">
              <a:lnSpc>
                <a:spcPct val="100000"/>
              </a:lnSpc>
              <a:spcBef>
                <a:spcPts val="0"/>
              </a:spcBef>
              <a:spcAft>
                <a:spcPts val="0"/>
              </a:spcAft>
              <a:buClr>
                <a:schemeClr val="dk2"/>
              </a:buClr>
              <a:buSzPts val="2800"/>
              <a:buFont typeface="Arial"/>
              <a:buChar char="•"/>
            </a:pPr>
            <a:r>
              <a:rPr lang="en-IN" sz="2400">
                <a:solidFill>
                  <a:schemeClr val="dk1"/>
                </a:solidFill>
                <a:latin typeface="Times New Roman"/>
                <a:ea typeface="Times New Roman"/>
                <a:cs typeface="Times New Roman"/>
                <a:sym typeface="Times New Roman"/>
              </a:rPr>
              <a:t>To </a:t>
            </a:r>
            <a:r>
              <a:rPr lang="en-IN" sz="2400" b="0" i="0" u="none" strike="noStrike" cap="none">
                <a:solidFill>
                  <a:schemeClr val="dk1"/>
                </a:solidFill>
                <a:latin typeface="Times New Roman"/>
                <a:ea typeface="Times New Roman"/>
                <a:cs typeface="Times New Roman"/>
                <a:sym typeface="Times New Roman"/>
              </a:rPr>
              <a:t>Deliver a usable full-stack application with real-time progress visibility.</a:t>
            </a:r>
            <a:endParaRPr sz="2400" b="1" i="0" u="none" strike="noStrike" cap="none">
              <a:solidFill>
                <a:schemeClr val="dk1"/>
              </a:solidFill>
              <a:latin typeface="Times New Roman"/>
              <a:ea typeface="Times New Roman"/>
              <a:cs typeface="Times New Roman"/>
              <a:sym typeface="Times New Roman"/>
            </a:endParaRPr>
          </a:p>
          <a:p>
            <a:pPr marL="800100" marR="0" lvl="1" indent="-139700" algn="just"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just"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0"/>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IN" sz="3200" b="1" i="0" u="none" strike="noStrike" cap="none">
                <a:solidFill>
                  <a:srgbClr val="000000"/>
                </a:solidFill>
                <a:latin typeface="Times New Roman"/>
                <a:ea typeface="Times New Roman"/>
                <a:cs typeface="Times New Roman"/>
                <a:sym typeface="Times New Roman"/>
              </a:rPr>
              <a:t>Software &amp; Hardware Requirements</a:t>
            </a:r>
            <a:endParaRPr/>
          </a:p>
        </p:txBody>
      </p:sp>
      <p:sp>
        <p:nvSpPr>
          <p:cNvPr id="60" name="Google Shape;60;p10"/>
          <p:cNvSpPr txBox="1"/>
          <p:nvPr/>
        </p:nvSpPr>
        <p:spPr>
          <a:xfrm>
            <a:off x="129398" y="781921"/>
            <a:ext cx="8691239" cy="4247279"/>
          </a:xfrm>
          <a:prstGeom prst="rect">
            <a:avLst/>
          </a:prstGeom>
          <a:noFill/>
          <a:ln>
            <a:noFill/>
          </a:ln>
        </p:spPr>
        <p:txBody>
          <a:bodyPr spcFirstLastPara="1" wrap="square" lIns="91425" tIns="91425" rIns="91425" bIns="91425" anchor="t" anchorCtr="0">
            <a:noAutofit/>
          </a:bodyPr>
          <a:lstStyle/>
          <a:p>
            <a:pPr marL="368300" marR="0" lvl="0" indent="-342900" algn="l"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Minimum Software Requirements</a:t>
            </a:r>
            <a:endParaRPr/>
          </a:p>
          <a:p>
            <a:pPr marL="825500" marR="0" lvl="1" indent="-317500" algn="l"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OS</a:t>
            </a:r>
            <a:r>
              <a:rPr lang="en-IN" sz="2400" b="0" i="0" u="none" strike="noStrike" cap="none">
                <a:solidFill>
                  <a:schemeClr val="dk1"/>
                </a:solidFill>
                <a:latin typeface="Times New Roman"/>
                <a:ea typeface="Times New Roman"/>
                <a:cs typeface="Times New Roman"/>
                <a:sym typeface="Times New Roman"/>
              </a:rPr>
              <a:t>: Windows with Docker</a:t>
            </a:r>
            <a:endParaRPr/>
          </a:p>
          <a:p>
            <a:pPr marL="825500" marR="0" lvl="1" indent="-317500" algn="l"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Languages</a:t>
            </a:r>
            <a:r>
              <a:rPr lang="en-IN" sz="2400" b="0" i="0" u="none" strike="noStrike" cap="none">
                <a:solidFill>
                  <a:schemeClr val="dk1"/>
                </a:solidFill>
                <a:latin typeface="Times New Roman"/>
                <a:ea typeface="Times New Roman"/>
                <a:cs typeface="Times New Roman"/>
                <a:sym typeface="Times New Roman"/>
              </a:rPr>
              <a:t>: Python(3.13+),Node.js(18+)</a:t>
            </a:r>
            <a:endParaRPr/>
          </a:p>
          <a:p>
            <a:pPr marL="825500" marR="0" lvl="1" indent="-317500" algn="l"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Frameworks</a:t>
            </a:r>
            <a:r>
              <a:rPr lang="en-IN" sz="2400" b="0" i="0" u="none" strike="noStrike" cap="none">
                <a:solidFill>
                  <a:schemeClr val="dk1"/>
                </a:solidFill>
                <a:latin typeface="Times New Roman"/>
                <a:ea typeface="Times New Roman"/>
                <a:cs typeface="Times New Roman"/>
                <a:sym typeface="Times New Roman"/>
              </a:rPr>
              <a:t>: FastAPI, Langraph</a:t>
            </a:r>
            <a:endParaRPr sz="2400" b="0" i="0" u="none" strike="noStrike" cap="none">
              <a:solidFill>
                <a:schemeClr val="dk1"/>
              </a:solidFill>
              <a:latin typeface="Times New Roman"/>
              <a:ea typeface="Times New Roman"/>
              <a:cs typeface="Times New Roman"/>
              <a:sym typeface="Times New Roman"/>
            </a:endParaRPr>
          </a:p>
          <a:p>
            <a:pPr marL="825500" marR="0" lvl="1" indent="-317500" algn="l"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APIs: </a:t>
            </a:r>
            <a:r>
              <a:rPr lang="en-IN" sz="2400" b="0" i="0" u="none" strike="noStrike" cap="none">
                <a:solidFill>
                  <a:schemeClr val="dk1"/>
                </a:solidFill>
                <a:latin typeface="Times New Roman"/>
                <a:ea typeface="Times New Roman"/>
                <a:cs typeface="Times New Roman"/>
                <a:sym typeface="Times New Roman"/>
              </a:rPr>
              <a:t>Semantic Scholar, OpenAlex</a:t>
            </a:r>
            <a:endParaRPr sz="2400" b="0" i="0" u="none" strike="noStrike" cap="none">
              <a:solidFill>
                <a:schemeClr val="dk1"/>
              </a:solidFill>
              <a:latin typeface="Times New Roman"/>
              <a:ea typeface="Times New Roman"/>
              <a:cs typeface="Times New Roman"/>
              <a:sym typeface="Times New Roman"/>
            </a:endParaRPr>
          </a:p>
          <a:p>
            <a:pPr marL="368300" marR="0" lvl="0" indent="-342900" algn="l"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Minimum Hardware Requirements</a:t>
            </a:r>
            <a:endParaRPr/>
          </a:p>
          <a:p>
            <a:pPr marL="825500" marR="0" lvl="1" indent="-317500" algn="l"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Processor: </a:t>
            </a:r>
            <a:r>
              <a:rPr lang="en-IN" sz="2400" b="0" i="0" u="none" strike="noStrike" cap="none">
                <a:solidFill>
                  <a:schemeClr val="dk1"/>
                </a:solidFill>
                <a:latin typeface="Times New Roman"/>
                <a:ea typeface="Times New Roman"/>
                <a:cs typeface="Times New Roman"/>
                <a:sym typeface="Times New Roman"/>
              </a:rPr>
              <a:t>Dual core 2.0 GHZ</a:t>
            </a:r>
            <a:endParaRPr/>
          </a:p>
          <a:p>
            <a:pPr marL="825500" marR="0" lvl="1" indent="-317500" algn="l"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GPU: </a:t>
            </a:r>
            <a:r>
              <a:rPr lang="en-IN" sz="2400" b="0" i="0" u="none" strike="noStrike" cap="none">
                <a:solidFill>
                  <a:schemeClr val="dk1"/>
                </a:solidFill>
                <a:latin typeface="Times New Roman"/>
                <a:ea typeface="Times New Roman"/>
                <a:cs typeface="Times New Roman"/>
                <a:sym typeface="Times New Roman"/>
              </a:rPr>
              <a:t>8GB Minimum</a:t>
            </a:r>
            <a:endParaRPr/>
          </a:p>
          <a:p>
            <a:pPr marL="825500" marR="0" lvl="1" indent="-317500" algn="l"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RAM: </a:t>
            </a:r>
            <a:r>
              <a:rPr lang="en-IN" sz="2400" b="0" i="0" u="none" strike="noStrike" cap="none">
                <a:solidFill>
                  <a:schemeClr val="dk1"/>
                </a:solidFill>
                <a:latin typeface="Times New Roman"/>
                <a:ea typeface="Times New Roman"/>
                <a:cs typeface="Times New Roman"/>
                <a:sym typeface="Times New Roman"/>
              </a:rPr>
              <a:t>16GB Minimum</a:t>
            </a:r>
            <a:endParaRPr/>
          </a:p>
          <a:p>
            <a:pPr marL="825500" marR="0" lvl="1" indent="-317500" algn="l"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Stable Internet</a:t>
            </a:r>
            <a:endParaRPr/>
          </a:p>
          <a:p>
            <a:pPr marL="800100" marR="0" lvl="1" indent="-13970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1"/>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IN" sz="3200" b="1" i="0" u="none" strike="noStrike" cap="none">
                <a:solidFill>
                  <a:srgbClr val="000000"/>
                </a:solidFill>
                <a:latin typeface="Times New Roman"/>
                <a:ea typeface="Times New Roman"/>
                <a:cs typeface="Times New Roman"/>
                <a:sym typeface="Times New Roman"/>
              </a:rPr>
              <a:t>Proposed Method: Architecture Diagram</a:t>
            </a:r>
            <a:endParaRPr/>
          </a:p>
        </p:txBody>
      </p:sp>
      <p:sp>
        <p:nvSpPr>
          <p:cNvPr id="66" name="Google Shape;66;p11"/>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368300" marR="0" lvl="0" indent="-16510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p:txBody>
      </p:sp>
      <p:pic>
        <p:nvPicPr>
          <p:cNvPr id="67" name="Google Shape;67;p11"/>
          <p:cNvPicPr preferRelativeResize="0"/>
          <p:nvPr/>
        </p:nvPicPr>
        <p:blipFill rotWithShape="1">
          <a:blip r:embed="rId3">
            <a:alphaModFix/>
          </a:blip>
          <a:srcRect/>
          <a:stretch/>
        </p:blipFill>
        <p:spPr>
          <a:xfrm>
            <a:off x="119375" y="917100"/>
            <a:ext cx="8798250" cy="3457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2"/>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IN" sz="3200" b="1" i="0" u="none" strike="noStrike" cap="none">
                <a:solidFill>
                  <a:srgbClr val="000000"/>
                </a:solidFill>
                <a:latin typeface="Times New Roman"/>
                <a:ea typeface="Times New Roman"/>
                <a:cs typeface="Times New Roman"/>
                <a:sym typeface="Times New Roman"/>
              </a:rPr>
              <a:t>Proposed Method: Architecture Diagram</a:t>
            </a:r>
            <a:endParaRPr/>
          </a:p>
        </p:txBody>
      </p:sp>
      <p:sp>
        <p:nvSpPr>
          <p:cNvPr id="73" name="Google Shape;73;p12"/>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368300" marR="0" lvl="0" indent="-16510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p:txBody>
      </p:sp>
      <p:sp>
        <p:nvSpPr>
          <p:cNvPr id="74" name="Google Shape;74;p12"/>
          <p:cNvSpPr txBox="1"/>
          <p:nvPr/>
        </p:nvSpPr>
        <p:spPr>
          <a:xfrm>
            <a:off x="226380" y="633645"/>
            <a:ext cx="8482615" cy="4028612"/>
          </a:xfrm>
          <a:prstGeom prst="rect">
            <a:avLst/>
          </a:prstGeom>
          <a:noFill/>
          <a:ln>
            <a:noFill/>
          </a:ln>
        </p:spPr>
        <p:txBody>
          <a:bodyPr spcFirstLastPara="1" wrap="square" lIns="91425" tIns="91425" rIns="91425" bIns="91425" anchor="t" anchorCtr="0">
            <a:noAutofit/>
          </a:bodyPr>
          <a:lstStyle/>
          <a:p>
            <a:pPr marL="368300" marR="0" lvl="0" indent="-342900" algn="just"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Input:</a:t>
            </a:r>
            <a:r>
              <a:rPr lang="en-IN" sz="2400" b="0" i="0" u="none" strike="noStrike" cap="none">
                <a:solidFill>
                  <a:schemeClr val="dk1"/>
                </a:solidFill>
                <a:latin typeface="Times New Roman"/>
                <a:ea typeface="Times New Roman"/>
                <a:cs typeface="Times New Roman"/>
                <a:sym typeface="Times New Roman"/>
              </a:rPr>
              <a:t> User submits a research query through the Vue.js frontend, sent via REST to the FastAPI backend. </a:t>
            </a:r>
            <a:endParaRPr/>
          </a:p>
          <a:p>
            <a:pPr marL="368300" marR="0" lvl="0" indent="-342900" algn="just"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Orchestration:</a:t>
            </a:r>
            <a:r>
              <a:rPr lang="en-IN" sz="2400" b="0" i="0" u="none" strike="noStrike" cap="none">
                <a:solidFill>
                  <a:schemeClr val="dk1"/>
                </a:solidFill>
                <a:latin typeface="Times New Roman"/>
                <a:ea typeface="Times New Roman"/>
                <a:cs typeface="Times New Roman"/>
                <a:sym typeface="Times New Roman"/>
              </a:rPr>
              <a:t> FastAPI hands the query to a LangGraph-managed agent pipeline and streams progress back. </a:t>
            </a:r>
            <a:endParaRPr/>
          </a:p>
          <a:p>
            <a:pPr marL="368300" marR="0" lvl="0" indent="-342900" algn="just"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Processing:</a:t>
            </a:r>
            <a:r>
              <a:rPr lang="en-IN" sz="2400" b="0" i="0" u="none" strike="noStrike" cap="none">
                <a:solidFill>
                  <a:schemeClr val="dk1"/>
                </a:solidFill>
                <a:latin typeface="Times New Roman"/>
                <a:ea typeface="Times New Roman"/>
                <a:cs typeface="Times New Roman"/>
                <a:sym typeface="Times New Roman"/>
              </a:rPr>
              <a:t> Six agents run in sequence — Planner scopes the query, Retriever fetches papers (Semantic Scholar/OpenAlex), Extractor chunks and embeds them, Verifier checks grounding, and Critic checks coverage — with Critic looping back to Retriever if gaps are found. </a:t>
            </a:r>
            <a:endParaRPr sz="2400" b="1" i="0" u="none" strike="noStrike" cap="none">
              <a:solidFill>
                <a:schemeClr val="dk1"/>
              </a:solidFill>
              <a:latin typeface="Times New Roman"/>
              <a:ea typeface="Times New Roman"/>
              <a:cs typeface="Times New Roman"/>
              <a:sym typeface="Times New Roman"/>
            </a:endParaRPr>
          </a:p>
          <a:p>
            <a:pPr marL="800100" marR="0" lvl="1" indent="-139700" algn="just"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3"/>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IN" sz="3200" b="1" i="0" u="none" strike="noStrike" cap="none">
                <a:solidFill>
                  <a:srgbClr val="000000"/>
                </a:solidFill>
                <a:latin typeface="Times New Roman"/>
                <a:ea typeface="Times New Roman"/>
                <a:cs typeface="Times New Roman"/>
                <a:sym typeface="Times New Roman"/>
              </a:rPr>
              <a:t>Proposed Method: Architecture Diagram</a:t>
            </a:r>
            <a:endParaRPr/>
          </a:p>
        </p:txBody>
      </p:sp>
      <p:sp>
        <p:nvSpPr>
          <p:cNvPr id="80" name="Google Shape;80;p13"/>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368300" marR="0" lvl="0" indent="-16510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p:txBody>
      </p:sp>
      <p:sp>
        <p:nvSpPr>
          <p:cNvPr id="81" name="Google Shape;81;p13"/>
          <p:cNvSpPr txBox="1"/>
          <p:nvPr/>
        </p:nvSpPr>
        <p:spPr>
          <a:xfrm>
            <a:off x="226380" y="633645"/>
            <a:ext cx="8482615" cy="4028612"/>
          </a:xfrm>
          <a:prstGeom prst="rect">
            <a:avLst/>
          </a:prstGeom>
          <a:noFill/>
          <a:ln>
            <a:noFill/>
          </a:ln>
        </p:spPr>
        <p:txBody>
          <a:bodyPr spcFirstLastPara="1" wrap="square" lIns="91425" tIns="91425" rIns="91425" bIns="91425" anchor="t" anchorCtr="0">
            <a:noAutofit/>
          </a:bodyPr>
          <a:lstStyle/>
          <a:p>
            <a:pPr marL="368300" marR="0" lvl="0" indent="-342900" algn="just"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Storage:</a:t>
            </a:r>
            <a:r>
              <a:rPr lang="en-IN" sz="2400" b="0" i="0" u="none" strike="noStrike" cap="none">
                <a:solidFill>
                  <a:schemeClr val="dk1"/>
                </a:solidFill>
                <a:latin typeface="Times New Roman"/>
                <a:ea typeface="Times New Roman"/>
                <a:cs typeface="Times New Roman"/>
                <a:sym typeface="Times New Roman"/>
              </a:rPr>
              <a:t> PostgreSQL with pgvector persists paper metadata, chunks, and embeddings throughout processing. </a:t>
            </a:r>
            <a:endParaRPr/>
          </a:p>
          <a:p>
            <a:pPr marL="368300" marR="0" lvl="0" indent="-342900" algn="just"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Output:</a:t>
            </a:r>
            <a:r>
              <a:rPr lang="en-IN" sz="2400" b="0" i="0" u="none" strike="noStrike" cap="none">
                <a:solidFill>
                  <a:schemeClr val="dk1"/>
                </a:solidFill>
                <a:latin typeface="Times New Roman"/>
                <a:ea typeface="Times New Roman"/>
                <a:cs typeface="Times New Roman"/>
                <a:sym typeface="Times New Roman"/>
              </a:rPr>
              <a:t> Once approved, the Writer agent synthesizes the final literature review, which is streamed back and displayed in the frontend.</a:t>
            </a:r>
            <a:endParaRPr sz="2400" b="1" i="0" u="none" strike="noStrike" cap="none">
              <a:solidFill>
                <a:schemeClr val="dk1"/>
              </a:solidFill>
              <a:latin typeface="Times New Roman"/>
              <a:ea typeface="Times New Roman"/>
              <a:cs typeface="Times New Roman"/>
              <a:sym typeface="Times New Roman"/>
            </a:endParaRPr>
          </a:p>
          <a:p>
            <a:pPr marL="800100" marR="0" lvl="1" indent="-139700" algn="just"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just"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4"/>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IN" sz="3200" b="1" i="0" u="none" strike="noStrike" cap="none">
                <a:solidFill>
                  <a:srgbClr val="000000"/>
                </a:solidFill>
                <a:latin typeface="Times New Roman"/>
                <a:ea typeface="Times New Roman"/>
                <a:cs typeface="Times New Roman"/>
                <a:sym typeface="Times New Roman"/>
              </a:rPr>
              <a:t>Proposed Method: Module Connectivity Diagram</a:t>
            </a:r>
            <a:endParaRPr/>
          </a:p>
        </p:txBody>
      </p:sp>
      <p:sp>
        <p:nvSpPr>
          <p:cNvPr id="87" name="Google Shape;87;p14"/>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25400" marR="0" lvl="0" indent="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p:txBody>
      </p:sp>
      <p:pic>
        <p:nvPicPr>
          <p:cNvPr id="88" name="Google Shape;88;p14"/>
          <p:cNvPicPr preferRelativeResize="0"/>
          <p:nvPr/>
        </p:nvPicPr>
        <p:blipFill rotWithShape="1">
          <a:blip r:embed="rId3">
            <a:alphaModFix/>
          </a:blip>
          <a:srcRect/>
          <a:stretch/>
        </p:blipFill>
        <p:spPr>
          <a:xfrm>
            <a:off x="1198418" y="633644"/>
            <a:ext cx="6211548" cy="427086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5"/>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IN" sz="3200" b="1" i="0" u="none" strike="noStrike" cap="none">
                <a:solidFill>
                  <a:srgbClr val="000000"/>
                </a:solidFill>
                <a:latin typeface="Times New Roman"/>
                <a:ea typeface="Times New Roman"/>
                <a:cs typeface="Times New Roman"/>
                <a:sym typeface="Times New Roman"/>
              </a:rPr>
              <a:t>Proposed Method: Module Connectivity Diagram</a:t>
            </a:r>
            <a:endParaRPr/>
          </a:p>
        </p:txBody>
      </p:sp>
      <p:sp>
        <p:nvSpPr>
          <p:cNvPr id="94" name="Google Shape;94;p15"/>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25400" marR="0" lvl="0" indent="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p:txBody>
      </p:sp>
      <p:sp>
        <p:nvSpPr>
          <p:cNvPr id="95" name="Google Shape;95;p15"/>
          <p:cNvSpPr txBox="1"/>
          <p:nvPr/>
        </p:nvSpPr>
        <p:spPr>
          <a:xfrm>
            <a:off x="226380" y="633645"/>
            <a:ext cx="8482615" cy="4028612"/>
          </a:xfrm>
          <a:prstGeom prst="rect">
            <a:avLst/>
          </a:prstGeom>
          <a:noFill/>
          <a:ln>
            <a:noFill/>
          </a:ln>
        </p:spPr>
        <p:txBody>
          <a:bodyPr spcFirstLastPara="1" wrap="square" lIns="91425" tIns="91425" rIns="91425" bIns="91425" anchor="t" anchorCtr="0">
            <a:noAutofit/>
          </a:bodyPr>
          <a:lstStyle/>
          <a:p>
            <a:pPr marL="368300" marR="0" lvl="0" indent="-342900" algn="just"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Structure:</a:t>
            </a:r>
            <a:r>
              <a:rPr lang="en-IN" sz="2400" b="0" i="0" u="none" strike="noStrike" cap="none">
                <a:solidFill>
                  <a:schemeClr val="dk1"/>
                </a:solidFill>
                <a:latin typeface="Times New Roman"/>
                <a:ea typeface="Times New Roman"/>
                <a:cs typeface="Times New Roman"/>
                <a:sym typeface="Times New Roman"/>
              </a:rPr>
              <a:t> A Main Controller sits at the top and delegates to three branches — input, processing, and output — with strict one-parent-per-module calling, forming a clean tree. </a:t>
            </a:r>
            <a:endParaRPr/>
          </a:p>
          <a:p>
            <a:pPr marL="368300" marR="0" lvl="0" indent="-342900" algn="just"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Input branch:</a:t>
            </a:r>
            <a:r>
              <a:rPr lang="en-IN" sz="2400" b="0" i="0" u="none" strike="noStrike" cap="none">
                <a:solidFill>
                  <a:schemeClr val="dk1"/>
                </a:solidFill>
                <a:latin typeface="Times New Roman"/>
                <a:ea typeface="Times New Roman"/>
                <a:cs typeface="Times New Roman"/>
                <a:sym typeface="Times New Roman"/>
              </a:rPr>
              <a:t> Get Query and Validate Query modules capture and clean the user's request before handing validated data back up to Main. </a:t>
            </a:r>
            <a:endParaRPr/>
          </a:p>
          <a:p>
            <a:pPr marL="368300" marR="0" lvl="0" indent="-342900" algn="just"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Processing branch:</a:t>
            </a:r>
            <a:r>
              <a:rPr lang="en-IN" sz="2400" b="0" i="0" u="none" strike="noStrike" cap="none">
                <a:solidFill>
                  <a:schemeClr val="dk1"/>
                </a:solidFill>
                <a:latin typeface="Times New Roman"/>
                <a:ea typeface="Times New Roman"/>
                <a:cs typeface="Times New Roman"/>
                <a:sym typeface="Times New Roman"/>
              </a:rPr>
              <a:t> Process Review Controller invokes Planner, Retriever, Extractor, Verifier, Critic, and Writer in sequence, each passing data couples (papers, chunks, claims) to the next stage. </a:t>
            </a:r>
            <a:endParaRPr sz="2400" b="1" i="0" u="none" strike="noStrike" cap="none">
              <a:solidFill>
                <a:schemeClr val="dk1"/>
              </a:solidFill>
              <a:latin typeface="Times New Roman"/>
              <a:ea typeface="Times New Roman"/>
              <a:cs typeface="Times New Roman"/>
              <a:sym typeface="Times New Roman"/>
            </a:endParaRPr>
          </a:p>
          <a:p>
            <a:pPr marL="800100" marR="0" lvl="1" indent="-139700" algn="just"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just"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6"/>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IN" sz="3200" b="1" i="0" u="none" strike="noStrike" cap="none">
                <a:solidFill>
                  <a:srgbClr val="000000"/>
                </a:solidFill>
                <a:latin typeface="Times New Roman"/>
                <a:ea typeface="Times New Roman"/>
                <a:cs typeface="Times New Roman"/>
                <a:sym typeface="Times New Roman"/>
              </a:rPr>
              <a:t>Proposed Method: Module Connectivity Diagram</a:t>
            </a:r>
            <a:endParaRPr/>
          </a:p>
        </p:txBody>
      </p:sp>
      <p:sp>
        <p:nvSpPr>
          <p:cNvPr id="101" name="Google Shape;101;p16"/>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25400" marR="0" lvl="0" indent="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l"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p:txBody>
      </p:sp>
      <p:sp>
        <p:nvSpPr>
          <p:cNvPr id="102" name="Google Shape;102;p16"/>
          <p:cNvSpPr txBox="1"/>
          <p:nvPr/>
        </p:nvSpPr>
        <p:spPr>
          <a:xfrm>
            <a:off x="226380" y="633645"/>
            <a:ext cx="8482615" cy="4028612"/>
          </a:xfrm>
          <a:prstGeom prst="rect">
            <a:avLst/>
          </a:prstGeom>
          <a:noFill/>
          <a:ln>
            <a:noFill/>
          </a:ln>
        </p:spPr>
        <p:txBody>
          <a:bodyPr spcFirstLastPara="1" wrap="square" lIns="91425" tIns="91425" rIns="91425" bIns="91425" anchor="t" anchorCtr="0">
            <a:noAutofit/>
          </a:bodyPr>
          <a:lstStyle/>
          <a:p>
            <a:pPr marL="368300" marR="0" lvl="0" indent="-342900" algn="just"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Coupling:</a:t>
            </a:r>
            <a:r>
              <a:rPr lang="en-IN" sz="2400" b="0" i="0" u="none" strike="noStrike" cap="none">
                <a:solidFill>
                  <a:schemeClr val="dk1"/>
                </a:solidFill>
                <a:latin typeface="Times New Roman"/>
                <a:ea typeface="Times New Roman"/>
                <a:cs typeface="Times New Roman"/>
                <a:sym typeface="Times New Roman"/>
              </a:rPr>
              <a:t> Data couples (○) carry actual information between modules, while control couples (●) carry signals like "invoke" or "gap-found”. </a:t>
            </a:r>
            <a:endParaRPr/>
          </a:p>
          <a:p>
            <a:pPr marL="368300" marR="0" lvl="0" indent="-342900" algn="just" rtl="0">
              <a:lnSpc>
                <a:spcPct val="100000"/>
              </a:lnSpc>
              <a:spcBef>
                <a:spcPts val="0"/>
              </a:spcBef>
              <a:spcAft>
                <a:spcPts val="0"/>
              </a:spcAft>
              <a:buClr>
                <a:schemeClr val="dk2"/>
              </a:buClr>
              <a:buSzPts val="2800"/>
              <a:buFont typeface="Arial"/>
              <a:buChar char="•"/>
            </a:pPr>
            <a:r>
              <a:rPr lang="en-IN" sz="2400" b="1" i="0" u="none" strike="noStrike" cap="none">
                <a:solidFill>
                  <a:schemeClr val="dk1"/>
                </a:solidFill>
                <a:latin typeface="Times New Roman"/>
                <a:ea typeface="Times New Roman"/>
                <a:cs typeface="Times New Roman"/>
                <a:sym typeface="Times New Roman"/>
              </a:rPr>
              <a:t>Output branch:</a:t>
            </a:r>
            <a:r>
              <a:rPr lang="en-IN" sz="2400" b="0" i="0" u="none" strike="noStrike" cap="none">
                <a:solidFill>
                  <a:schemeClr val="dk1"/>
                </a:solidFill>
                <a:latin typeface="Times New Roman"/>
                <a:ea typeface="Times New Roman"/>
                <a:cs typeface="Times New Roman"/>
                <a:sym typeface="Times New Roman"/>
              </a:rPr>
              <a:t> Format Review and Display Review modules take the finished review text from Main and present it, completing the flow with an acknowledgment signal back up.</a:t>
            </a:r>
            <a:endParaRPr/>
          </a:p>
          <a:p>
            <a:pPr marL="368300" marR="0" lvl="0" indent="-165100" algn="just"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just"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a:p>
            <a:pPr marL="800100" marR="0" lvl="1" indent="-139700" algn="just" rtl="0">
              <a:lnSpc>
                <a:spcPct val="100000"/>
              </a:lnSpc>
              <a:spcBef>
                <a:spcPts val="0"/>
              </a:spcBef>
              <a:spcAft>
                <a:spcPts val="0"/>
              </a:spcAft>
              <a:buClr>
                <a:schemeClr val="dk2"/>
              </a:buClr>
              <a:buSzPts val="2800"/>
              <a:buFont typeface="Arial"/>
              <a:buNone/>
            </a:pPr>
            <a:endParaRPr sz="2400" b="1"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7"/>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None/>
            </a:pPr>
            <a:r>
              <a:rPr lang="en-IN" sz="3200" b="1" i="0" u="none" strike="noStrike" cap="none">
                <a:solidFill>
                  <a:srgbClr val="000000"/>
                </a:solidFill>
                <a:latin typeface="Times New Roman"/>
                <a:ea typeface="Times New Roman"/>
                <a:cs typeface="Times New Roman"/>
                <a:sym typeface="Times New Roman"/>
              </a:rPr>
              <a:t>References</a:t>
            </a:r>
            <a:endParaRPr/>
          </a:p>
        </p:txBody>
      </p:sp>
      <p:sp>
        <p:nvSpPr>
          <p:cNvPr id="108" name="Google Shape;108;p17"/>
          <p:cNvSpPr txBox="1"/>
          <p:nvPr/>
        </p:nvSpPr>
        <p:spPr>
          <a:xfrm>
            <a:off x="140951" y="438145"/>
            <a:ext cx="8470232" cy="5080493"/>
          </a:xfrm>
          <a:prstGeom prst="rect">
            <a:avLst/>
          </a:prstGeom>
          <a:noFill/>
          <a:ln>
            <a:noFill/>
          </a:ln>
        </p:spPr>
        <p:txBody>
          <a:bodyPr spcFirstLastPara="1" wrap="square" lIns="91425" tIns="45700" rIns="91425" bIns="45700" anchor="t" anchorCtr="0">
            <a:spAutoFit/>
          </a:bodyPr>
          <a:lstStyle/>
          <a:p>
            <a:pPr marL="641350" marR="0" lvl="0" indent="-28575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 M. Shao, A. Basit, R. Karri, and M. Shafique, "Survey of Different Large Language Model Architectures: Trends, Benchmarks, and Challenges," IEEE Access, vol. 12, 2024, doi: 10.1109/ACCESS.2024.3482107.</a:t>
            </a:r>
            <a:endParaRPr/>
          </a:p>
          <a:p>
            <a:pPr marL="641350" marR="0" lvl="0" indent="-28575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S. Li, Y. Yu, H. Yang, Y. Zhou and C. Ji, "HIM-RAG: A Heuristic Framework for Iterative Multi-Source Retrieval-Augmented Generation," 2025 International Joint Conference on Neural Networks (IJCNN), Rome, Italy, 2025, pp. 1-8, doi: 10.1109/IJCNN64981.2025.11229295.</a:t>
            </a:r>
            <a:endParaRPr/>
          </a:p>
          <a:p>
            <a:pPr marL="641350" marR="0" lvl="0" indent="-28575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S. Pan, L. Luo, Y. Wang, C. Chen, J. Wang, and X. Wu, "Unifying Large Language Models and Knowledge Graphs: A Roadmap," IEEE Trans. Knowl. Data Eng., vol. 36, no. 7, pp. 3580–3599, 2024, doi: 10.1109/TKDE.2024.3352100.</a:t>
            </a:r>
            <a:endParaRPr/>
          </a:p>
          <a:p>
            <a:pPr marL="641350" marR="0" lvl="0" indent="-28575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N. Nascimento, P. Alencar and D. Cowan, "Self-Adaptive Large Language Model (LLM)-Based Multiagent Systems," 2023 IEEE International Conference on Autonomic Computing and Self-Organizing Systems Companion (ACSOS-C), Toronto, ON, Canada, 2023, pp. 104-109, doi: 10.1109/ACSOS-C58168.2023.00048.</a:t>
            </a:r>
            <a:endParaRPr/>
          </a:p>
          <a:p>
            <a:pPr marL="641350" marR="0" lvl="0" indent="-28575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 S. Bag, A. Gupta, R. Kaushik and C. Jain, "RAG Beyond Text: Enhancing Image Retrieval in RAG Systems," 2024 International Conference on Electrical, Computer and Energy Technologies (ICECET, Sydney, Australia, 2024, pp. 1-6, doi: 10.1109/ICECET61485.2024.10698598.</a:t>
            </a:r>
            <a:endParaRPr/>
          </a:p>
          <a:p>
            <a:pPr marL="355600" marR="0" lvl="0" indent="0" algn="just" rtl="0">
              <a:lnSpc>
                <a:spcPct val="107000"/>
              </a:lnSpc>
              <a:spcBef>
                <a:spcPts val="0"/>
              </a:spcBef>
              <a:spcAft>
                <a:spcPts val="0"/>
              </a:spcAft>
              <a:buNone/>
            </a:pPr>
            <a:endParaRPr sz="16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8"/>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None/>
            </a:pPr>
            <a:r>
              <a:rPr lang="en-IN" sz="3200" b="1" i="0" u="none" strike="noStrike" cap="none">
                <a:solidFill>
                  <a:srgbClr val="000000"/>
                </a:solidFill>
                <a:latin typeface="Times New Roman"/>
                <a:ea typeface="Times New Roman"/>
                <a:cs typeface="Times New Roman"/>
                <a:sym typeface="Times New Roman"/>
              </a:rPr>
              <a:t>References</a:t>
            </a:r>
            <a:endParaRPr/>
          </a:p>
        </p:txBody>
      </p:sp>
      <p:sp>
        <p:nvSpPr>
          <p:cNvPr id="114" name="Google Shape;114;p18"/>
          <p:cNvSpPr txBox="1"/>
          <p:nvPr/>
        </p:nvSpPr>
        <p:spPr>
          <a:xfrm>
            <a:off x="203297" y="528485"/>
            <a:ext cx="8470232" cy="4290085"/>
          </a:xfrm>
          <a:prstGeom prst="rect">
            <a:avLst/>
          </a:prstGeom>
          <a:noFill/>
          <a:ln>
            <a:noFill/>
          </a:ln>
        </p:spPr>
        <p:txBody>
          <a:bodyPr spcFirstLastPara="1" wrap="square" lIns="91425" tIns="45700" rIns="91425" bIns="45700" anchor="t" anchorCtr="0">
            <a:spAutoFit/>
          </a:bodyPr>
          <a:lstStyle/>
          <a:p>
            <a:pPr marL="698500" marR="0" lvl="0" indent="-34290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Singh, A. Ehtesham, S. Mahmud and J. -H. Kim, "Revolutionizing Mental Health Care through LangChain: A Journey with a Large Language Model," 2024 IEEE 14th Annual Computing and Communication Workshop and Conference (CCWC), Las Vegas, NV, USA, 2024, pp. 0073-0078, doi: 10.1109/CCWC60891.2024.10427865.</a:t>
            </a:r>
            <a:endParaRPr/>
          </a:p>
          <a:p>
            <a:pPr marL="698500" marR="0" lvl="0" indent="-34290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K. R. Felizardo, S. R. S. Souza, and J. C. Maldonado, "The Use of Visual Text Mining to Support the Study Selection Activity in Systematic Literature Reviews: A Replication Study," in Proc. 2013 3rd Int. Workshop Replication in Empirical Software Engineering Research (RESER), 2013, doi: 10.1109/RESER.2013.9.</a:t>
            </a:r>
            <a:endParaRPr/>
          </a:p>
          <a:p>
            <a:pPr marL="698500" marR="0" lvl="0" indent="-34290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T. Sakurai, S. Shiramatsu and R. Kinoshita, "LLM-based Agent for Recommending Information Related to Web Discussions at Appropriate Timing," 2024 IEEE International Conference on Agents (ICA), Wollongong, Australia, 2024, pp. 120-123, doi: 10.1109/ICA63002.2024.00033.</a:t>
            </a:r>
            <a:endParaRPr/>
          </a:p>
          <a:p>
            <a:pPr marL="698500" marR="0" lvl="0" indent="-34290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E. A. Calvillo, A. Padilla, J. Muñoz, J. Ponce and J. T. Fernandez, "Searching research papers using clustering and text mining," CONIELECOMP 2013, 23rd International Conference on Electronics, Communications and Computing, Cholula, Puebla, Mexico, 2013, pp. 78-81, doi: 10.1109/CONIELECOMP.2013.6525763.</a:t>
            </a:r>
            <a:endParaRPr sz="16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9"/>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None/>
            </a:pPr>
            <a:r>
              <a:rPr lang="en-IN" sz="3200" b="1" i="0" u="none" strike="noStrike" cap="none">
                <a:solidFill>
                  <a:srgbClr val="000000"/>
                </a:solidFill>
                <a:latin typeface="Times New Roman"/>
                <a:ea typeface="Times New Roman"/>
                <a:cs typeface="Times New Roman"/>
                <a:sym typeface="Times New Roman"/>
              </a:rPr>
              <a:t>References</a:t>
            </a:r>
            <a:endParaRPr/>
          </a:p>
        </p:txBody>
      </p:sp>
      <p:sp>
        <p:nvSpPr>
          <p:cNvPr id="120" name="Google Shape;120;p19"/>
          <p:cNvSpPr txBox="1"/>
          <p:nvPr/>
        </p:nvSpPr>
        <p:spPr>
          <a:xfrm>
            <a:off x="127097" y="558442"/>
            <a:ext cx="8470232" cy="4026615"/>
          </a:xfrm>
          <a:prstGeom prst="rect">
            <a:avLst/>
          </a:prstGeom>
          <a:noFill/>
          <a:ln>
            <a:noFill/>
          </a:ln>
        </p:spPr>
        <p:txBody>
          <a:bodyPr spcFirstLastPara="1" wrap="square" lIns="91425" tIns="45700" rIns="91425" bIns="45700" anchor="t" anchorCtr="0">
            <a:spAutoFit/>
          </a:bodyPr>
          <a:lstStyle/>
          <a:p>
            <a:pPr marL="641350" marR="0" lvl="0" indent="-28575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Y. Wei, W. Li, and J. Han, "DKF-RAG: Dynamic Knowledge Fusion-Enhanced Retrieval-Augmented Generation," in Proc. 2025 IEEE Int. Conf. Systems, Man, and Cybernetics (SMC), 2025, pp. 2338–2343, doi: 10.1109/SMC58881.2025.11343223.</a:t>
            </a:r>
            <a:endParaRPr/>
          </a:p>
          <a:p>
            <a:pPr marL="641350" marR="0" lvl="0" indent="-28575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R. Van Dinter, B. Tekinerdogan, and C. Catal, "Automation of Systematic Literature Reviews: A Systematic Literature Review," Inf. Softw. Technol., vol. 136, p. 106589, 2021. DOI: 10.1016/j.infsof.2021.106589</a:t>
            </a:r>
            <a:endParaRPr/>
          </a:p>
          <a:p>
            <a:pPr marL="641350" marR="0" lvl="0" indent="-28575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Salemi, M. Maddipatla, and H. Zamani, "CIIR@LiveRAG 2025: Optimizing Multi-Agent Retrieval-Augmented Generation through Self-Training," in Proc. SIGIR 2025 LiveRAG Workshop / arXiv:2506.10844.</a:t>
            </a:r>
            <a:endParaRPr/>
          </a:p>
          <a:p>
            <a:pPr marL="641350" marR="0" lvl="0" indent="-28575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Y. Du, S. Li, A. Torralba, J. B. Tenenbaum, and I. Mordatch, "Improving Factuality and Reasoning in Language Models through Multiagent Debate," in Proc. ICML 2024, pp. 11733–11763, DOI: doi/10.5555/3692070.3692537</a:t>
            </a:r>
            <a:endParaRPr/>
          </a:p>
          <a:p>
            <a:pPr marL="641350" marR="0" lvl="0" indent="-28575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N. Shinn, F. Cassano, A. Gopinath, K. Narasimhan, and S. Yao, "Reflexion: Language Agents with Verbal Reinforcement Learning," in Proc. NeurIPS 2023, DOI: doi/10.5555/3666122.3666499</a:t>
            </a:r>
            <a:endParaRPr sz="16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0"/>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None/>
            </a:pPr>
            <a:r>
              <a:rPr lang="en-IN" sz="3200" b="1" i="0" u="none" strike="noStrike" cap="none">
                <a:solidFill>
                  <a:srgbClr val="000000"/>
                </a:solidFill>
                <a:latin typeface="Times New Roman"/>
                <a:ea typeface="Times New Roman"/>
                <a:cs typeface="Times New Roman"/>
                <a:sym typeface="Times New Roman"/>
              </a:rPr>
              <a:t>References</a:t>
            </a:r>
            <a:endParaRPr/>
          </a:p>
        </p:txBody>
      </p:sp>
      <p:sp>
        <p:nvSpPr>
          <p:cNvPr id="126" name="Google Shape;126;p20"/>
          <p:cNvSpPr txBox="1"/>
          <p:nvPr/>
        </p:nvSpPr>
        <p:spPr>
          <a:xfrm>
            <a:off x="154806" y="625468"/>
            <a:ext cx="8470200" cy="3764400"/>
          </a:xfrm>
          <a:prstGeom prst="rect">
            <a:avLst/>
          </a:prstGeom>
          <a:noFill/>
          <a:ln>
            <a:noFill/>
          </a:ln>
        </p:spPr>
        <p:txBody>
          <a:bodyPr spcFirstLastPara="1" wrap="square" lIns="91425" tIns="45700" rIns="91425" bIns="45700" anchor="t" anchorCtr="0">
            <a:spAutoFit/>
          </a:bodyPr>
          <a:lstStyle/>
          <a:p>
            <a:pPr marL="641350" marR="0" lvl="0" indent="-28575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Y. Du, S. Li, A. Torralba, J. B. Tenenbaum, and I. Mordatch, "Improving Factuality and Reasoning in Language Models through Multiagent Debate," in Proc. ICML 2024, pp. 11733–11763. DOI:10.5555/3692070.3692537</a:t>
            </a:r>
            <a:endParaRPr/>
          </a:p>
          <a:p>
            <a:pPr marL="641350" marR="0" lvl="0" indent="-28575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A. Asai, Z. Wu, Y. Wang, A. Sil, and H. Hajishirzi, "Self-RAG: Learning to Retrieve, Generate, and Critique through Self-Reflection," in Proc. ICLR 2024. DOI: 10.48550/arXiv.2310.11511</a:t>
            </a:r>
            <a:endParaRPr/>
          </a:p>
          <a:p>
            <a:pPr marL="641350" marR="0" lvl="0" indent="-285750" algn="just" rtl="0">
              <a:lnSpc>
                <a:spcPct val="107000"/>
              </a:lnSpc>
              <a:spcBef>
                <a:spcPts val="0"/>
              </a:spcBef>
              <a:spcAft>
                <a:spcPts val="0"/>
              </a:spcAft>
              <a:buClr>
                <a:srgbClr val="000000"/>
              </a:buClr>
              <a:buSzPts val="1600"/>
              <a:buFont typeface="Arial"/>
              <a:buChar char="•"/>
            </a:pPr>
            <a:r>
              <a:rPr lang="en-IN" sz="1600" b="0" i="0" u="none" strike="noStrike" cap="none">
                <a:solidFill>
                  <a:srgbClr val="000000"/>
                </a:solidFill>
                <a:latin typeface="Times New Roman"/>
                <a:ea typeface="Times New Roman"/>
                <a:cs typeface="Times New Roman"/>
                <a:sym typeface="Times New Roman"/>
              </a:rPr>
              <a:t>Soyeong Jeong, Jinheon Baek, Sukmin Cho, Sung Ju Hwang, and Jong Park. 2024. ”Adaptive-RAG: Learning to Adapt Retrieval-Augmented Large Language Models through Question Complexity”. In Proceedings of the 2024 Conference of the North American Chapter of the Association for Computational Linguistics: Human Language Technologies (Volume 1: Long Papers), pages 7036–7050, </a:t>
            </a:r>
            <a:r>
              <a:rPr lang="en-IN" sz="1600" b="0" i="0" u="sng" strike="noStrike" cap="none">
                <a:solidFill>
                  <a:schemeClr val="hlink"/>
                </a:solidFill>
                <a:latin typeface="Times New Roman"/>
                <a:ea typeface="Times New Roman"/>
                <a:cs typeface="Times New Roman"/>
                <a:sym typeface="Times New Roman"/>
                <a:hlinkClick r:id="rId3"/>
              </a:rPr>
              <a:t>DOI:10.18653/v1/2024.naacl-long.389.</a:t>
            </a:r>
            <a:endParaRPr/>
          </a:p>
          <a:p>
            <a:pPr marL="641350" marR="0" lvl="0" indent="-184150" algn="just" rtl="0">
              <a:lnSpc>
                <a:spcPct val="107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641350" marR="0" lvl="0" indent="-184150" algn="just" rtl="0">
              <a:lnSpc>
                <a:spcPct val="107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1866</Words>
  <Application>Microsoft Office PowerPoint</Application>
  <PresentationFormat>On-screen Show (16:9)</PresentationFormat>
  <Paragraphs>85</Paragraphs>
  <Slides>17</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Palla Sree Karan Reddy</cp:lastModifiedBy>
  <cp:revision>1</cp:revision>
  <dcterms:modified xsi:type="dcterms:W3CDTF">2026-08-09T12:21:47Z</dcterms:modified>
</cp:coreProperties>
</file>