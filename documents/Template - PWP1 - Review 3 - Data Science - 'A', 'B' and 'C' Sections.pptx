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65" r:id="rId4"/>
    <p:sldId id="271" r:id="rId5"/>
    <p:sldId id="262" r:id="rId6"/>
    <p:sldId id="285" r:id="rId7"/>
    <p:sldId id="272" r:id="rId8"/>
    <p:sldId id="288" r:id="rId9"/>
    <p:sldId id="275" r:id="rId10"/>
    <p:sldId id="284" r:id="rId11"/>
    <p:sldId id="286" r:id="rId12"/>
    <p:sldId id="287" r:id="rId13"/>
    <p:sldId id="274" r:id="rId14"/>
    <p:sldId id="258" r:id="rId15"/>
    <p:sldId id="261" r:id="rId16"/>
    <p:sldId id="277" r:id="rId17"/>
    <p:sldId id="260" r:id="rId18"/>
    <p:sldId id="278" r:id="rId19"/>
    <p:sldId id="279" r:id="rId20"/>
    <p:sldId id="280" r:id="rId21"/>
    <p:sldId id="281" r:id="rId22"/>
    <p:sldId id="282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83" r:id="rId31"/>
    <p:sldId id="264" r:id="rId32"/>
    <p:sldId id="269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16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15625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" name="Google Shape;17;p4">
            <a:extLst>
              <a:ext uri="{FF2B5EF4-FFF2-40B4-BE49-F238E27FC236}">
                <a16:creationId xmlns:a16="http://schemas.microsoft.com/office/drawing/2014/main" id="{5BB4826D-B415-48FE-A973-A44EDAD80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5" name="Google Shape;18;p4">
            <a:extLst>
              <a:ext uri="{FF2B5EF4-FFF2-40B4-BE49-F238E27FC236}">
                <a16:creationId xmlns:a16="http://schemas.microsoft.com/office/drawing/2014/main" id="{48C3AF3A-D4D2-4FBC-B2BF-AD61BA6907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633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6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1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0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ofbigdata.springeropen.com/articles/10.1186/s40537-019-0268-2" TargetMode="External"/><Relationship Id="rId2" Type="http://schemas.openxmlformats.org/officeDocument/2006/relationships/hyperlink" Target="https://doi.org/10.1186/s40537-019-0268-2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9697CB-D75E-F103-C1BA-93602F1652C9}"/>
              </a:ext>
            </a:extLst>
          </p:cNvPr>
          <p:cNvSpPr txBox="1"/>
          <p:nvPr/>
        </p:nvSpPr>
        <p:spPr>
          <a:xfrm>
            <a:off x="0" y="2893337"/>
            <a:ext cx="9144000" cy="35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algn="ctr">
              <a:lnSpc>
                <a:spcPts val="1718"/>
              </a:lnSpc>
              <a:spcBef>
                <a:spcPts val="94"/>
              </a:spcBef>
              <a:tabLst>
                <a:tab pos="243840" algn="l"/>
              </a:tabLst>
            </a:pPr>
            <a:r>
              <a:rPr lang="en-IN" sz="28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54;p13">
            <a:extLst>
              <a:ext uri="{FF2B5EF4-FFF2-40B4-BE49-F238E27FC236}">
                <a16:creationId xmlns:a16="http://schemas.microsoft.com/office/drawing/2014/main" id="{652DF3DB-964A-4088-9C3A-BE361E14687A}"/>
              </a:ext>
            </a:extLst>
          </p:cNvPr>
          <p:cNvSpPr txBox="1">
            <a:spLocks/>
          </p:cNvSpPr>
          <p:nvPr/>
        </p:nvSpPr>
        <p:spPr>
          <a:xfrm>
            <a:off x="212138" y="168081"/>
            <a:ext cx="8719725" cy="1546493"/>
          </a:xfrm>
          <a:prstGeom prst="rect">
            <a:avLst/>
          </a:prstGeom>
        </p:spPr>
        <p:txBody>
          <a:bodyPr spcFirstLastPara="1" wrap="square" lIns="68569" tIns="68569" rIns="68569" bIns="68569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Gokaraju Rangaraju Institute of Engineering and Technology </a:t>
            </a:r>
            <a:b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/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Untitled-1 copy">
            <a:extLst>
              <a:ext uri="{FF2B5EF4-FFF2-40B4-BE49-F238E27FC236}">
                <a16:creationId xmlns:a16="http://schemas.microsoft.com/office/drawing/2014/main" id="{EA3F0D3D-023C-4B78-9564-CB1FD4CE5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562" t="23018" r="26994" b="21857"/>
          <a:stretch>
            <a:fillRect/>
          </a:stretch>
        </p:blipFill>
        <p:spPr>
          <a:xfrm>
            <a:off x="342900" y="850976"/>
            <a:ext cx="1028700" cy="95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5DF003-3760-41CE-961C-5D0F883C6EBA}"/>
              </a:ext>
            </a:extLst>
          </p:cNvPr>
          <p:cNvSpPr txBox="1"/>
          <p:nvPr/>
        </p:nvSpPr>
        <p:spPr>
          <a:xfrm>
            <a:off x="117350" y="2322989"/>
            <a:ext cx="8931863" cy="32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>
              <a:lnSpc>
                <a:spcPts val="1718"/>
              </a:lnSpc>
              <a:spcBef>
                <a:spcPts val="94"/>
              </a:spcBef>
              <a:tabLst>
                <a:tab pos="243840" algn="l"/>
              </a:tabLst>
            </a:pPr>
            <a:r>
              <a:rPr lang="en-US" sz="20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Year B. Tech., I Semester CSE (Data Science)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ED1215-5047-4983-BC3A-573B32CE3666}"/>
              </a:ext>
            </a:extLst>
          </p:cNvPr>
          <p:cNvSpPr txBox="1"/>
          <p:nvPr/>
        </p:nvSpPr>
        <p:spPr>
          <a:xfrm>
            <a:off x="4634753" y="1714575"/>
            <a:ext cx="4389076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algn="r">
              <a:lnSpc>
                <a:spcPts val="2520"/>
              </a:lnSpc>
              <a:spcBef>
                <a:spcPts val="94"/>
              </a:spcBef>
              <a:tabLst>
                <a:tab pos="243840" algn="l"/>
              </a:tabLst>
            </a:pPr>
            <a:r>
              <a:rPr lang="en-US" sz="21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en-IN" sz="21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No.: DSA</a:t>
            </a:r>
            <a:r>
              <a:rPr lang="en-IN" sz="2100" b="1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/ </a:t>
            </a:r>
            <a:r>
              <a:rPr lang="en-IN" sz="2100" b="1" spc="-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DSB</a:t>
            </a:r>
            <a:r>
              <a:rPr lang="en-IN" sz="2100" b="1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/ </a:t>
            </a:r>
            <a:r>
              <a:rPr lang="en-IN" sz="2100" b="1" spc="-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DSC</a:t>
            </a:r>
            <a:r>
              <a:rPr lang="en-IN" sz="2100" b="1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marL="9525" algn="r">
              <a:lnSpc>
                <a:spcPts val="2520"/>
              </a:lnSpc>
              <a:spcBef>
                <a:spcPts val="94"/>
              </a:spcBef>
              <a:tabLst>
                <a:tab pos="243840" algn="l"/>
              </a:tabLst>
            </a:pPr>
            <a:r>
              <a:rPr lang="en-IN" sz="2100" b="1" spc="-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No.: </a:t>
            </a:r>
            <a:r>
              <a:rPr lang="en-IN" sz="2100" b="1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IN" sz="2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55;p13">
            <a:extLst>
              <a:ext uri="{FF2B5EF4-FFF2-40B4-BE49-F238E27FC236}">
                <a16:creationId xmlns:a16="http://schemas.microsoft.com/office/drawing/2014/main" id="{1DECDF27-7ED1-467D-A41F-6792CA7BF509}"/>
              </a:ext>
            </a:extLst>
          </p:cNvPr>
          <p:cNvSpPr txBox="1">
            <a:spLocks/>
          </p:cNvSpPr>
          <p:nvPr/>
        </p:nvSpPr>
        <p:spPr>
          <a:xfrm>
            <a:off x="4446493" y="3543789"/>
            <a:ext cx="4149846" cy="14974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l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Example1 (21241A67XX)</a:t>
            </a:r>
          </a:p>
          <a:p>
            <a:pPr marL="0" indent="0" algn="l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</a:p>
          <a:p>
            <a:pPr marL="0" indent="0" algn="l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</a:p>
          <a:p>
            <a:pPr marL="0" indent="0" algn="l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14" name="Google Shape;55;p13">
            <a:extLst>
              <a:ext uri="{FF2B5EF4-FFF2-40B4-BE49-F238E27FC236}">
                <a16:creationId xmlns:a16="http://schemas.microsoft.com/office/drawing/2014/main" id="{11F11295-A8BE-4855-A852-3B260F26DA77}"/>
              </a:ext>
            </a:extLst>
          </p:cNvPr>
          <p:cNvSpPr txBox="1">
            <a:spLocks/>
          </p:cNvSpPr>
          <p:nvPr/>
        </p:nvSpPr>
        <p:spPr>
          <a:xfrm>
            <a:off x="726720" y="3561719"/>
            <a:ext cx="3480975" cy="115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marL="0" indent="0" algn="l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/ Mr. / Ms. 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</a:p>
          <a:p>
            <a:pPr marL="0" indent="0" algn="l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</a:p>
          <a:p>
            <a:pPr marL="0" indent="0" algn="l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Type and Size</a:t>
            </a: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80701272-4B26-EDC3-CDFE-3108EE6E8E21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 Type and Size Details: 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(HEADING)</a:t>
            </a:r>
          </a:p>
          <a:p>
            <a:pPr marL="342900" algn="l">
              <a:buFontTx/>
              <a:buChar char="-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</a:p>
          <a:p>
            <a:pPr marL="342900" algn="l">
              <a:buFontTx/>
              <a:buChar char="-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Size: 32 - 36</a:t>
            </a:r>
          </a:p>
          <a:p>
            <a:pPr marL="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 Type and Size Details: 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(Normal TEXT in the SLIDES)</a:t>
            </a:r>
          </a:p>
          <a:p>
            <a:pPr marL="342900" algn="l">
              <a:buFontTx/>
              <a:buChar char="-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</a:p>
          <a:p>
            <a:pPr marL="342900" algn="l">
              <a:buFontTx/>
              <a:buChar char="-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Size: 24 - 28</a:t>
            </a:r>
          </a:p>
        </p:txBody>
      </p:sp>
    </p:spTree>
    <p:extLst>
      <p:ext uri="{BB962C8B-B14F-4D97-AF65-F5344CB8AC3E}">
        <p14:creationId xmlns:p14="http://schemas.microsoft.com/office/powerpoint/2010/main" val="191579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80701272-4B26-EDC3-CDFE-3108EE6E8E21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l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content goes here..</a:t>
            </a: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725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2C0EBA9F-B61A-4374-8542-F384C1FC2267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content goes here..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of 4 to 6 points – representing your topic in a precise manner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41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(Literature Survey)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EA85CC-5C78-4F14-92F4-463B844E7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69310"/>
              </p:ext>
            </p:extLst>
          </p:nvPr>
        </p:nvGraphicFramePr>
        <p:xfrm>
          <a:off x="212716" y="781921"/>
          <a:ext cx="8540317" cy="389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3754">
                  <a:extLst>
                    <a:ext uri="{9D8B030D-6E8A-4147-A177-3AD203B41FA5}">
                      <a16:colId xmlns:a16="http://schemas.microsoft.com/office/drawing/2014/main" val="3057034935"/>
                    </a:ext>
                  </a:extLst>
                </a:gridCol>
                <a:gridCol w="1541930">
                  <a:extLst>
                    <a:ext uri="{9D8B030D-6E8A-4147-A177-3AD203B41FA5}">
                      <a16:colId xmlns:a16="http://schemas.microsoft.com/office/drawing/2014/main" val="160210446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51784802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2666012794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1337382263"/>
                    </a:ext>
                  </a:extLst>
                </a:gridCol>
                <a:gridCol w="1318007">
                  <a:extLst>
                    <a:ext uri="{9D8B030D-6E8A-4147-A177-3AD203B41FA5}">
                      <a16:colId xmlns:a16="http://schemas.microsoft.com/office/drawing/2014/main" val="3261930833"/>
                    </a:ext>
                  </a:extLst>
                </a:gridCol>
                <a:gridCol w="1437638">
                  <a:extLst>
                    <a:ext uri="{9D8B030D-6E8A-4147-A177-3AD203B41FA5}">
                      <a16:colId xmlns:a16="http://schemas.microsoft.com/office/drawing/2014/main" val="3793490099"/>
                    </a:ext>
                  </a:extLst>
                </a:gridCol>
              </a:tblGrid>
              <a:tr h="374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 No.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 Year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 metrics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9208407"/>
                  </a:ext>
                </a:extLst>
              </a:tr>
              <a:tr h="17572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 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3046419"/>
                  </a:ext>
                </a:extLst>
              </a:tr>
              <a:tr h="17572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[2]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514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96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(Literature Survey)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EA85CC-5C78-4F14-92F4-463B844E7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03428"/>
              </p:ext>
            </p:extLst>
          </p:nvPr>
        </p:nvGraphicFramePr>
        <p:xfrm>
          <a:off x="212716" y="781921"/>
          <a:ext cx="8540317" cy="389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3754">
                  <a:extLst>
                    <a:ext uri="{9D8B030D-6E8A-4147-A177-3AD203B41FA5}">
                      <a16:colId xmlns:a16="http://schemas.microsoft.com/office/drawing/2014/main" val="3057034935"/>
                    </a:ext>
                  </a:extLst>
                </a:gridCol>
                <a:gridCol w="1541930">
                  <a:extLst>
                    <a:ext uri="{9D8B030D-6E8A-4147-A177-3AD203B41FA5}">
                      <a16:colId xmlns:a16="http://schemas.microsoft.com/office/drawing/2014/main" val="160210446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51784802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2666012794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1337382263"/>
                    </a:ext>
                  </a:extLst>
                </a:gridCol>
                <a:gridCol w="1318007">
                  <a:extLst>
                    <a:ext uri="{9D8B030D-6E8A-4147-A177-3AD203B41FA5}">
                      <a16:colId xmlns:a16="http://schemas.microsoft.com/office/drawing/2014/main" val="3261930833"/>
                    </a:ext>
                  </a:extLst>
                </a:gridCol>
                <a:gridCol w="1437638">
                  <a:extLst>
                    <a:ext uri="{9D8B030D-6E8A-4147-A177-3AD203B41FA5}">
                      <a16:colId xmlns:a16="http://schemas.microsoft.com/office/drawing/2014/main" val="3793490099"/>
                    </a:ext>
                  </a:extLst>
                </a:gridCol>
              </a:tblGrid>
              <a:tr h="374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 No.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 Year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 metrics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9208407"/>
                  </a:ext>
                </a:extLst>
              </a:tr>
              <a:tr h="17572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 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3046419"/>
                  </a:ext>
                </a:extLst>
              </a:tr>
              <a:tr h="17572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514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74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(Literature Survey) 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504892"/>
            <a:ext cx="8691239" cy="452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20 to maximum of 25 existing approaches to be prepared.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represented earlier, </a:t>
            </a: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200" b="1" dirty="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200" b="1" dirty="0">
                <a:solidFill>
                  <a:schemeClr val="tx1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3200" b="1" dirty="0">
                <a:solidFill>
                  <a:schemeClr val="tx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200" b="1" dirty="0">
                <a:solidFill>
                  <a:schemeClr val="tx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should be followed for preparing the summary of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(each)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approaches and its description should be prepared </a:t>
            </a:r>
            <a:r>
              <a:rPr lang="en-IN" sz="2400" b="1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(probably, a slide for each existing approach, apart from the TABLE)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Sentences – Introduction about that existing approach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Sentences – Objective of that existing approach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 Sentences – Methodology adopted in that existing approach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Sentences – Results obtained in that existing approach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Sentences – Limitations of that existing approach and future scope for improvement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35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1527BDDF-0607-4B7C-9460-967E27E3902A}"/>
              </a:ext>
            </a:extLst>
          </p:cNvPr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(Literature Survey) 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683DD10F-A689-4472-9FC5-DBC27D12912B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the description of 20 existing approaches and tabular representation is required.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79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Approaches (Summary)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Highlighting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(minimum of) 8 to (maximum of) 10 points from 20 existing approaches – collectively from the literature survey.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Drawbacks refers to the same – pertaining to the existing approaches.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Categorize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limitations; for example, (1) Dataset issues, (2) Algorithm issues, (3) Deployment issues, and so on.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the description of 20 existing approaches and tabular representation is </a:t>
            </a:r>
            <a:r>
              <a:rPr lang="en-IN" sz="2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requried</a:t>
            </a: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0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Identifies the missing elements, weaknesses, or unexplored areas in existing studies that justify the need for the proposed work.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To answer the question — “What has not been addressed yet?”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4 (minimum) to 7 (maximum) points in a comprehensive and precise manner </a:t>
            </a: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(possibly restricted to one or two slides only)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1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4451AF8-973F-4C97-8884-95D429B32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20224"/>
              </p:ext>
            </p:extLst>
          </p:nvPr>
        </p:nvGraphicFramePr>
        <p:xfrm>
          <a:off x="475128" y="781920"/>
          <a:ext cx="8238564" cy="394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966">
                  <a:extLst>
                    <a:ext uri="{9D8B030D-6E8A-4147-A177-3AD203B41FA5}">
                      <a16:colId xmlns:a16="http://schemas.microsoft.com/office/drawing/2014/main" val="2563268523"/>
                    </a:ext>
                  </a:extLst>
                </a:gridCol>
                <a:gridCol w="2435410">
                  <a:extLst>
                    <a:ext uri="{9D8B030D-6E8A-4147-A177-3AD203B41FA5}">
                      <a16:colId xmlns:a16="http://schemas.microsoft.com/office/drawing/2014/main" val="2089377196"/>
                    </a:ext>
                  </a:extLst>
                </a:gridCol>
                <a:gridCol w="2746188">
                  <a:extLst>
                    <a:ext uri="{9D8B030D-6E8A-4147-A177-3AD203B41FA5}">
                      <a16:colId xmlns:a16="http://schemas.microsoft.com/office/drawing/2014/main" val="1629991231"/>
                    </a:ext>
                  </a:extLst>
                </a:gridCol>
              </a:tblGrid>
              <a:tr h="49281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Findings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633816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44182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194546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215930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091722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890358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836937"/>
                  </a:ext>
                </a:extLst>
              </a:tr>
              <a:tr h="49281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201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08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414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Clearly define the problem that motivates the proposed work. Its purpose is to answer the question — “What has not been addressed yet?”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4 (minimum) to 7 (maximum) points in a comprehensive and precise manner </a:t>
            </a: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(possibly restricted to one or two slides only)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include: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problem 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problem 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existing methods are insufficient </a:t>
            </a:r>
          </a:p>
          <a:p>
            <a:pPr marL="717550" lvl="1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to be addressed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395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 the Proposed Work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422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points in a precise manner. For example: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Skin Disease Detection approach based on baseline CNN Model and optimize its performance using Ant Colony Optimization Algorithm.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action verbs such as: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optimize 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</a:t>
            </a:r>
          </a:p>
          <a:p>
            <a:pPr marL="825500" lvl="1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compare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481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 Requirements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719EA98D-6D75-48DE-816E-3703372A7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798084"/>
              </p:ext>
            </p:extLst>
          </p:nvPr>
        </p:nvGraphicFramePr>
        <p:xfrm>
          <a:off x="466164" y="781920"/>
          <a:ext cx="8220636" cy="158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0318">
                  <a:extLst>
                    <a:ext uri="{9D8B030D-6E8A-4147-A177-3AD203B41FA5}">
                      <a16:colId xmlns:a16="http://schemas.microsoft.com/office/drawing/2014/main" val="2165162916"/>
                    </a:ext>
                  </a:extLst>
                </a:gridCol>
                <a:gridCol w="4110318">
                  <a:extLst>
                    <a:ext uri="{9D8B030D-6E8A-4147-A177-3AD203B41FA5}">
                      <a16:colId xmlns:a16="http://schemas.microsoft.com/office/drawing/2014/main" val="3782162276"/>
                    </a:ext>
                  </a:extLst>
                </a:gridCol>
              </a:tblGrid>
              <a:tr h="39629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Software (with version)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788789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497746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62978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6556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D865DE-80C3-4DF5-BEEC-770CF1875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932613"/>
              </p:ext>
            </p:extLst>
          </p:nvPr>
        </p:nvGraphicFramePr>
        <p:xfrm>
          <a:off x="466164" y="2942414"/>
          <a:ext cx="8220636" cy="158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0318">
                  <a:extLst>
                    <a:ext uri="{9D8B030D-6E8A-4147-A177-3AD203B41FA5}">
                      <a16:colId xmlns:a16="http://schemas.microsoft.com/office/drawing/2014/main" val="2165162916"/>
                    </a:ext>
                  </a:extLst>
                </a:gridCol>
                <a:gridCol w="4110318">
                  <a:extLst>
                    <a:ext uri="{9D8B030D-6E8A-4147-A177-3AD203B41FA5}">
                      <a16:colId xmlns:a16="http://schemas.microsoft.com/office/drawing/2014/main" val="3782162276"/>
                    </a:ext>
                  </a:extLst>
                </a:gridCol>
              </a:tblGrid>
              <a:tr h="39629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Hardware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788789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497746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62978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015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704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Architecture Diagram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8406A9E1-421C-4ECE-9272-2E64B0B7B49B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7F1BDE3E-D4E8-4FE1-A017-84420C91E36E}"/>
              </a:ext>
            </a:extLst>
          </p:cNvPr>
          <p:cNvSpPr txBox="1">
            <a:spLocks/>
          </p:cNvSpPr>
          <p:nvPr/>
        </p:nvSpPr>
        <p:spPr>
          <a:xfrm>
            <a:off x="226380" y="633645"/>
            <a:ext cx="8482615" cy="402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very clear flow of data pertaining to (a) input, (b) how the processing is carried out and (c) output should be depicted in the Architecture diagram.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generated diagrams </a:t>
            </a:r>
            <a:r>
              <a:rPr lang="en-IN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(via AI tools)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not be considered.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notation for architecture diagram should be adopted.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phases / steps in the Architecture diagram should be inline with the objectives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04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Architecture Diagram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8406A9E1-421C-4ECE-9272-2E64B0B7B49B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7F1BDE3E-D4E8-4FE1-A017-84420C91E36E}"/>
              </a:ext>
            </a:extLst>
          </p:cNvPr>
          <p:cNvSpPr txBox="1">
            <a:spLocks/>
          </p:cNvSpPr>
          <p:nvPr/>
        </p:nvSpPr>
        <p:spPr>
          <a:xfrm>
            <a:off x="226380" y="633645"/>
            <a:ext cx="8482615" cy="402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components in the Architecture Diagram.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about 3 to 5 points in a slide.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of 2 slides.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336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Module Connectivity Diagram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7795385E-399B-4A50-8CAD-30132567A35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CFDB9E96-14EC-48EE-B26F-ECAFF32446A9}"/>
              </a:ext>
            </a:extLst>
          </p:cNvPr>
          <p:cNvSpPr txBox="1">
            <a:spLocks/>
          </p:cNvSpPr>
          <p:nvPr/>
        </p:nvSpPr>
        <p:spPr>
          <a:xfrm>
            <a:off x="226380" y="633645"/>
            <a:ext cx="8491493" cy="402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very clear flow of data pertaining to (a) input, (b) how the processing is carried out and (c)output should be depicted in the Module Connectivity Diagram (MCD).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generated diagrams (via AI tools) will not be considered.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notation for MCD should be adopted.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phased in the MCD should be inline with the objectives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04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Module Connectivity Diagram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7795385E-399B-4A50-8CAD-30132567A35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indent="0" algn="l"/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0DEAB912-14E7-4B8B-B3E4-CCA3A9904746}"/>
              </a:ext>
            </a:extLst>
          </p:cNvPr>
          <p:cNvSpPr txBox="1">
            <a:spLocks/>
          </p:cNvSpPr>
          <p:nvPr/>
        </p:nvSpPr>
        <p:spPr>
          <a:xfrm>
            <a:off x="226380" y="633645"/>
            <a:ext cx="8482615" cy="402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components in the Module Connectivity  Diagram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about 3 to 5 points in a slide.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of 2 slides.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991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project’s Class Diagram..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points of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227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project’s Sequence Diagram..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points of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3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project’s Use Case Diagram..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points of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567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project’s Activity Diagram..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points of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984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to 5 slides pertaining to the project’s Experimental Results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slide with 3 to 5 bullet points only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39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points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128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(screenshots) of Test Cases or Case Study  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Figures related to Output / Screenshots related to output – to be added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lines of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908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in the Table Format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Tabular representation of Experimental Results - to be added.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 incorporated as Table;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not in the form of Image as shown below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4 lines of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FEECE-3007-4F37-9DA2-0BE1DE6988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6" t="9613" r="3399" b="9354"/>
          <a:stretch/>
        </p:blipFill>
        <p:spPr>
          <a:xfrm>
            <a:off x="1424865" y="2106650"/>
            <a:ext cx="6294267" cy="206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6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Proposed Work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Explains the impact and importance of your project in the broader context.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To answer “Why does this project matter?”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4 to 6 bullets regarding the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of two slides are permitted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027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Work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Lists the specific benefits or strengths of your project compared to existing methods.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To answer “Why is this approach better in your project?”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4 to 6 bullets regarding the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of two slides are permitted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273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Proposed Method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Acknowledges the boundaries, challenges, and constraints of the proposed research.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To answer the question — “Where does this method fall short?”</a:t>
            </a:r>
            <a:endParaRPr lang="en-IN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3 to 5 bullet points in a precise manner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992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of Project’s Execution</a:t>
            </a: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02A6B061-580E-44CA-A7DA-E7D66321B948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372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project’s completion status..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of 1 to 2 lines of description in a precise manner. </a:t>
            </a: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611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/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05E43-5B1A-0915-7980-441215310202}"/>
              </a:ext>
            </a:extLst>
          </p:cNvPr>
          <p:cNvSpPr txBox="1"/>
          <p:nvPr/>
        </p:nvSpPr>
        <p:spPr>
          <a:xfrm>
            <a:off x="231006" y="1352831"/>
            <a:ext cx="8470232" cy="1918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 Referencing Style for a Journal</a:t>
            </a: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lvl="3" algn="just" fontAlgn="base">
              <a:lnSpc>
                <a:spcPct val="107000"/>
              </a:lnSpc>
            </a:pPr>
            <a:r>
              <a:rPr lang="en-IN" sz="16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S. Kumar, P. Tiwari and M. </a:t>
            </a:r>
            <a:r>
              <a:rPr lang="en-IN" sz="16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Zymbler</a:t>
            </a:r>
            <a:r>
              <a:rPr lang="en-IN" sz="16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“Internet of Things is a Revolutionary Approach for Future Technology Enhancement: A Review”, Journal of Big Data, Vol. 6, Article No. 111, pp. 1-21, 2019. </a:t>
            </a:r>
            <a:r>
              <a:rPr lang="en-IN" sz="16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https://doi.org/10.1186/s40537-019-0268-2</a:t>
            </a:r>
            <a:endParaRPr lang="en-IN" sz="160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lvl="3" algn="just" fontAlgn="base">
              <a:lnSpc>
                <a:spcPct val="107000"/>
              </a:lnSpc>
            </a:pP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 URL of the above manuscript is provided for your kind information.</a:t>
            </a: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https://journalofbigdata.springeropen.com/articles/10.1186/s40537-019-0268-2</a:t>
            </a: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04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15C6E217-FC62-F03D-A621-B0C3AEA9D5DF}"/>
              </a:ext>
            </a:extLst>
          </p:cNvPr>
          <p:cNvSpPr txBox="1">
            <a:spLocks/>
          </p:cNvSpPr>
          <p:nvPr/>
        </p:nvSpPr>
        <p:spPr>
          <a:xfrm>
            <a:off x="0" y="-10679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Image Re</a:t>
            </a:r>
            <a:r>
              <a:rPr lang="en-IN" dirty="0"/>
              <a:t>ferencing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E2C1E-CDD1-4981-D59C-E9DE27C5E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20" y="1769300"/>
            <a:ext cx="3946125" cy="2467992"/>
          </a:xfrm>
          <a:prstGeom prst="rect">
            <a:avLst/>
          </a:prstGeom>
        </p:spPr>
      </p:pic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332147C3-2B1E-EA0C-AF39-806C0D69AD22}"/>
              </a:ext>
            </a:extLst>
          </p:cNvPr>
          <p:cNvSpPr txBox="1">
            <a:spLocks/>
          </p:cNvSpPr>
          <p:nvPr/>
        </p:nvSpPr>
        <p:spPr>
          <a:xfrm>
            <a:off x="226380" y="781921"/>
            <a:ext cx="8691239" cy="120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using the exiting diagrams from the other Authors work in your documentation, the following referencing style should be adopted.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5;p13">
            <a:extLst>
              <a:ext uri="{FF2B5EF4-FFF2-40B4-BE49-F238E27FC236}">
                <a16:creationId xmlns:a16="http://schemas.microsoft.com/office/drawing/2014/main" id="{364A8673-9413-703D-5C35-312DA56034DB}"/>
              </a:ext>
            </a:extLst>
          </p:cNvPr>
          <p:cNvSpPr txBox="1">
            <a:spLocks/>
          </p:cNvSpPr>
          <p:nvPr/>
        </p:nvSpPr>
        <p:spPr>
          <a:xfrm>
            <a:off x="226380" y="1988598"/>
            <a:ext cx="3946125" cy="2572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you are interested to reuse the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exiting article specified as 10</a:t>
            </a:r>
            <a:r>
              <a:rPr lang="en-IN" sz="20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Reference, the following notation should be adopted: “Figure 1. CNN Architecture </a:t>
            </a:r>
            <a:r>
              <a:rPr lang="en-IN" sz="20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(Courtesy: Source [10])”</a:t>
            </a: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A0868-4F0E-9B93-FCE9-0A47D485382B}"/>
              </a:ext>
            </a:extLst>
          </p:cNvPr>
          <p:cNvSpPr txBox="1"/>
          <p:nvPr/>
        </p:nvSpPr>
        <p:spPr>
          <a:xfrm>
            <a:off x="4722920" y="4361579"/>
            <a:ext cx="41946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 CNN Architecture </a:t>
            </a:r>
            <a:r>
              <a:rPr lang="en-IN" sz="1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(Courtesy: Source [10])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63520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6903</TotalTime>
  <Words>1405</Words>
  <Application>Microsoft Office PowerPoint</Application>
  <PresentationFormat>On-screen Show (16:9)</PresentationFormat>
  <Paragraphs>235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Gokaraju Rangaraju Institute of Engineering and Technology (Autonomous) Department of Artificial Intelligence and Machine Learning Engineering</dc:title>
  <dc:creator>OM</dc:creator>
  <cp:lastModifiedBy>admin</cp:lastModifiedBy>
  <cp:revision>139</cp:revision>
  <dcterms:modified xsi:type="dcterms:W3CDTF">2026-09-02T13:55:44Z</dcterms:modified>
</cp:coreProperties>
</file>